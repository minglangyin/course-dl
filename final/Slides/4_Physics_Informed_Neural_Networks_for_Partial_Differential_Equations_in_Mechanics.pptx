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95" r:id="rId2"/>
    <p:sldId id="640" r:id="rId3"/>
    <p:sldId id="643" r:id="rId4"/>
    <p:sldId id="644" r:id="rId5"/>
    <p:sldId id="645" r:id="rId6"/>
    <p:sldId id="642" r:id="rId7"/>
    <p:sldId id="641" r:id="rId8"/>
    <p:sldId id="646" r:id="rId9"/>
    <p:sldId id="647" r:id="rId10"/>
    <p:sldId id="649" r:id="rId11"/>
    <p:sldId id="650"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DE83F66A-4CB3-0C45-825C-49859EB98A3C}">
          <p14:sldIdLst>
            <p14:sldId id="295"/>
            <p14:sldId id="640"/>
            <p14:sldId id="643"/>
            <p14:sldId id="644"/>
            <p14:sldId id="645"/>
            <p14:sldId id="642"/>
            <p14:sldId id="641"/>
            <p14:sldId id="646"/>
          </p14:sldIdLst>
        </p14:section>
        <p14:section name="Appendix" id="{8990E00A-38B9-5D47-8DAB-D6D474FF6DDE}">
          <p14:sldIdLst>
            <p14:sldId id="647"/>
            <p14:sldId id="649"/>
            <p14:sldId id="65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83948"/>
  </p:normalViewPr>
  <p:slideViewPr>
    <p:cSldViewPr snapToGrid="0" snapToObjects="1">
      <p:cViewPr varScale="1">
        <p:scale>
          <a:sx n="93" d="100"/>
          <a:sy n="93" d="100"/>
        </p:scale>
        <p:origin x="1320" y="2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B5E1F46-AAEC-D841-B238-E5889DD7200C}" type="datetimeFigureOut">
              <a:rPr lang="en-US" smtClean="0"/>
              <a:t>12/12/19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C21873F-C992-5943-A5AD-9CB7958EE08C}" type="slidenum">
              <a:rPr lang="en-US" smtClean="0"/>
              <a:t>‹#›</a:t>
            </a:fld>
            <a:endParaRPr lang="en-US"/>
          </a:p>
        </p:txBody>
      </p:sp>
    </p:spTree>
    <p:extLst>
      <p:ext uri="{BB962C8B-B14F-4D97-AF65-F5344CB8AC3E}">
        <p14:creationId xmlns:p14="http://schemas.microsoft.com/office/powerpoint/2010/main" val="278804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altLang="ja-JP" sz="1200" dirty="0"/>
              <a:t>Question:</a:t>
            </a:r>
          </a:p>
          <a:p>
            <a:r>
              <a:rPr lang="en-US" altLang="zh-CN" sz="1200" dirty="0"/>
              <a:t>What is the hemodynamics condition (flow and shear stress) for vessels before and undergoing the pruning process? How does that correlate with pruning effect</a:t>
            </a:r>
          </a:p>
        </p:txBody>
      </p:sp>
      <p:sp>
        <p:nvSpPr>
          <p:cNvPr id="4" name="Header Placeholder 3"/>
          <p:cNvSpPr>
            <a:spLocks noGrp="1"/>
          </p:cNvSpPr>
          <p:nvPr>
            <p:ph type="hdr" sz="quarter"/>
          </p:nvPr>
        </p:nvSpPr>
        <p:spPr/>
        <p:txBody>
          <a:bodyPr/>
          <a:lstStyle/>
          <a:p>
            <a:r>
              <a:rPr lang="en-US"/>
              <a:t>1212</a:t>
            </a:r>
          </a:p>
        </p:txBody>
      </p:sp>
    </p:spTree>
    <p:extLst>
      <p:ext uri="{BB962C8B-B14F-4D97-AF65-F5344CB8AC3E}">
        <p14:creationId xmlns:p14="http://schemas.microsoft.com/office/powerpoint/2010/main" val="35541880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me introduce the methodology of our PINNs with a very simple PDE as an example.</a:t>
            </a:r>
          </a:p>
          <a:p>
            <a:endParaRPr lang="en-US" dirty="0"/>
          </a:p>
          <a:p>
            <a:r>
              <a:rPr lang="en-US" dirty="0"/>
              <a:t>Firstly, we consider forward problems. We want to solve </a:t>
            </a:r>
            <a:r>
              <a:rPr lang="en-US" dirty="0" err="1"/>
              <a:t>uxt</a:t>
            </a:r>
            <a:r>
              <a:rPr lang="en-US" dirty="0"/>
              <a:t> in this problem.</a:t>
            </a:r>
          </a:p>
          <a:p>
            <a:endParaRPr lang="en-US" dirty="0"/>
          </a:p>
          <a:p>
            <a:r>
              <a:rPr lang="en-US" dirty="0"/>
              <a:t>We use a NN to approximate its solution -- given the input x and t, it predicts the value of u. In addition, we use the AD to calculate the derivatives of u, and finally add the two terms together to get the residual of the PDE.</a:t>
            </a:r>
          </a:p>
          <a:p>
            <a:endParaRPr lang="en-US" dirty="0"/>
          </a:p>
          <a:p>
            <a:r>
              <a:rPr lang="en-US" dirty="0"/>
              <a:t>To train the NN, we need input-label pairs generated from the problem itself: for x-t points inside the domain, the residual of PDE is zero; for points on the boundary, the residual of BCs is zero.</a:t>
            </a:r>
          </a:p>
          <a:p>
            <a:endParaRPr lang="en-US" dirty="0"/>
          </a:p>
          <a:p>
            <a:r>
              <a:rPr lang="en-US" b="0" dirty="0"/>
              <a:t>Hence </a:t>
            </a:r>
            <a:r>
              <a:rPr lang="en-US" dirty="0"/>
              <a:t>the loss function can be constructed with two terms, corresponding to the PDE residual and the BC residual respectively.</a:t>
            </a:r>
          </a:p>
          <a:p>
            <a:endParaRPr lang="en-US" dirty="0"/>
          </a:p>
          <a:p>
            <a:endParaRPr lang="en-US" dirty="0"/>
          </a:p>
          <a:p>
            <a:r>
              <a:rPr lang="en-US" dirty="0"/>
              <a:t>Simplest PDE for explaining methodology, instead of the actual PDEs we solve.</a:t>
            </a:r>
          </a:p>
          <a:p>
            <a:r>
              <a:rPr lang="en-US" dirty="0"/>
              <a:t>Approximation u with NN; get derivatives with AD (not only for calculating loss gradient!).</a:t>
            </a:r>
          </a:p>
          <a:p>
            <a:r>
              <a:rPr lang="en-US" dirty="0"/>
              <a:t>Loss: sum of residual of all given equalities (PDE &amp; BC)</a:t>
            </a:r>
          </a:p>
          <a:p>
            <a:r>
              <a:rPr lang="en-US" dirty="0"/>
              <a:t>Training data: from PDE &amp; BC – we know that the PDE should be satisfied (f=0) everywhere in the domain</a:t>
            </a:r>
          </a:p>
          <a:p>
            <a:r>
              <a:rPr lang="en-US" dirty="0"/>
              <a:t>This is for forward problem: fully specified problem, solve u.</a:t>
            </a:r>
          </a:p>
        </p:txBody>
      </p:sp>
      <p:sp>
        <p:nvSpPr>
          <p:cNvPr id="4" name="Header Placeholder 3"/>
          <p:cNvSpPr>
            <a:spLocks noGrp="1"/>
          </p:cNvSpPr>
          <p:nvPr>
            <p:ph type="hdr" sz="quarter"/>
          </p:nvPr>
        </p:nvSpPr>
        <p:spPr/>
        <p:txBody>
          <a:bodyPr/>
          <a:lstStyle/>
          <a:p>
            <a:r>
              <a:rPr lang="en-US"/>
              <a:t>1212</a:t>
            </a:r>
          </a:p>
        </p:txBody>
      </p:sp>
    </p:spTree>
    <p:extLst>
      <p:ext uri="{BB962C8B-B14F-4D97-AF65-F5344CB8AC3E}">
        <p14:creationId xmlns:p14="http://schemas.microsoft.com/office/powerpoint/2010/main" val="24720937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Another type of problems is called inverse problems.</a:t>
            </a:r>
          </a:p>
          <a:p>
            <a:endParaRPr lang="en-US" dirty="0"/>
          </a:p>
          <a:p>
            <a:r>
              <a:rPr lang="en-US" dirty="0"/>
              <a:t>Now we have an unknown constant parameter lambda in the PDE. Also, we know some observation data of the solution u. The target is to infer the value of lambda.</a:t>
            </a:r>
          </a:p>
          <a:p>
            <a:endParaRPr lang="en-US" dirty="0"/>
          </a:p>
          <a:p>
            <a:r>
              <a:rPr lang="en-US" dirty="0"/>
              <a:t>The architecture is similar to forward problems, but slightly different in that we now have one more trainable parameter lambda [click].</a:t>
            </a:r>
          </a:p>
          <a:p>
            <a:endParaRPr lang="en-US" dirty="0"/>
          </a:p>
          <a:p>
            <a:r>
              <a:rPr lang="en-US" dirty="0"/>
              <a:t>As for the training data, here we need one more set from the observation of u. This naturally gives us a third term in the loss function, the error between the predicted u and the given u.</a:t>
            </a:r>
          </a:p>
          <a:p>
            <a:endParaRPr lang="en-US" dirty="0"/>
          </a:p>
          <a:p>
            <a:r>
              <a:rPr lang="en-US" dirty="0"/>
              <a:t>(This is a simple version of inverse problem.)</a:t>
            </a:r>
          </a:p>
          <a:p>
            <a:endParaRPr lang="en-US" dirty="0"/>
          </a:p>
          <a:p>
            <a:endParaRPr lang="en-US" dirty="0"/>
          </a:p>
          <a:p>
            <a:endParaRPr lang="en-US" dirty="0"/>
          </a:p>
          <a:p>
            <a:r>
              <a:rPr lang="en-US" dirty="0"/>
              <a:t>Inverse problem: swap the known &amp; unknown</a:t>
            </a:r>
          </a:p>
          <a:p>
            <a:r>
              <a:rPr lang="en-US" dirty="0"/>
              <a:t>On more unknown trainable variable in the architecture</a:t>
            </a:r>
          </a:p>
          <a:p>
            <a:r>
              <a:rPr lang="en-US" dirty="0"/>
              <a:t>Loss: one more term from the finite element solver</a:t>
            </a:r>
          </a:p>
        </p:txBody>
      </p:sp>
      <p:sp>
        <p:nvSpPr>
          <p:cNvPr id="4" name="Header Placeholder 3"/>
          <p:cNvSpPr>
            <a:spLocks noGrp="1"/>
          </p:cNvSpPr>
          <p:nvPr>
            <p:ph type="hdr" sz="quarter"/>
          </p:nvPr>
        </p:nvSpPr>
        <p:spPr/>
        <p:txBody>
          <a:bodyPr/>
          <a:lstStyle/>
          <a:p>
            <a:r>
              <a:rPr lang="en-US"/>
              <a:t>1212</a:t>
            </a:r>
          </a:p>
        </p:txBody>
      </p:sp>
    </p:spTree>
    <p:extLst>
      <p:ext uri="{BB962C8B-B14F-4D97-AF65-F5344CB8AC3E}">
        <p14:creationId xmlns:p14="http://schemas.microsoft.com/office/powerpoint/2010/main" val="625536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actually consider a more complicated version. Now the lambda is NOT a constant anymore. Instead, it is a variable depending on x and t. We propose to use a second NN to approximate the lambda field.</a:t>
            </a:r>
          </a:p>
          <a:p>
            <a:endParaRPr lang="en-US" dirty="0"/>
          </a:p>
          <a:p>
            <a:r>
              <a:rPr lang="en-US" dirty="0"/>
              <a:t>(In our project, we solve an inverse problem in solid mechanics using the architecture shown here.)</a:t>
            </a:r>
          </a:p>
          <a:p>
            <a:endParaRPr lang="en-US" dirty="0"/>
          </a:p>
          <a:p>
            <a:endParaRPr lang="en-US" dirty="0"/>
          </a:p>
          <a:p>
            <a:endParaRPr lang="en-US" dirty="0"/>
          </a:p>
          <a:p>
            <a:r>
              <a:rPr lang="en-US" dirty="0"/>
              <a:t>Complex inverse problem: parameter is not a constant. It’s a field!</a:t>
            </a:r>
          </a:p>
          <a:p>
            <a:r>
              <a:rPr lang="en-US" dirty="0"/>
              <a:t>Use a second NN to approximate its field.</a:t>
            </a:r>
          </a:p>
          <a:p>
            <a:r>
              <a:rPr lang="en-US" dirty="0"/>
              <a:t>NOBODY HAS DONE THIS BEFORE US!</a:t>
            </a:r>
          </a:p>
        </p:txBody>
      </p:sp>
      <p:sp>
        <p:nvSpPr>
          <p:cNvPr id="4" name="Header Placeholder 3"/>
          <p:cNvSpPr>
            <a:spLocks noGrp="1"/>
          </p:cNvSpPr>
          <p:nvPr>
            <p:ph type="hdr" sz="quarter"/>
          </p:nvPr>
        </p:nvSpPr>
        <p:spPr/>
        <p:txBody>
          <a:bodyPr/>
          <a:lstStyle/>
          <a:p>
            <a:r>
              <a:rPr lang="en-US"/>
              <a:t>1212</a:t>
            </a:r>
          </a:p>
        </p:txBody>
      </p:sp>
    </p:spTree>
    <p:extLst>
      <p:ext uri="{BB962C8B-B14F-4D97-AF65-F5344CB8AC3E}">
        <p14:creationId xmlns:p14="http://schemas.microsoft.com/office/powerpoint/2010/main" val="2511457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Forward problem in fluid mechanics</a:t>
            </a:r>
          </a:p>
        </p:txBody>
      </p:sp>
      <p:sp>
        <p:nvSpPr>
          <p:cNvPr id="4" name="Header Placeholder 3"/>
          <p:cNvSpPr>
            <a:spLocks noGrp="1"/>
          </p:cNvSpPr>
          <p:nvPr>
            <p:ph type="hdr" sz="quarter"/>
          </p:nvPr>
        </p:nvSpPr>
        <p:spPr/>
        <p:txBody>
          <a:bodyPr/>
          <a:lstStyle/>
          <a:p>
            <a:r>
              <a:rPr lang="en-US"/>
              <a:t>1212</a:t>
            </a:r>
          </a:p>
        </p:txBody>
      </p:sp>
    </p:spTree>
    <p:extLst>
      <p:ext uri="{BB962C8B-B14F-4D97-AF65-F5344CB8AC3E}">
        <p14:creationId xmlns:p14="http://schemas.microsoft.com/office/powerpoint/2010/main" val="40798963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Inverse problem in solid mechanics</a:t>
            </a:r>
          </a:p>
          <a:p>
            <a:r>
              <a:rPr lang="en-US" dirty="0"/>
              <a:t>Example: square-shaped solid, known horizontal tension, infer the unknown inhomogeneous Youngs’ modulus field</a:t>
            </a:r>
          </a:p>
          <a:p>
            <a:endParaRPr lang="en-US" dirty="0"/>
          </a:p>
        </p:txBody>
      </p:sp>
      <p:sp>
        <p:nvSpPr>
          <p:cNvPr id="4" name="Header Placeholder 3"/>
          <p:cNvSpPr>
            <a:spLocks noGrp="1"/>
          </p:cNvSpPr>
          <p:nvPr>
            <p:ph type="hdr" sz="quarter"/>
          </p:nvPr>
        </p:nvSpPr>
        <p:spPr/>
        <p:txBody>
          <a:bodyPr/>
          <a:lstStyle/>
          <a:p>
            <a:r>
              <a:rPr lang="en-US"/>
              <a:t>1212</a:t>
            </a:r>
          </a:p>
        </p:txBody>
      </p:sp>
    </p:spTree>
    <p:extLst>
      <p:ext uri="{BB962C8B-B14F-4D97-AF65-F5344CB8AC3E}">
        <p14:creationId xmlns:p14="http://schemas.microsoft.com/office/powerpoint/2010/main" val="7936142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79104A-A4E5-174F-B517-F0A8618CC2C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2DC0CC5-D660-4C4D-9389-30874ABC6DC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272DA5D-CC09-8940-932C-0C8CD8C64890}"/>
              </a:ext>
            </a:extLst>
          </p:cNvPr>
          <p:cNvSpPr>
            <a:spLocks noGrp="1"/>
          </p:cNvSpPr>
          <p:nvPr>
            <p:ph type="dt" sz="half" idx="10"/>
          </p:nvPr>
        </p:nvSpPr>
        <p:spPr/>
        <p:txBody>
          <a:bodyPr/>
          <a:lstStyle/>
          <a:p>
            <a:fld id="{C1DBCFF7-CD89-8446-B01D-1A07184495CC}" type="datetimeFigureOut">
              <a:rPr lang="en-US" smtClean="0"/>
              <a:t>12/12/19</a:t>
            </a:fld>
            <a:endParaRPr lang="en-US"/>
          </a:p>
        </p:txBody>
      </p:sp>
      <p:sp>
        <p:nvSpPr>
          <p:cNvPr id="5" name="Footer Placeholder 4">
            <a:extLst>
              <a:ext uri="{FF2B5EF4-FFF2-40B4-BE49-F238E27FC236}">
                <a16:creationId xmlns:a16="http://schemas.microsoft.com/office/drawing/2014/main" id="{4B7D7C2D-282A-CD44-B0BC-5DFDA0F9A86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C2AA984-57CA-1E42-A1CD-6919639E5A40}"/>
              </a:ext>
            </a:extLst>
          </p:cNvPr>
          <p:cNvSpPr>
            <a:spLocks noGrp="1"/>
          </p:cNvSpPr>
          <p:nvPr>
            <p:ph type="sldNum" sz="quarter" idx="12"/>
          </p:nvPr>
        </p:nvSpPr>
        <p:spPr/>
        <p:txBody>
          <a:bodyPr/>
          <a:lstStyle/>
          <a:p>
            <a:fld id="{49DC105F-6462-D849-93BE-4C1F2BCF2D59}" type="slidenum">
              <a:rPr lang="en-US" smtClean="0"/>
              <a:t>‹#›</a:t>
            </a:fld>
            <a:endParaRPr lang="en-US"/>
          </a:p>
        </p:txBody>
      </p:sp>
    </p:spTree>
    <p:extLst>
      <p:ext uri="{BB962C8B-B14F-4D97-AF65-F5344CB8AC3E}">
        <p14:creationId xmlns:p14="http://schemas.microsoft.com/office/powerpoint/2010/main" val="7600497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E9EAA1-01A9-A74A-8A09-B926BB43191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A3526D4-5F78-2D4B-B722-B57B4EEA4CB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E935FED-D2A6-FB45-B0EA-A9868572BCA8}"/>
              </a:ext>
            </a:extLst>
          </p:cNvPr>
          <p:cNvSpPr>
            <a:spLocks noGrp="1"/>
          </p:cNvSpPr>
          <p:nvPr>
            <p:ph type="dt" sz="half" idx="10"/>
          </p:nvPr>
        </p:nvSpPr>
        <p:spPr/>
        <p:txBody>
          <a:bodyPr/>
          <a:lstStyle/>
          <a:p>
            <a:fld id="{C1DBCFF7-CD89-8446-B01D-1A07184495CC}" type="datetimeFigureOut">
              <a:rPr lang="en-US" smtClean="0"/>
              <a:t>12/12/19</a:t>
            </a:fld>
            <a:endParaRPr lang="en-US"/>
          </a:p>
        </p:txBody>
      </p:sp>
      <p:sp>
        <p:nvSpPr>
          <p:cNvPr id="5" name="Footer Placeholder 4">
            <a:extLst>
              <a:ext uri="{FF2B5EF4-FFF2-40B4-BE49-F238E27FC236}">
                <a16:creationId xmlns:a16="http://schemas.microsoft.com/office/drawing/2014/main" id="{3AE3A3A0-4D77-974F-9780-9480B1A3485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2FBA70D-6457-CB4F-90A5-798413178950}"/>
              </a:ext>
            </a:extLst>
          </p:cNvPr>
          <p:cNvSpPr>
            <a:spLocks noGrp="1"/>
          </p:cNvSpPr>
          <p:nvPr>
            <p:ph type="sldNum" sz="quarter" idx="12"/>
          </p:nvPr>
        </p:nvSpPr>
        <p:spPr/>
        <p:txBody>
          <a:bodyPr/>
          <a:lstStyle/>
          <a:p>
            <a:fld id="{49DC105F-6462-D849-93BE-4C1F2BCF2D59}" type="slidenum">
              <a:rPr lang="en-US" smtClean="0"/>
              <a:t>‹#›</a:t>
            </a:fld>
            <a:endParaRPr lang="en-US"/>
          </a:p>
        </p:txBody>
      </p:sp>
    </p:spTree>
    <p:extLst>
      <p:ext uri="{BB962C8B-B14F-4D97-AF65-F5344CB8AC3E}">
        <p14:creationId xmlns:p14="http://schemas.microsoft.com/office/powerpoint/2010/main" val="17246652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A0714F-6E92-D34A-A2C3-5D8DCF97723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E3D8A80-1364-164D-A9D6-5A9A3B790F6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271628B-EA10-984D-AD83-FF33B9D5E916}"/>
              </a:ext>
            </a:extLst>
          </p:cNvPr>
          <p:cNvSpPr>
            <a:spLocks noGrp="1"/>
          </p:cNvSpPr>
          <p:nvPr>
            <p:ph type="dt" sz="half" idx="10"/>
          </p:nvPr>
        </p:nvSpPr>
        <p:spPr/>
        <p:txBody>
          <a:bodyPr/>
          <a:lstStyle/>
          <a:p>
            <a:fld id="{C1DBCFF7-CD89-8446-B01D-1A07184495CC}" type="datetimeFigureOut">
              <a:rPr lang="en-US" smtClean="0"/>
              <a:t>12/12/19</a:t>
            </a:fld>
            <a:endParaRPr lang="en-US"/>
          </a:p>
        </p:txBody>
      </p:sp>
      <p:sp>
        <p:nvSpPr>
          <p:cNvPr id="5" name="Footer Placeholder 4">
            <a:extLst>
              <a:ext uri="{FF2B5EF4-FFF2-40B4-BE49-F238E27FC236}">
                <a16:creationId xmlns:a16="http://schemas.microsoft.com/office/drawing/2014/main" id="{C1B06E1B-BA67-704C-A490-0671602187F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7149F33-AFBB-CE4A-BA94-11FB5E0B593C}"/>
              </a:ext>
            </a:extLst>
          </p:cNvPr>
          <p:cNvSpPr>
            <a:spLocks noGrp="1"/>
          </p:cNvSpPr>
          <p:nvPr>
            <p:ph type="sldNum" sz="quarter" idx="12"/>
          </p:nvPr>
        </p:nvSpPr>
        <p:spPr/>
        <p:txBody>
          <a:bodyPr/>
          <a:lstStyle/>
          <a:p>
            <a:fld id="{49DC105F-6462-D849-93BE-4C1F2BCF2D59}" type="slidenum">
              <a:rPr lang="en-US" smtClean="0"/>
              <a:t>‹#›</a:t>
            </a:fld>
            <a:endParaRPr lang="en-US"/>
          </a:p>
        </p:txBody>
      </p:sp>
    </p:spTree>
    <p:extLst>
      <p:ext uri="{BB962C8B-B14F-4D97-AF65-F5344CB8AC3E}">
        <p14:creationId xmlns:p14="http://schemas.microsoft.com/office/powerpoint/2010/main" val="23361243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F6AAA2-B8EE-A140-ACEE-6E08D5ABE8C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1C29AB8-F9F1-D24B-8DF7-2F69B338543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962A104-EBFB-9040-9DC9-17EBAC6196D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F744AD0-31EB-844C-B55E-7E0691AF7259}"/>
              </a:ext>
            </a:extLst>
          </p:cNvPr>
          <p:cNvSpPr>
            <a:spLocks noGrp="1"/>
          </p:cNvSpPr>
          <p:nvPr>
            <p:ph type="dt" sz="half" idx="10"/>
          </p:nvPr>
        </p:nvSpPr>
        <p:spPr/>
        <p:txBody>
          <a:bodyPr/>
          <a:lstStyle/>
          <a:p>
            <a:fld id="{C1DBCFF7-CD89-8446-B01D-1A07184495CC}" type="datetimeFigureOut">
              <a:rPr lang="en-US" smtClean="0"/>
              <a:t>12/12/19</a:t>
            </a:fld>
            <a:endParaRPr lang="en-US"/>
          </a:p>
        </p:txBody>
      </p:sp>
      <p:sp>
        <p:nvSpPr>
          <p:cNvPr id="6" name="Footer Placeholder 5">
            <a:extLst>
              <a:ext uri="{FF2B5EF4-FFF2-40B4-BE49-F238E27FC236}">
                <a16:creationId xmlns:a16="http://schemas.microsoft.com/office/drawing/2014/main" id="{ED1088E8-9D0E-2445-A5CA-26E838E5C98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C79DA56-3940-7546-9FC9-3373FFE3F03C}"/>
              </a:ext>
            </a:extLst>
          </p:cNvPr>
          <p:cNvSpPr>
            <a:spLocks noGrp="1"/>
          </p:cNvSpPr>
          <p:nvPr>
            <p:ph type="sldNum" sz="quarter" idx="12"/>
          </p:nvPr>
        </p:nvSpPr>
        <p:spPr/>
        <p:txBody>
          <a:bodyPr/>
          <a:lstStyle/>
          <a:p>
            <a:fld id="{49DC105F-6462-D849-93BE-4C1F2BCF2D59}" type="slidenum">
              <a:rPr lang="en-US" smtClean="0"/>
              <a:t>‹#›</a:t>
            </a:fld>
            <a:endParaRPr lang="en-US"/>
          </a:p>
        </p:txBody>
      </p:sp>
    </p:spTree>
    <p:extLst>
      <p:ext uri="{BB962C8B-B14F-4D97-AF65-F5344CB8AC3E}">
        <p14:creationId xmlns:p14="http://schemas.microsoft.com/office/powerpoint/2010/main" val="26435078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156E67-6B59-3D44-8BEF-3F5A867B0F2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1D5200F-8E57-9D4E-88B6-531B1ED273E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9AE2AA9-A366-604C-920F-FB843F94041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7D41B26-7E37-8B44-9EEF-6EAA1598158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D4D1150-CDB0-E84D-A0A7-728CCFA3ABF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E67E656-F560-D245-8515-E9A1F369D2A2}"/>
              </a:ext>
            </a:extLst>
          </p:cNvPr>
          <p:cNvSpPr>
            <a:spLocks noGrp="1"/>
          </p:cNvSpPr>
          <p:nvPr>
            <p:ph type="dt" sz="half" idx="10"/>
          </p:nvPr>
        </p:nvSpPr>
        <p:spPr/>
        <p:txBody>
          <a:bodyPr/>
          <a:lstStyle/>
          <a:p>
            <a:fld id="{C1DBCFF7-CD89-8446-B01D-1A07184495CC}" type="datetimeFigureOut">
              <a:rPr lang="en-US" smtClean="0"/>
              <a:t>12/12/19</a:t>
            </a:fld>
            <a:endParaRPr lang="en-US"/>
          </a:p>
        </p:txBody>
      </p:sp>
      <p:sp>
        <p:nvSpPr>
          <p:cNvPr id="8" name="Footer Placeholder 7">
            <a:extLst>
              <a:ext uri="{FF2B5EF4-FFF2-40B4-BE49-F238E27FC236}">
                <a16:creationId xmlns:a16="http://schemas.microsoft.com/office/drawing/2014/main" id="{F253C8A5-01AF-224E-B953-5E0BCC247E9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5CA34CD-FA75-1F49-843A-A19BA0CD7688}"/>
              </a:ext>
            </a:extLst>
          </p:cNvPr>
          <p:cNvSpPr>
            <a:spLocks noGrp="1"/>
          </p:cNvSpPr>
          <p:nvPr>
            <p:ph type="sldNum" sz="quarter" idx="12"/>
          </p:nvPr>
        </p:nvSpPr>
        <p:spPr/>
        <p:txBody>
          <a:bodyPr/>
          <a:lstStyle/>
          <a:p>
            <a:fld id="{49DC105F-6462-D849-93BE-4C1F2BCF2D59}" type="slidenum">
              <a:rPr lang="en-US" smtClean="0"/>
              <a:t>‹#›</a:t>
            </a:fld>
            <a:endParaRPr lang="en-US"/>
          </a:p>
        </p:txBody>
      </p:sp>
    </p:spTree>
    <p:extLst>
      <p:ext uri="{BB962C8B-B14F-4D97-AF65-F5344CB8AC3E}">
        <p14:creationId xmlns:p14="http://schemas.microsoft.com/office/powerpoint/2010/main" val="17820801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0A429E-19D0-594B-BFC2-060340A1A14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66EC58A-A308-084D-AE56-BA643BEAC3BC}"/>
              </a:ext>
            </a:extLst>
          </p:cNvPr>
          <p:cNvSpPr>
            <a:spLocks noGrp="1"/>
          </p:cNvSpPr>
          <p:nvPr>
            <p:ph type="dt" sz="half" idx="10"/>
          </p:nvPr>
        </p:nvSpPr>
        <p:spPr/>
        <p:txBody>
          <a:bodyPr/>
          <a:lstStyle/>
          <a:p>
            <a:fld id="{C1DBCFF7-CD89-8446-B01D-1A07184495CC}" type="datetimeFigureOut">
              <a:rPr lang="en-US" smtClean="0"/>
              <a:t>12/12/19</a:t>
            </a:fld>
            <a:endParaRPr lang="en-US"/>
          </a:p>
        </p:txBody>
      </p:sp>
      <p:sp>
        <p:nvSpPr>
          <p:cNvPr id="4" name="Footer Placeholder 3">
            <a:extLst>
              <a:ext uri="{FF2B5EF4-FFF2-40B4-BE49-F238E27FC236}">
                <a16:creationId xmlns:a16="http://schemas.microsoft.com/office/drawing/2014/main" id="{1258B4E1-1327-D94B-B6E8-BECA449A099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B3A8935-9BE0-C64A-B638-9A9449C5FB5C}"/>
              </a:ext>
            </a:extLst>
          </p:cNvPr>
          <p:cNvSpPr>
            <a:spLocks noGrp="1"/>
          </p:cNvSpPr>
          <p:nvPr>
            <p:ph type="sldNum" sz="quarter" idx="12"/>
          </p:nvPr>
        </p:nvSpPr>
        <p:spPr/>
        <p:txBody>
          <a:bodyPr/>
          <a:lstStyle/>
          <a:p>
            <a:fld id="{49DC105F-6462-D849-93BE-4C1F2BCF2D59}" type="slidenum">
              <a:rPr lang="en-US" smtClean="0"/>
              <a:t>‹#›</a:t>
            </a:fld>
            <a:endParaRPr lang="en-US"/>
          </a:p>
        </p:txBody>
      </p:sp>
    </p:spTree>
    <p:extLst>
      <p:ext uri="{BB962C8B-B14F-4D97-AF65-F5344CB8AC3E}">
        <p14:creationId xmlns:p14="http://schemas.microsoft.com/office/powerpoint/2010/main" val="19196760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817B1C5-1131-3945-B49D-543EF3598C2C}"/>
              </a:ext>
            </a:extLst>
          </p:cNvPr>
          <p:cNvSpPr>
            <a:spLocks noGrp="1"/>
          </p:cNvSpPr>
          <p:nvPr>
            <p:ph type="dt" sz="half" idx="10"/>
          </p:nvPr>
        </p:nvSpPr>
        <p:spPr/>
        <p:txBody>
          <a:bodyPr/>
          <a:lstStyle/>
          <a:p>
            <a:fld id="{C1DBCFF7-CD89-8446-B01D-1A07184495CC}" type="datetimeFigureOut">
              <a:rPr lang="en-US" smtClean="0"/>
              <a:t>12/12/19</a:t>
            </a:fld>
            <a:endParaRPr lang="en-US"/>
          </a:p>
        </p:txBody>
      </p:sp>
      <p:sp>
        <p:nvSpPr>
          <p:cNvPr id="3" name="Footer Placeholder 2">
            <a:extLst>
              <a:ext uri="{FF2B5EF4-FFF2-40B4-BE49-F238E27FC236}">
                <a16:creationId xmlns:a16="http://schemas.microsoft.com/office/drawing/2014/main" id="{B84636F9-AAD5-8140-8D27-A3F7B111D5E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83C247B-04B1-C246-BF0E-2A813E08F675}"/>
              </a:ext>
            </a:extLst>
          </p:cNvPr>
          <p:cNvSpPr>
            <a:spLocks noGrp="1"/>
          </p:cNvSpPr>
          <p:nvPr>
            <p:ph type="sldNum" sz="quarter" idx="12"/>
          </p:nvPr>
        </p:nvSpPr>
        <p:spPr/>
        <p:txBody>
          <a:bodyPr/>
          <a:lstStyle/>
          <a:p>
            <a:fld id="{49DC105F-6462-D849-93BE-4C1F2BCF2D59}" type="slidenum">
              <a:rPr lang="en-US" smtClean="0"/>
              <a:t>‹#›</a:t>
            </a:fld>
            <a:endParaRPr lang="en-US"/>
          </a:p>
        </p:txBody>
      </p:sp>
    </p:spTree>
    <p:extLst>
      <p:ext uri="{BB962C8B-B14F-4D97-AF65-F5344CB8AC3E}">
        <p14:creationId xmlns:p14="http://schemas.microsoft.com/office/powerpoint/2010/main" val="1242015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92911B-A08E-8C43-900E-18D8B050A75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A69EE08-266A-D446-83B9-AC88B70D1A6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27BAC4E-0030-3349-BBE7-014BC1E05C3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CA45329-D0D3-C34C-9562-023E505D50A6}"/>
              </a:ext>
            </a:extLst>
          </p:cNvPr>
          <p:cNvSpPr>
            <a:spLocks noGrp="1"/>
          </p:cNvSpPr>
          <p:nvPr>
            <p:ph type="dt" sz="half" idx="10"/>
          </p:nvPr>
        </p:nvSpPr>
        <p:spPr/>
        <p:txBody>
          <a:bodyPr/>
          <a:lstStyle/>
          <a:p>
            <a:fld id="{C1DBCFF7-CD89-8446-B01D-1A07184495CC}" type="datetimeFigureOut">
              <a:rPr lang="en-US" smtClean="0"/>
              <a:t>12/12/19</a:t>
            </a:fld>
            <a:endParaRPr lang="en-US"/>
          </a:p>
        </p:txBody>
      </p:sp>
      <p:sp>
        <p:nvSpPr>
          <p:cNvPr id="6" name="Footer Placeholder 5">
            <a:extLst>
              <a:ext uri="{FF2B5EF4-FFF2-40B4-BE49-F238E27FC236}">
                <a16:creationId xmlns:a16="http://schemas.microsoft.com/office/drawing/2014/main" id="{0ED9B9E2-6EFA-184E-9F9B-E0DB4D2346F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C4C5DFA-5503-094D-AE15-A4E6B748658F}"/>
              </a:ext>
            </a:extLst>
          </p:cNvPr>
          <p:cNvSpPr>
            <a:spLocks noGrp="1"/>
          </p:cNvSpPr>
          <p:nvPr>
            <p:ph type="sldNum" sz="quarter" idx="12"/>
          </p:nvPr>
        </p:nvSpPr>
        <p:spPr/>
        <p:txBody>
          <a:bodyPr/>
          <a:lstStyle/>
          <a:p>
            <a:fld id="{49DC105F-6462-D849-93BE-4C1F2BCF2D59}" type="slidenum">
              <a:rPr lang="en-US" smtClean="0"/>
              <a:t>‹#›</a:t>
            </a:fld>
            <a:endParaRPr lang="en-US"/>
          </a:p>
        </p:txBody>
      </p:sp>
    </p:spTree>
    <p:extLst>
      <p:ext uri="{BB962C8B-B14F-4D97-AF65-F5344CB8AC3E}">
        <p14:creationId xmlns:p14="http://schemas.microsoft.com/office/powerpoint/2010/main" val="18714865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C55BFC-980C-B546-B8D0-43B98BB12B7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E3328E7-C559-E84E-AE73-E0E302E7602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C359D42-E030-B847-B2FD-EC5791048D0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C0D3347-DEFB-2D4E-9A0C-853133B7A867}"/>
              </a:ext>
            </a:extLst>
          </p:cNvPr>
          <p:cNvSpPr>
            <a:spLocks noGrp="1"/>
          </p:cNvSpPr>
          <p:nvPr>
            <p:ph type="dt" sz="half" idx="10"/>
          </p:nvPr>
        </p:nvSpPr>
        <p:spPr/>
        <p:txBody>
          <a:bodyPr/>
          <a:lstStyle/>
          <a:p>
            <a:fld id="{C1DBCFF7-CD89-8446-B01D-1A07184495CC}" type="datetimeFigureOut">
              <a:rPr lang="en-US" smtClean="0"/>
              <a:t>12/12/19</a:t>
            </a:fld>
            <a:endParaRPr lang="en-US"/>
          </a:p>
        </p:txBody>
      </p:sp>
      <p:sp>
        <p:nvSpPr>
          <p:cNvPr id="6" name="Footer Placeholder 5">
            <a:extLst>
              <a:ext uri="{FF2B5EF4-FFF2-40B4-BE49-F238E27FC236}">
                <a16:creationId xmlns:a16="http://schemas.microsoft.com/office/drawing/2014/main" id="{997DC0F2-B20A-AD49-9A50-0FF2EDF88E6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233C5FB-3488-BE4D-B26B-A380AB6C15CB}"/>
              </a:ext>
            </a:extLst>
          </p:cNvPr>
          <p:cNvSpPr>
            <a:spLocks noGrp="1"/>
          </p:cNvSpPr>
          <p:nvPr>
            <p:ph type="sldNum" sz="quarter" idx="12"/>
          </p:nvPr>
        </p:nvSpPr>
        <p:spPr/>
        <p:txBody>
          <a:bodyPr/>
          <a:lstStyle/>
          <a:p>
            <a:fld id="{49DC105F-6462-D849-93BE-4C1F2BCF2D59}" type="slidenum">
              <a:rPr lang="en-US" smtClean="0"/>
              <a:t>‹#›</a:t>
            </a:fld>
            <a:endParaRPr lang="en-US"/>
          </a:p>
        </p:txBody>
      </p:sp>
    </p:spTree>
    <p:extLst>
      <p:ext uri="{BB962C8B-B14F-4D97-AF65-F5344CB8AC3E}">
        <p14:creationId xmlns:p14="http://schemas.microsoft.com/office/powerpoint/2010/main" val="8133195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BC970B-57A4-4549-BE53-99005C0AD90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D9310FB-D960-9A4F-B14C-7FA6AC7FEFC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B5D2B68-797F-D343-9B1C-69C3FBA7236A}"/>
              </a:ext>
            </a:extLst>
          </p:cNvPr>
          <p:cNvSpPr>
            <a:spLocks noGrp="1"/>
          </p:cNvSpPr>
          <p:nvPr>
            <p:ph type="dt" sz="half" idx="10"/>
          </p:nvPr>
        </p:nvSpPr>
        <p:spPr/>
        <p:txBody>
          <a:bodyPr/>
          <a:lstStyle/>
          <a:p>
            <a:fld id="{C1DBCFF7-CD89-8446-B01D-1A07184495CC}" type="datetimeFigureOut">
              <a:rPr lang="en-US" smtClean="0"/>
              <a:t>12/12/19</a:t>
            </a:fld>
            <a:endParaRPr lang="en-US"/>
          </a:p>
        </p:txBody>
      </p:sp>
      <p:sp>
        <p:nvSpPr>
          <p:cNvPr id="5" name="Footer Placeholder 4">
            <a:extLst>
              <a:ext uri="{FF2B5EF4-FFF2-40B4-BE49-F238E27FC236}">
                <a16:creationId xmlns:a16="http://schemas.microsoft.com/office/drawing/2014/main" id="{75EAEA4B-99E6-B842-8E3D-5CE54FE65F8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40EB3CD-33CB-254F-8E24-924008612323}"/>
              </a:ext>
            </a:extLst>
          </p:cNvPr>
          <p:cNvSpPr>
            <a:spLocks noGrp="1"/>
          </p:cNvSpPr>
          <p:nvPr>
            <p:ph type="sldNum" sz="quarter" idx="12"/>
          </p:nvPr>
        </p:nvSpPr>
        <p:spPr/>
        <p:txBody>
          <a:bodyPr/>
          <a:lstStyle/>
          <a:p>
            <a:fld id="{49DC105F-6462-D849-93BE-4C1F2BCF2D59}" type="slidenum">
              <a:rPr lang="en-US" smtClean="0"/>
              <a:t>‹#›</a:t>
            </a:fld>
            <a:endParaRPr lang="en-US"/>
          </a:p>
        </p:txBody>
      </p:sp>
    </p:spTree>
    <p:extLst>
      <p:ext uri="{BB962C8B-B14F-4D97-AF65-F5344CB8AC3E}">
        <p14:creationId xmlns:p14="http://schemas.microsoft.com/office/powerpoint/2010/main" val="33163652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8F133A3-B335-AC41-BDC2-9AF85525C6B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044083C-8CCE-2B46-BDE6-995F6A45998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B5007E2-CC02-7344-AAB5-34BAAA1F8C63}"/>
              </a:ext>
            </a:extLst>
          </p:cNvPr>
          <p:cNvSpPr>
            <a:spLocks noGrp="1"/>
          </p:cNvSpPr>
          <p:nvPr>
            <p:ph type="dt" sz="half" idx="10"/>
          </p:nvPr>
        </p:nvSpPr>
        <p:spPr/>
        <p:txBody>
          <a:bodyPr/>
          <a:lstStyle/>
          <a:p>
            <a:fld id="{C1DBCFF7-CD89-8446-B01D-1A07184495CC}" type="datetimeFigureOut">
              <a:rPr lang="en-US" smtClean="0"/>
              <a:t>12/12/19</a:t>
            </a:fld>
            <a:endParaRPr lang="en-US"/>
          </a:p>
        </p:txBody>
      </p:sp>
      <p:sp>
        <p:nvSpPr>
          <p:cNvPr id="5" name="Footer Placeholder 4">
            <a:extLst>
              <a:ext uri="{FF2B5EF4-FFF2-40B4-BE49-F238E27FC236}">
                <a16:creationId xmlns:a16="http://schemas.microsoft.com/office/drawing/2014/main" id="{5FFAAA30-6EC1-FE40-99EF-04C3D0A6D61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8BAD0FB-444F-B148-B8FD-49E933CA81AD}"/>
              </a:ext>
            </a:extLst>
          </p:cNvPr>
          <p:cNvSpPr>
            <a:spLocks noGrp="1"/>
          </p:cNvSpPr>
          <p:nvPr>
            <p:ph type="sldNum" sz="quarter" idx="12"/>
          </p:nvPr>
        </p:nvSpPr>
        <p:spPr/>
        <p:txBody>
          <a:bodyPr/>
          <a:lstStyle/>
          <a:p>
            <a:fld id="{49DC105F-6462-D849-93BE-4C1F2BCF2D59}" type="slidenum">
              <a:rPr lang="en-US" smtClean="0"/>
              <a:t>‹#›</a:t>
            </a:fld>
            <a:endParaRPr lang="en-US"/>
          </a:p>
        </p:txBody>
      </p:sp>
    </p:spTree>
    <p:extLst>
      <p:ext uri="{BB962C8B-B14F-4D97-AF65-F5344CB8AC3E}">
        <p14:creationId xmlns:p14="http://schemas.microsoft.com/office/powerpoint/2010/main" val="18090253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2833BCB-4E70-3342-B4DA-F609DB8B033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8C1E869-7F4F-7446-BFC2-F8BE0368AF5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825E029-D929-0A42-BB6D-31F727C877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1DBCFF7-CD89-8446-B01D-1A07184495CC}" type="datetimeFigureOut">
              <a:rPr lang="en-US" smtClean="0"/>
              <a:t>12/12/19</a:t>
            </a:fld>
            <a:endParaRPr lang="en-US"/>
          </a:p>
        </p:txBody>
      </p:sp>
      <p:sp>
        <p:nvSpPr>
          <p:cNvPr id="5" name="Footer Placeholder 4">
            <a:extLst>
              <a:ext uri="{FF2B5EF4-FFF2-40B4-BE49-F238E27FC236}">
                <a16:creationId xmlns:a16="http://schemas.microsoft.com/office/drawing/2014/main" id="{6F5AE176-5718-AF42-B70E-202CA432030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86753B0-F5F6-0346-927D-261DD419AD7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9DC105F-6462-D849-93BE-4C1F2BCF2D59}" type="slidenum">
              <a:rPr lang="en-US" smtClean="0"/>
              <a:t>‹#›</a:t>
            </a:fld>
            <a:endParaRPr lang="en-US"/>
          </a:p>
        </p:txBody>
      </p:sp>
    </p:spTree>
    <p:extLst>
      <p:ext uri="{BB962C8B-B14F-4D97-AF65-F5344CB8AC3E}">
        <p14:creationId xmlns:p14="http://schemas.microsoft.com/office/powerpoint/2010/main" val="28371411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gif"/><Relationship Id="rId5" Type="http://schemas.openxmlformats.org/officeDocument/2006/relationships/image" Target="../media/image3.gif"/><Relationship Id="rId4" Type="http://schemas.openxmlformats.org/officeDocument/2006/relationships/image" Target="../media/image2.gif"/></Relationships>
</file>

<file path=ppt/slides/_rels/slide3.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140.png"/><Relationship Id="rId3" Type="http://schemas.openxmlformats.org/officeDocument/2006/relationships/image" Target="../media/image5.png"/><Relationship Id="rId7" Type="http://schemas.openxmlformats.org/officeDocument/2006/relationships/image" Target="../media/image11.png"/><Relationship Id="rId12" Type="http://schemas.openxmlformats.org/officeDocument/2006/relationships/image" Target="../media/image16.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15" Type="http://schemas.openxmlformats.org/officeDocument/2006/relationships/image" Target="../media/image15.png"/><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5.gif"/><Relationship Id="rId14" Type="http://schemas.openxmlformats.org/officeDocument/2006/relationships/image" Target="../media/image13.png"/></Relationships>
</file>

<file path=ppt/slides/_rels/slide4.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image" Target="../media/image28.png"/><Relationship Id="rId3" Type="http://schemas.openxmlformats.org/officeDocument/2006/relationships/image" Target="../media/image19.png"/><Relationship Id="rId7" Type="http://schemas.openxmlformats.org/officeDocument/2006/relationships/image" Target="../media/image22.png"/><Relationship Id="rId12" Type="http://schemas.openxmlformats.org/officeDocument/2006/relationships/image" Target="../media/image27.png"/><Relationship Id="rId2" Type="http://schemas.openxmlformats.org/officeDocument/2006/relationships/notesSlide" Target="../notesSlides/notesSlide3.xml"/><Relationship Id="rId16" Type="http://schemas.openxmlformats.org/officeDocument/2006/relationships/image" Target="../media/image30.png"/><Relationship Id="rId1" Type="http://schemas.openxmlformats.org/officeDocument/2006/relationships/slideLayout" Target="../slideLayouts/slideLayout2.xml"/><Relationship Id="rId6" Type="http://schemas.openxmlformats.org/officeDocument/2006/relationships/image" Target="../media/image17.png"/><Relationship Id="rId11" Type="http://schemas.openxmlformats.org/officeDocument/2006/relationships/image" Target="../media/image26.png"/><Relationship Id="rId5" Type="http://schemas.openxmlformats.org/officeDocument/2006/relationships/image" Target="../media/image18.png"/><Relationship Id="rId15" Type="http://schemas.openxmlformats.org/officeDocument/2006/relationships/image" Target="../media/image29.png"/><Relationship Id="rId10" Type="http://schemas.openxmlformats.org/officeDocument/2006/relationships/image" Target="../media/image25.png"/><Relationship Id="rId4" Type="http://schemas.openxmlformats.org/officeDocument/2006/relationships/image" Target="../media/image20.png"/><Relationship Id="rId9" Type="http://schemas.openxmlformats.org/officeDocument/2006/relationships/image" Target="../media/image24.png"/><Relationship Id="rId14" Type="http://schemas.openxmlformats.org/officeDocument/2006/relationships/image" Target="../media/image5.gif"/></Relationships>
</file>

<file path=ppt/slides/_rels/slide5.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5.gif"/><Relationship Id="rId3" Type="http://schemas.openxmlformats.org/officeDocument/2006/relationships/image" Target="../media/image31.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4.xml"/><Relationship Id="rId1" Type="http://schemas.openxmlformats.org/officeDocument/2006/relationships/slideLayout" Target="../slideLayouts/slideLayout2.xml"/><Relationship Id="rId11" Type="http://schemas.openxmlformats.org/officeDocument/2006/relationships/image" Target="../media/image39.png"/><Relationship Id="rId5" Type="http://schemas.openxmlformats.org/officeDocument/2006/relationships/image" Target="../media/image33.png"/><Relationship Id="rId15" Type="http://schemas.openxmlformats.org/officeDocument/2006/relationships/image" Target="../media/image42.png"/><Relationship Id="rId10" Type="http://schemas.openxmlformats.org/officeDocument/2006/relationships/image" Target="../media/image38.png"/><Relationship Id="rId4" Type="http://schemas.openxmlformats.org/officeDocument/2006/relationships/image" Target="../media/image32.png"/><Relationship Id="rId9" Type="http://schemas.openxmlformats.org/officeDocument/2006/relationships/image" Target="../media/image37.png"/><Relationship Id="rId14" Type="http://schemas.openxmlformats.org/officeDocument/2006/relationships/image" Target="../media/image41.png"/></Relationships>
</file>

<file path=ppt/slides/_rels/slide6.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18.gif"/><Relationship Id="rId7" Type="http://schemas.openxmlformats.org/officeDocument/2006/relationships/image" Target="../media/image431.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gif"/><Relationship Id="rId4" Type="http://schemas.openxmlformats.org/officeDocument/2006/relationships/image" Target="../media/image19.gif"/><Relationship Id="rId9" Type="http://schemas.openxmlformats.org/officeDocument/2006/relationships/image" Target="../media/image45.png"/></Relationships>
</file>

<file path=ppt/slides/_rels/slide7.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image" Target="../media/image34.png"/><Relationship Id="rId7" Type="http://schemas.openxmlformats.org/officeDocument/2006/relationships/image" Target="../media/image47.png"/><Relationship Id="rId12" Type="http://schemas.openxmlformats.org/officeDocument/2006/relationships/image" Target="../media/image51.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46.png"/><Relationship Id="rId11" Type="http://schemas.openxmlformats.org/officeDocument/2006/relationships/image" Target="../media/image501.png"/><Relationship Id="rId5" Type="http://schemas.openxmlformats.org/officeDocument/2006/relationships/image" Target="../media/image43.png"/><Relationship Id="rId10" Type="http://schemas.openxmlformats.org/officeDocument/2006/relationships/image" Target="../media/image491.png"/><Relationship Id="rId4" Type="http://schemas.openxmlformats.org/officeDocument/2006/relationships/image" Target="../media/image430.png"/><Relationship Id="rId9" Type="http://schemas.openxmlformats.org/officeDocument/2006/relationships/image" Target="../media/image481.png"/></Relationships>
</file>

<file path=ppt/slides/_rels/slide8.xml.rels><?xml version="1.0" encoding="UTF-8" standalone="yes"?>
<Relationships xmlns="http://schemas.openxmlformats.org/package/2006/relationships"><Relationship Id="rId3" Type="http://schemas.openxmlformats.org/officeDocument/2006/relationships/hyperlink" Target="https://www.google.com/search?biw=1680&amp;bih=889&amp;tbm=isch&amp;sxsrf=ACYBGNQ_IzneSLAU9OFxJrw-XhLx7-SD2w%3A1576092622889&amp;sa=1&amp;ei=zkPxXeDiNcGV_Qal9YKwDw&amp;q=euler+bernoulli+beam+gif&amp;oq=euler+bernoulli+beam+gif&amp;gs_l=img.3...3555.4784..4918...0.0..0.83.393.6......0....1..gws-wiz-img.......0i67j0j0i8i30j0i24j0i30.c1GmP2_LbGw&amp;ved=0ahUKEwjgga7Hqq7mAhXBSt8KHaW6APYQ4dUDCAc&amp;uact=5#imgrc=0tZMJgbORYbcuM:" TargetMode="External"/><Relationship Id="rId2" Type="http://schemas.openxmlformats.org/officeDocument/2006/relationships/hyperlink" Target="https://en.wikipedia.org/wiki/Cahn%E2%80%93Hilliard_equation#/media/File:CahnHilliard_Animation.gif"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52.png"/><Relationship Id="rId13" Type="http://schemas.openxmlformats.org/officeDocument/2006/relationships/image" Target="../media/image56.png"/><Relationship Id="rId3" Type="http://schemas.openxmlformats.org/officeDocument/2006/relationships/image" Target="../media/image470.png"/><Relationship Id="rId7" Type="http://schemas.openxmlformats.org/officeDocument/2006/relationships/image" Target="../media/image510.png"/><Relationship Id="rId12" Type="http://schemas.openxmlformats.org/officeDocument/2006/relationships/image" Target="../media/image55.png"/><Relationship Id="rId2" Type="http://schemas.openxmlformats.org/officeDocument/2006/relationships/image" Target="../media/image450.png"/><Relationship Id="rId1" Type="http://schemas.openxmlformats.org/officeDocument/2006/relationships/slideLayout" Target="../slideLayouts/slideLayout2.xml"/><Relationship Id="rId6" Type="http://schemas.openxmlformats.org/officeDocument/2006/relationships/image" Target="../media/image500.png"/><Relationship Id="rId11" Type="http://schemas.openxmlformats.org/officeDocument/2006/relationships/image" Target="../media/image54.png"/><Relationship Id="rId5" Type="http://schemas.openxmlformats.org/officeDocument/2006/relationships/image" Target="../media/image490.png"/><Relationship Id="rId15" Type="http://schemas.openxmlformats.org/officeDocument/2006/relationships/image" Target="../media/image58.png"/><Relationship Id="rId10" Type="http://schemas.openxmlformats.org/officeDocument/2006/relationships/image" Target="../media/image53.png"/><Relationship Id="rId4" Type="http://schemas.openxmlformats.org/officeDocument/2006/relationships/image" Target="../media/image480.png"/><Relationship Id="rId9" Type="http://schemas.openxmlformats.org/officeDocument/2006/relationships/image" Target="../media/image5.gif"/><Relationship Id="rId14" Type="http://schemas.openxmlformats.org/officeDocument/2006/relationships/image" Target="../media/image57.png"/></Relationships>
</file>

<file path=ppt/slides/_rels/slide10.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 Id="rId5" Type="http://schemas.openxmlformats.org/officeDocument/2006/relationships/image" Target="../media/image60.png"/><Relationship Id="rId4" Type="http://schemas.openxmlformats.org/officeDocument/2006/relationships/image" Target="../media/image59.png"/></Relationships>
</file>

<file path=ppt/slides/_rels/slide11.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C3031F0-BD64-5F42-B456-73BBBED06759}"/>
              </a:ext>
            </a:extLst>
          </p:cNvPr>
          <p:cNvSpPr txBox="1"/>
          <p:nvPr/>
        </p:nvSpPr>
        <p:spPr>
          <a:xfrm>
            <a:off x="1011115" y="2576367"/>
            <a:ext cx="9951691" cy="1015663"/>
          </a:xfrm>
          <a:prstGeom prst="rect">
            <a:avLst/>
          </a:prstGeom>
          <a:noFill/>
        </p:spPr>
        <p:txBody>
          <a:bodyPr wrap="square" rtlCol="0">
            <a:spAutoFit/>
          </a:bodyPr>
          <a:lstStyle/>
          <a:p>
            <a:pPr algn="ctr"/>
            <a:r>
              <a:rPr lang="en-US" sz="2000" dirty="0"/>
              <a:t>Team LGD: Wei Cheng, </a:t>
            </a:r>
            <a:r>
              <a:rPr lang="en-US" sz="2000" dirty="0" err="1"/>
              <a:t>Minglang</a:t>
            </a:r>
            <a:r>
              <a:rPr lang="en-US" sz="2000" dirty="0"/>
              <a:t> Yin, </a:t>
            </a:r>
            <a:r>
              <a:rPr lang="en-US" sz="2000" dirty="0" err="1"/>
              <a:t>Enrui</a:t>
            </a:r>
            <a:r>
              <a:rPr lang="en-US" sz="2000" dirty="0"/>
              <a:t> Zhang, </a:t>
            </a:r>
            <a:r>
              <a:rPr lang="en-US" sz="2000" dirty="0" err="1"/>
              <a:t>Zongren</a:t>
            </a:r>
            <a:r>
              <a:rPr lang="en-US" sz="2000" dirty="0"/>
              <a:t> Zou</a:t>
            </a:r>
          </a:p>
          <a:p>
            <a:pPr algn="ctr"/>
            <a:r>
              <a:rPr lang="en-US" sz="2000" dirty="0"/>
              <a:t>Deep Learning Final Presentation</a:t>
            </a:r>
          </a:p>
          <a:p>
            <a:pPr algn="ctr"/>
            <a:endParaRPr lang="en-US" sz="2000"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FA32D78B-0927-D74F-9820-6C6A266DFB7C}"/>
              </a:ext>
            </a:extLst>
          </p:cNvPr>
          <p:cNvPicPr>
            <a:picLocks noChangeAspect="1"/>
          </p:cNvPicPr>
          <p:nvPr/>
        </p:nvPicPr>
        <p:blipFill rotWithShape="1">
          <a:blip r:embed="rId2"/>
          <a:srcRect r="70843"/>
          <a:stretch/>
        </p:blipFill>
        <p:spPr>
          <a:xfrm>
            <a:off x="9243057" y="5283539"/>
            <a:ext cx="852132" cy="1178859"/>
          </a:xfrm>
          <a:prstGeom prst="rect">
            <a:avLst/>
          </a:prstGeom>
        </p:spPr>
      </p:pic>
      <p:sp>
        <p:nvSpPr>
          <p:cNvPr id="9" name="TextBox 8">
            <a:extLst>
              <a:ext uri="{FF2B5EF4-FFF2-40B4-BE49-F238E27FC236}">
                <a16:creationId xmlns:a16="http://schemas.microsoft.com/office/drawing/2014/main" id="{6204C5E5-173E-0E48-9427-EC60F7F2DFB5}"/>
              </a:ext>
            </a:extLst>
          </p:cNvPr>
          <p:cNvSpPr txBox="1"/>
          <p:nvPr/>
        </p:nvSpPr>
        <p:spPr>
          <a:xfrm>
            <a:off x="1193953" y="900949"/>
            <a:ext cx="9586016" cy="954107"/>
          </a:xfrm>
          <a:prstGeom prst="rect">
            <a:avLst/>
          </a:prstGeom>
          <a:solidFill>
            <a:schemeClr val="accent1"/>
          </a:solidFill>
          <a:ln>
            <a:solidFill>
              <a:schemeClr val="accent1"/>
            </a:solidFill>
          </a:ln>
        </p:spPr>
        <p:txBody>
          <a:bodyPr wrap="square" rtlCol="0">
            <a:spAutoFit/>
          </a:bodyPr>
          <a:lstStyle/>
          <a:p>
            <a:pPr algn="ctr"/>
            <a:r>
              <a:rPr lang="en-US" sz="2800" dirty="0">
                <a:solidFill>
                  <a:schemeClr val="bg1"/>
                </a:solidFill>
              </a:rPr>
              <a:t>Physical-informed Neural Networks for Solving Partial Differential Equations in Mechanics</a:t>
            </a:r>
          </a:p>
        </p:txBody>
      </p:sp>
      <p:sp>
        <p:nvSpPr>
          <p:cNvPr id="4" name="Date Placeholder 3">
            <a:extLst>
              <a:ext uri="{FF2B5EF4-FFF2-40B4-BE49-F238E27FC236}">
                <a16:creationId xmlns:a16="http://schemas.microsoft.com/office/drawing/2014/main" id="{842B60D8-2FC0-4CCC-B8C2-1A991703BACA}"/>
              </a:ext>
            </a:extLst>
          </p:cNvPr>
          <p:cNvSpPr>
            <a:spLocks noGrp="1"/>
          </p:cNvSpPr>
          <p:nvPr>
            <p:ph type="dt" sz="half" idx="10"/>
          </p:nvPr>
        </p:nvSpPr>
        <p:spPr/>
        <p:txBody>
          <a:bodyPr/>
          <a:lstStyle/>
          <a:p>
            <a:fld id="{03F9765E-6292-4425-81C7-7B22291CE02B}" type="datetime1">
              <a:rPr lang="en-US" smtClean="0"/>
              <a:t>12/12/19</a:t>
            </a:fld>
            <a:endParaRPr lang="en-US"/>
          </a:p>
        </p:txBody>
      </p:sp>
      <p:sp>
        <p:nvSpPr>
          <p:cNvPr id="7" name="Footer Placeholder 6">
            <a:extLst>
              <a:ext uri="{FF2B5EF4-FFF2-40B4-BE49-F238E27FC236}">
                <a16:creationId xmlns:a16="http://schemas.microsoft.com/office/drawing/2014/main" id="{AC38029A-8B97-4CF0-AC7B-2ED9C3E4D4AE}"/>
              </a:ext>
            </a:extLst>
          </p:cNvPr>
          <p:cNvSpPr>
            <a:spLocks noGrp="1"/>
          </p:cNvSpPr>
          <p:nvPr>
            <p:ph type="ftr" sz="quarter" idx="11"/>
          </p:nvPr>
        </p:nvSpPr>
        <p:spPr/>
        <p:txBody>
          <a:bodyPr/>
          <a:lstStyle/>
          <a:p>
            <a:r>
              <a:rPr lang="en-US" dirty="0"/>
              <a:t>2019 Deep Learning Final Presentation</a:t>
            </a:r>
          </a:p>
        </p:txBody>
      </p:sp>
      <p:sp>
        <p:nvSpPr>
          <p:cNvPr id="8" name="Slide Number Placeholder 7">
            <a:extLst>
              <a:ext uri="{FF2B5EF4-FFF2-40B4-BE49-F238E27FC236}">
                <a16:creationId xmlns:a16="http://schemas.microsoft.com/office/drawing/2014/main" id="{ADFB080D-10B9-4EB9-B85C-A6A0F274159D}"/>
              </a:ext>
            </a:extLst>
          </p:cNvPr>
          <p:cNvSpPr>
            <a:spLocks noGrp="1"/>
          </p:cNvSpPr>
          <p:nvPr>
            <p:ph type="sldNum" sz="quarter" idx="12"/>
          </p:nvPr>
        </p:nvSpPr>
        <p:spPr/>
        <p:txBody>
          <a:bodyPr/>
          <a:lstStyle/>
          <a:p>
            <a:fld id="{8EFFDE9E-9997-42E5-95F8-776DC6BFAD10}" type="slidenum">
              <a:rPr lang="en-US" smtClean="0"/>
              <a:t>1</a:t>
            </a:fld>
            <a:endParaRPr lang="en-US"/>
          </a:p>
        </p:txBody>
      </p:sp>
    </p:spTree>
    <p:extLst>
      <p:ext uri="{BB962C8B-B14F-4D97-AF65-F5344CB8AC3E}">
        <p14:creationId xmlns:p14="http://schemas.microsoft.com/office/powerpoint/2010/main" val="982486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7BB2207-E319-4C68-89F5-BABE56735956}"/>
              </a:ext>
            </a:extLst>
          </p:cNvPr>
          <p:cNvSpPr/>
          <p:nvPr/>
        </p:nvSpPr>
        <p:spPr>
          <a:xfrm>
            <a:off x="0" y="0"/>
            <a:ext cx="12192000" cy="5762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t>Introduction</a:t>
            </a:r>
          </a:p>
        </p:txBody>
      </p:sp>
      <p:sp>
        <p:nvSpPr>
          <p:cNvPr id="4" name="Date Placeholder 3">
            <a:extLst>
              <a:ext uri="{FF2B5EF4-FFF2-40B4-BE49-F238E27FC236}">
                <a16:creationId xmlns:a16="http://schemas.microsoft.com/office/drawing/2014/main" id="{C56C5B1D-BAE5-444D-BE0A-8DFE8943F71A}"/>
              </a:ext>
            </a:extLst>
          </p:cNvPr>
          <p:cNvSpPr>
            <a:spLocks noGrp="1"/>
          </p:cNvSpPr>
          <p:nvPr>
            <p:ph type="dt" sz="half" idx="10"/>
          </p:nvPr>
        </p:nvSpPr>
        <p:spPr/>
        <p:txBody>
          <a:bodyPr/>
          <a:lstStyle/>
          <a:p>
            <a:fld id="{DF1A2BDE-45B9-4338-A5B4-A4B361F8291C}" type="datetime1">
              <a:rPr lang="en-US" smtClean="0"/>
              <a:t>12/12/19</a:t>
            </a:fld>
            <a:endParaRPr lang="en-US" dirty="0"/>
          </a:p>
        </p:txBody>
      </p:sp>
      <p:sp>
        <p:nvSpPr>
          <p:cNvPr id="6" name="Slide Number Placeholder 5">
            <a:extLst>
              <a:ext uri="{FF2B5EF4-FFF2-40B4-BE49-F238E27FC236}">
                <a16:creationId xmlns:a16="http://schemas.microsoft.com/office/drawing/2014/main" id="{6018303F-834B-4DF5-9449-DE2539D3C3BF}"/>
              </a:ext>
            </a:extLst>
          </p:cNvPr>
          <p:cNvSpPr>
            <a:spLocks noGrp="1"/>
          </p:cNvSpPr>
          <p:nvPr>
            <p:ph type="sldNum" sz="quarter" idx="12"/>
          </p:nvPr>
        </p:nvSpPr>
        <p:spPr/>
        <p:txBody>
          <a:bodyPr/>
          <a:lstStyle/>
          <a:p>
            <a:fld id="{8EFFDE9E-9997-42E5-95F8-776DC6BFAD10}" type="slidenum">
              <a:rPr lang="en-US" smtClean="0"/>
              <a:t>2</a:t>
            </a:fld>
            <a:endParaRPr lang="en-US" dirty="0"/>
          </a:p>
        </p:txBody>
      </p:sp>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74DFEF03-11E9-C24E-A750-54C57B15515A}"/>
                  </a:ext>
                </a:extLst>
              </p:cNvPr>
              <p:cNvSpPr/>
              <p:nvPr/>
            </p:nvSpPr>
            <p:spPr>
              <a:xfrm>
                <a:off x="412530" y="702377"/>
                <a:ext cx="4327636" cy="1576585"/>
              </a:xfrm>
              <a:prstGeom prst="rect">
                <a:avLst/>
              </a:prstGeom>
            </p:spPr>
            <p:txBody>
              <a:bodyPr wrap="square">
                <a:spAutoFit/>
              </a:bodyPr>
              <a:lstStyle/>
              <a:p>
                <a:r>
                  <a:rPr lang="en-US" altLang="zh-CN" sz="2000" dirty="0"/>
                  <a:t>Navier-Stokes Equations:</a:t>
                </a:r>
                <a:endParaRPr lang="en-US" altLang="zh-CN" sz="2000" i="1" dirty="0">
                  <a:ea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n-US" sz="2000" i="1" smtClean="0">
                          <a:solidFill>
                            <a:schemeClr val="tx1"/>
                          </a:solidFill>
                          <a:latin typeface="Cambria Math" panose="02040503050406030204" pitchFamily="18" charset="0"/>
                          <a:ea typeface="Cambria Math" panose="02040503050406030204" pitchFamily="18" charset="0"/>
                        </a:rPr>
                        <m:t>𝜌</m:t>
                      </m:r>
                      <m:d>
                        <m:dPr>
                          <m:ctrlPr>
                            <a:rPr lang="en-US" sz="2000" i="1">
                              <a:solidFill>
                                <a:schemeClr val="tx1"/>
                              </a:solidFill>
                              <a:latin typeface="Cambria Math" panose="02040503050406030204" pitchFamily="18" charset="0"/>
                              <a:ea typeface="Cambria Math" panose="02040503050406030204" pitchFamily="18" charset="0"/>
                            </a:rPr>
                          </m:ctrlPr>
                        </m:dPr>
                        <m:e>
                          <m:f>
                            <m:fPr>
                              <m:ctrlPr>
                                <a:rPr lang="en-US" sz="2000" i="1">
                                  <a:solidFill>
                                    <a:schemeClr val="tx1"/>
                                  </a:solidFill>
                                  <a:latin typeface="Cambria Math" panose="02040503050406030204" pitchFamily="18" charset="0"/>
                                  <a:ea typeface="Cambria Math" panose="02040503050406030204" pitchFamily="18" charset="0"/>
                                </a:rPr>
                              </m:ctrlPr>
                            </m:fPr>
                            <m:num>
                              <m:r>
                                <a:rPr lang="en-US" sz="2000" i="1">
                                  <a:solidFill>
                                    <a:schemeClr val="tx1"/>
                                  </a:solidFill>
                                  <a:latin typeface="Cambria Math" panose="02040503050406030204" pitchFamily="18" charset="0"/>
                                  <a:ea typeface="Cambria Math" panose="02040503050406030204" pitchFamily="18" charset="0"/>
                                </a:rPr>
                                <m:t>𝜕</m:t>
                              </m:r>
                              <m:r>
                                <a:rPr lang="en-US" sz="2000" i="1">
                                  <a:solidFill>
                                    <a:schemeClr val="tx1"/>
                                  </a:solidFill>
                                  <a:latin typeface="Cambria Math" panose="02040503050406030204" pitchFamily="18" charset="0"/>
                                  <a:ea typeface="Cambria Math" panose="02040503050406030204" pitchFamily="18" charset="0"/>
                                </a:rPr>
                                <m:t>𝑈</m:t>
                              </m:r>
                            </m:num>
                            <m:den>
                              <m:r>
                                <a:rPr lang="en-US" sz="2000" i="1">
                                  <a:solidFill>
                                    <a:schemeClr val="tx1"/>
                                  </a:solidFill>
                                  <a:latin typeface="Cambria Math" panose="02040503050406030204" pitchFamily="18" charset="0"/>
                                  <a:ea typeface="Cambria Math" panose="02040503050406030204" pitchFamily="18" charset="0"/>
                                </a:rPr>
                                <m:t>𝜕</m:t>
                              </m:r>
                              <m:r>
                                <a:rPr lang="en-US" sz="2000" i="1">
                                  <a:solidFill>
                                    <a:schemeClr val="tx1"/>
                                  </a:solidFill>
                                  <a:latin typeface="Cambria Math" panose="02040503050406030204" pitchFamily="18" charset="0"/>
                                  <a:ea typeface="Cambria Math" panose="02040503050406030204" pitchFamily="18" charset="0"/>
                                </a:rPr>
                                <m:t>𝑡</m:t>
                              </m:r>
                            </m:den>
                          </m:f>
                          <m:r>
                            <a:rPr lang="en-US" sz="2000" i="1">
                              <a:solidFill>
                                <a:schemeClr val="tx1"/>
                              </a:solidFill>
                              <a:latin typeface="Cambria Math" panose="02040503050406030204" pitchFamily="18" charset="0"/>
                              <a:ea typeface="Cambria Math" panose="02040503050406030204" pitchFamily="18" charset="0"/>
                            </a:rPr>
                            <m:t>+</m:t>
                          </m:r>
                          <m:d>
                            <m:dPr>
                              <m:ctrlPr>
                                <a:rPr lang="en-US" sz="2000" i="1">
                                  <a:solidFill>
                                    <a:schemeClr val="tx1"/>
                                  </a:solidFill>
                                  <a:latin typeface="Cambria Math" panose="02040503050406030204" pitchFamily="18" charset="0"/>
                                  <a:ea typeface="Cambria Math" panose="02040503050406030204" pitchFamily="18" charset="0"/>
                                </a:rPr>
                              </m:ctrlPr>
                            </m:dPr>
                            <m:e>
                              <m:r>
                                <a:rPr lang="en-US" sz="2000" i="1">
                                  <a:solidFill>
                                    <a:schemeClr val="tx1"/>
                                  </a:solidFill>
                                  <a:latin typeface="Cambria Math" panose="02040503050406030204" pitchFamily="18" charset="0"/>
                                  <a:ea typeface="Cambria Math" panose="02040503050406030204" pitchFamily="18" charset="0"/>
                                </a:rPr>
                                <m:t>𝑈</m:t>
                              </m:r>
                              <m:r>
                                <a:rPr lang="en-US" sz="2000" i="1">
                                  <a:solidFill>
                                    <a:schemeClr val="tx1"/>
                                  </a:solidFill>
                                  <a:latin typeface="Cambria Math" panose="02040503050406030204" pitchFamily="18" charset="0"/>
                                  <a:ea typeface="Cambria Math" panose="02040503050406030204" pitchFamily="18" charset="0"/>
                                </a:rPr>
                                <m:t>⋅</m:t>
                              </m:r>
                              <m:r>
                                <m:rPr>
                                  <m:sty m:val="p"/>
                                </m:rPr>
                                <a:rPr lang="en-US" sz="2000" i="1">
                                  <a:solidFill>
                                    <a:schemeClr val="tx1"/>
                                  </a:solidFill>
                                  <a:latin typeface="Cambria Math" panose="02040503050406030204" pitchFamily="18" charset="0"/>
                                  <a:ea typeface="Cambria Math" panose="02040503050406030204" pitchFamily="18" charset="0"/>
                                </a:rPr>
                                <m:t>∇</m:t>
                              </m:r>
                            </m:e>
                          </m:d>
                          <m:r>
                            <a:rPr lang="en-US" sz="2000" i="1">
                              <a:solidFill>
                                <a:schemeClr val="tx1"/>
                              </a:solidFill>
                              <a:latin typeface="Cambria Math" panose="02040503050406030204" pitchFamily="18" charset="0"/>
                              <a:ea typeface="Cambria Math" panose="02040503050406030204" pitchFamily="18" charset="0"/>
                            </a:rPr>
                            <m:t>𝑈</m:t>
                          </m:r>
                        </m:e>
                      </m:d>
                      <m:r>
                        <a:rPr lang="en-US" sz="2000" i="1">
                          <a:solidFill>
                            <a:schemeClr val="tx1"/>
                          </a:solidFill>
                          <a:latin typeface="Cambria Math" panose="02040503050406030204" pitchFamily="18" charset="0"/>
                          <a:ea typeface="Cambria Math" panose="02040503050406030204" pitchFamily="18" charset="0"/>
                        </a:rPr>
                        <m:t>=</m:t>
                      </m:r>
                      <m:r>
                        <m:rPr>
                          <m:sty m:val="p"/>
                        </m:rPr>
                        <a:rPr lang="en-US" sz="2000" i="1">
                          <a:solidFill>
                            <a:schemeClr val="tx1"/>
                          </a:solidFill>
                          <a:latin typeface="Cambria Math" panose="02040503050406030204" pitchFamily="18" charset="0"/>
                          <a:ea typeface="Cambria Math" panose="02040503050406030204" pitchFamily="18" charset="0"/>
                        </a:rPr>
                        <m:t>∇</m:t>
                      </m:r>
                      <m:r>
                        <a:rPr lang="en-US" sz="2000" i="1">
                          <a:solidFill>
                            <a:schemeClr val="tx1"/>
                          </a:solidFill>
                          <a:latin typeface="Cambria Math" panose="02040503050406030204" pitchFamily="18" charset="0"/>
                          <a:ea typeface="Cambria Math" panose="02040503050406030204" pitchFamily="18" charset="0"/>
                        </a:rPr>
                        <m:t>⋅</m:t>
                      </m:r>
                      <m:r>
                        <a:rPr lang="en-US" sz="2000" i="1">
                          <a:solidFill>
                            <a:schemeClr val="tx1"/>
                          </a:solidFill>
                          <a:latin typeface="Cambria Math" panose="02040503050406030204" pitchFamily="18" charset="0"/>
                          <a:ea typeface="Cambria Math" panose="02040503050406030204" pitchFamily="18" charset="0"/>
                        </a:rPr>
                        <m:t>𝜎</m:t>
                      </m:r>
                      <m:r>
                        <a:rPr lang="en-US" sz="2000" i="1">
                          <a:solidFill>
                            <a:schemeClr val="tx1"/>
                          </a:solidFill>
                          <a:latin typeface="Cambria Math" panose="02040503050406030204" pitchFamily="18" charset="0"/>
                          <a:ea typeface="Cambria Math" panose="02040503050406030204" pitchFamily="18" charset="0"/>
                        </a:rPr>
                        <m:t>+</m:t>
                      </m:r>
                      <m:r>
                        <a:rPr lang="en-US" sz="2000" i="1">
                          <a:solidFill>
                            <a:schemeClr val="tx1"/>
                          </a:solidFill>
                          <a:latin typeface="Cambria Math" panose="02040503050406030204" pitchFamily="18" charset="0"/>
                          <a:ea typeface="Cambria Math" panose="02040503050406030204" pitchFamily="18" charset="0"/>
                        </a:rPr>
                        <m:t>𝑓</m:t>
                      </m:r>
                    </m:oMath>
                  </m:oMathPara>
                </a14:m>
                <a:endParaRPr lang="en-US" sz="2000" i="1" dirty="0">
                  <a:solidFill>
                    <a:schemeClr val="tx1"/>
                  </a:solidFill>
                  <a:ea typeface="Cambria Math" panose="02040503050406030204" pitchFamily="18" charset="0"/>
                </a:endParaRPr>
              </a:p>
              <a:p>
                <a:pPr/>
                <a14:m>
                  <m:oMathPara xmlns:m="http://schemas.openxmlformats.org/officeDocument/2006/math">
                    <m:oMathParaPr>
                      <m:jc m:val="left"/>
                    </m:oMathParaPr>
                    <m:oMath xmlns:m="http://schemas.openxmlformats.org/officeDocument/2006/math">
                      <m:r>
                        <m:rPr>
                          <m:sty m:val="p"/>
                        </m:rPr>
                        <a:rPr lang="en-US" sz="2000" i="1">
                          <a:solidFill>
                            <a:schemeClr val="tx1"/>
                          </a:solidFill>
                          <a:latin typeface="Cambria Math" panose="02040503050406030204" pitchFamily="18" charset="0"/>
                          <a:ea typeface="Cambria Math" panose="02040503050406030204" pitchFamily="18" charset="0"/>
                        </a:rPr>
                        <m:t>∇</m:t>
                      </m:r>
                      <m:r>
                        <a:rPr lang="en-US" sz="2000" i="1">
                          <a:solidFill>
                            <a:schemeClr val="tx1"/>
                          </a:solidFill>
                          <a:latin typeface="Cambria Math" panose="02040503050406030204" pitchFamily="18" charset="0"/>
                          <a:ea typeface="Cambria Math" panose="02040503050406030204" pitchFamily="18" charset="0"/>
                        </a:rPr>
                        <m:t>⋅</m:t>
                      </m:r>
                      <m:r>
                        <a:rPr lang="en-US" sz="2000" i="1">
                          <a:solidFill>
                            <a:schemeClr val="tx1"/>
                          </a:solidFill>
                          <a:latin typeface="Cambria Math" panose="02040503050406030204" pitchFamily="18" charset="0"/>
                          <a:ea typeface="Cambria Math" panose="02040503050406030204" pitchFamily="18" charset="0"/>
                        </a:rPr>
                        <m:t>𝑈</m:t>
                      </m:r>
                      <m:r>
                        <a:rPr lang="en-US" sz="2000" i="1">
                          <a:solidFill>
                            <a:schemeClr val="tx1"/>
                          </a:solidFill>
                          <a:latin typeface="Cambria Math" panose="02040503050406030204" pitchFamily="18" charset="0"/>
                          <a:ea typeface="Cambria Math" panose="02040503050406030204" pitchFamily="18" charset="0"/>
                        </a:rPr>
                        <m:t>=0</m:t>
                      </m:r>
                    </m:oMath>
                  </m:oMathPara>
                </a14:m>
                <a:endParaRPr lang="en-US" sz="2000" dirty="0">
                  <a:ea typeface="Cambria Math" panose="02040503050406030204" pitchFamily="18" charset="0"/>
                </a:endParaRPr>
              </a:p>
              <a:p>
                <a:endParaRPr lang="en-US" sz="1600" dirty="0">
                  <a:latin typeface="Cambria Math" panose="02040503050406030204" pitchFamily="18" charset="0"/>
                  <a:ea typeface="Cambria Math" panose="02040503050406030204" pitchFamily="18" charset="0"/>
                </a:endParaRPr>
              </a:p>
            </p:txBody>
          </p:sp>
        </mc:Choice>
        <mc:Fallback xmlns="">
          <p:sp>
            <p:nvSpPr>
              <p:cNvPr id="2" name="Rectangle 1">
                <a:extLst>
                  <a:ext uri="{FF2B5EF4-FFF2-40B4-BE49-F238E27FC236}">
                    <a16:creationId xmlns:a16="http://schemas.microsoft.com/office/drawing/2014/main" id="{74DFEF03-11E9-C24E-A750-54C57B15515A}"/>
                  </a:ext>
                </a:extLst>
              </p:cNvPr>
              <p:cNvSpPr>
                <a:spLocks noRot="1" noChangeAspect="1" noMove="1" noResize="1" noEditPoints="1" noAdjustHandles="1" noChangeArrowheads="1" noChangeShapeType="1" noTextEdit="1"/>
              </p:cNvSpPr>
              <p:nvPr/>
            </p:nvSpPr>
            <p:spPr>
              <a:xfrm>
                <a:off x="412530" y="702377"/>
                <a:ext cx="4327636" cy="1576585"/>
              </a:xfrm>
              <a:prstGeom prst="rect">
                <a:avLst/>
              </a:prstGeom>
              <a:blipFill>
                <a:blip r:embed="rId3"/>
                <a:stretch>
                  <a:fillRect l="-1170" t="-1600"/>
                </a:stretch>
              </a:blipFill>
            </p:spPr>
            <p:txBody>
              <a:bodyPr/>
              <a:lstStyle/>
              <a:p>
                <a:r>
                  <a:rPr lang="en-US">
                    <a:noFill/>
                  </a:rPr>
                  <a:t> </a:t>
                </a:r>
              </a:p>
            </p:txBody>
          </p:sp>
        </mc:Fallback>
      </mc:AlternateContent>
      <p:sp>
        <p:nvSpPr>
          <p:cNvPr id="10" name="Footer Placeholder 6">
            <a:extLst>
              <a:ext uri="{FF2B5EF4-FFF2-40B4-BE49-F238E27FC236}">
                <a16:creationId xmlns:a16="http://schemas.microsoft.com/office/drawing/2014/main" id="{A70489C8-E060-7149-B6D3-1FD304A0777F}"/>
              </a:ext>
            </a:extLst>
          </p:cNvPr>
          <p:cNvSpPr>
            <a:spLocks noGrp="1"/>
          </p:cNvSpPr>
          <p:nvPr>
            <p:ph type="ftr" sz="quarter" idx="11"/>
          </p:nvPr>
        </p:nvSpPr>
        <p:spPr>
          <a:xfrm>
            <a:off x="4038600" y="6356350"/>
            <a:ext cx="4114800" cy="365125"/>
          </a:xfrm>
        </p:spPr>
        <p:txBody>
          <a:bodyPr/>
          <a:lstStyle/>
          <a:p>
            <a:r>
              <a:rPr lang="en-US" dirty="0"/>
              <a:t>2019 Deep Learning Final Presentation</a:t>
            </a:r>
          </a:p>
        </p:txBody>
      </p:sp>
      <p:pic>
        <p:nvPicPr>
          <p:cNvPr id="12" name="Picture 11" descr="A picture containing monitor, television, dark, photo&#10;&#10;Description automatically generated">
            <a:extLst>
              <a:ext uri="{FF2B5EF4-FFF2-40B4-BE49-F238E27FC236}">
                <a16:creationId xmlns:a16="http://schemas.microsoft.com/office/drawing/2014/main" id="{AECAB48F-191C-4145-81B6-E77DFCC6126E}"/>
              </a:ext>
            </a:extLst>
          </p:cNvPr>
          <p:cNvPicPr>
            <a:picLocks noChangeAspect="1"/>
          </p:cNvPicPr>
          <p:nvPr/>
        </p:nvPicPr>
        <p:blipFill>
          <a:blip r:embed="rId4"/>
          <a:stretch>
            <a:fillRect/>
          </a:stretch>
        </p:blipFill>
        <p:spPr>
          <a:xfrm>
            <a:off x="441045" y="2008879"/>
            <a:ext cx="3597555" cy="2023625"/>
          </a:xfrm>
          <a:prstGeom prst="rect">
            <a:avLst/>
          </a:prstGeom>
        </p:spPr>
      </p:pic>
      <p:pic>
        <p:nvPicPr>
          <p:cNvPr id="14" name="Picture 13" descr="A picture containing furniture, rug&#10;&#10;Description automatically generated">
            <a:extLst>
              <a:ext uri="{FF2B5EF4-FFF2-40B4-BE49-F238E27FC236}">
                <a16:creationId xmlns:a16="http://schemas.microsoft.com/office/drawing/2014/main" id="{D8F13B86-FB50-E945-AC45-3153017E9C35}"/>
              </a:ext>
            </a:extLst>
          </p:cNvPr>
          <p:cNvPicPr>
            <a:picLocks noChangeAspect="1"/>
          </p:cNvPicPr>
          <p:nvPr/>
        </p:nvPicPr>
        <p:blipFill>
          <a:blip r:embed="rId5"/>
          <a:stretch>
            <a:fillRect/>
          </a:stretch>
        </p:blipFill>
        <p:spPr>
          <a:xfrm>
            <a:off x="4379201" y="1729865"/>
            <a:ext cx="3433598" cy="2581652"/>
          </a:xfrm>
          <a:prstGeom prst="rect">
            <a:avLst/>
          </a:prstGeom>
        </p:spPr>
      </p:pic>
      <p:pic>
        <p:nvPicPr>
          <p:cNvPr id="16" name="Picture 15" descr="A picture containing kite&#10;&#10;Description automatically generated">
            <a:extLst>
              <a:ext uri="{FF2B5EF4-FFF2-40B4-BE49-F238E27FC236}">
                <a16:creationId xmlns:a16="http://schemas.microsoft.com/office/drawing/2014/main" id="{2751A3D8-2F8B-B847-A14F-08F3999B35C5}"/>
              </a:ext>
            </a:extLst>
          </p:cNvPr>
          <p:cNvPicPr>
            <a:picLocks noChangeAspect="1"/>
          </p:cNvPicPr>
          <p:nvPr/>
        </p:nvPicPr>
        <p:blipFill>
          <a:blip r:embed="rId6"/>
          <a:stretch>
            <a:fillRect/>
          </a:stretch>
        </p:blipFill>
        <p:spPr>
          <a:xfrm>
            <a:off x="8280393" y="1979186"/>
            <a:ext cx="3637791" cy="2162694"/>
          </a:xfrm>
          <a:prstGeom prst="rect">
            <a:avLst/>
          </a:prstGeom>
        </p:spPr>
      </p:pic>
      <mc:AlternateContent xmlns:mc="http://schemas.openxmlformats.org/markup-compatibility/2006" xmlns:a14="http://schemas.microsoft.com/office/drawing/2010/main">
        <mc:Choice Requires="a14">
          <p:sp>
            <p:nvSpPr>
              <p:cNvPr id="17" name="Rectangle 16">
                <a:extLst>
                  <a:ext uri="{FF2B5EF4-FFF2-40B4-BE49-F238E27FC236}">
                    <a16:creationId xmlns:a16="http://schemas.microsoft.com/office/drawing/2014/main" id="{38F6A666-F631-CD42-BDB4-D77E33A3D861}"/>
                  </a:ext>
                </a:extLst>
              </p:cNvPr>
              <p:cNvSpPr/>
              <p:nvPr/>
            </p:nvSpPr>
            <p:spPr>
              <a:xfrm>
                <a:off x="4430399" y="744467"/>
                <a:ext cx="3748800" cy="985398"/>
              </a:xfrm>
              <a:prstGeom prst="rect">
                <a:avLst/>
              </a:prstGeom>
            </p:spPr>
            <p:txBody>
              <a:bodyPr wrap="square">
                <a:spAutoFit/>
              </a:bodyPr>
              <a:lstStyle/>
              <a:p>
                <a:r>
                  <a:rPr lang="en-US" sz="2000" dirty="0">
                    <a:ea typeface="Cambria Math" panose="02040503050406030204" pitchFamily="18" charset="0"/>
                  </a:rPr>
                  <a:t>Allen-Cahn Equation:</a:t>
                </a:r>
              </a:p>
              <a:p>
                <a:pPr/>
                <a14:m>
                  <m:oMathPara xmlns:m="http://schemas.openxmlformats.org/officeDocument/2006/math">
                    <m:oMathParaPr>
                      <m:jc m:val="left"/>
                    </m:oMathParaPr>
                    <m:oMath xmlns:m="http://schemas.openxmlformats.org/officeDocument/2006/math">
                      <m:f>
                        <m:fPr>
                          <m:ctrlPr>
                            <a:rPr lang="en-US" sz="2000" i="1">
                              <a:latin typeface="Cambria Math" panose="02040503050406030204" pitchFamily="18" charset="0"/>
                              <a:ea typeface="Cambria Math" panose="02040503050406030204" pitchFamily="18" charset="0"/>
                            </a:rPr>
                          </m:ctrlPr>
                        </m:fPr>
                        <m:num>
                          <m:r>
                            <a:rPr lang="en-US" sz="2000" i="1">
                              <a:latin typeface="Cambria Math" panose="02040503050406030204" pitchFamily="18" charset="0"/>
                              <a:ea typeface="Cambria Math" panose="02040503050406030204" pitchFamily="18" charset="0"/>
                            </a:rPr>
                            <m:t>𝜕𝜙</m:t>
                          </m:r>
                        </m:num>
                        <m:den>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𝑡</m:t>
                          </m:r>
                        </m:den>
                      </m:f>
                      <m:r>
                        <a:rPr lang="en-US" sz="2000" i="1">
                          <a:latin typeface="Cambria Math" panose="02040503050406030204" pitchFamily="18" charset="0"/>
                          <a:ea typeface="Cambria Math" panose="02040503050406030204" pitchFamily="18" charset="0"/>
                        </a:rPr>
                        <m:t>=−(</m:t>
                      </m:r>
                      <m:r>
                        <m:rPr>
                          <m:sty m:val="p"/>
                        </m:rPr>
                        <a:rPr lang="el-GR" sz="2000" i="1">
                          <a:latin typeface="Cambria Math" panose="02040503050406030204" pitchFamily="18" charset="0"/>
                          <a:ea typeface="Cambria Math" panose="02040503050406030204" pitchFamily="18" charset="0"/>
                        </a:rPr>
                        <m:t>Δ</m:t>
                      </m:r>
                      <m:r>
                        <a:rPr lang="el-GR" sz="2000" i="1">
                          <a:latin typeface="Cambria Math" panose="02040503050406030204" pitchFamily="18" charset="0"/>
                          <a:ea typeface="Cambria Math" panose="02040503050406030204" pitchFamily="18" charset="0"/>
                        </a:rPr>
                        <m:t>𝜙</m:t>
                      </m:r>
                      <m:r>
                        <a:rPr lang="en-US" sz="2000" i="1">
                          <a:latin typeface="Cambria Math" panose="02040503050406030204" pitchFamily="18" charset="0"/>
                          <a:ea typeface="Cambria Math" panose="02040503050406030204" pitchFamily="18" charset="0"/>
                        </a:rPr>
                        <m:t>−</m:t>
                      </m:r>
                      <m:sSup>
                        <m:sSupPr>
                          <m:ctrlPr>
                            <a:rPr lang="en-US" sz="2000" i="1">
                              <a:latin typeface="Cambria Math" panose="02040503050406030204" pitchFamily="18" charset="0"/>
                              <a:ea typeface="Cambria Math" panose="02040503050406030204" pitchFamily="18" charset="0"/>
                            </a:rPr>
                          </m:ctrlPr>
                        </m:sSupPr>
                        <m:e>
                          <m:f>
                            <m:fPr>
                              <m:ctrlPr>
                                <a:rPr lang="en-US" sz="2000" i="1">
                                  <a:latin typeface="Cambria Math" panose="02040503050406030204" pitchFamily="18" charset="0"/>
                                  <a:ea typeface="Cambria Math" panose="02040503050406030204" pitchFamily="18" charset="0"/>
                                </a:rPr>
                              </m:ctrlPr>
                            </m:fPr>
                            <m:num>
                              <m:r>
                                <a:rPr lang="en-US" sz="2000" i="1">
                                  <a:latin typeface="Cambria Math" panose="02040503050406030204" pitchFamily="18" charset="0"/>
                                  <a:ea typeface="Cambria Math" panose="02040503050406030204" pitchFamily="18" charset="0"/>
                                </a:rPr>
                                <m:t>1</m:t>
                              </m:r>
                            </m:num>
                            <m:den>
                              <m:sSup>
                                <m:sSupPr>
                                  <m:ctrlPr>
                                    <a:rPr lang="en-US" sz="2000" i="1">
                                      <a:latin typeface="Cambria Math" panose="02040503050406030204" pitchFamily="18" charset="0"/>
                                      <a:ea typeface="Cambria Math" panose="02040503050406030204" pitchFamily="18" charset="0"/>
                                    </a:rPr>
                                  </m:ctrlPr>
                                </m:sSupPr>
                                <m:e>
                                  <m:r>
                                    <a:rPr lang="en-US" sz="2000" i="1">
                                      <a:latin typeface="Cambria Math" panose="02040503050406030204" pitchFamily="18" charset="0"/>
                                      <a:ea typeface="Cambria Math" panose="02040503050406030204" pitchFamily="18" charset="0"/>
                                    </a:rPr>
                                    <m:t>𝜖</m:t>
                                  </m:r>
                                </m:e>
                                <m:sup>
                                  <m:r>
                                    <a:rPr lang="en-US" sz="2000" i="1">
                                      <a:latin typeface="Cambria Math" panose="02040503050406030204" pitchFamily="18" charset="0"/>
                                      <a:ea typeface="Cambria Math" panose="02040503050406030204" pitchFamily="18" charset="0"/>
                                    </a:rPr>
                                    <m:t>2</m:t>
                                  </m:r>
                                </m:sup>
                              </m:sSup>
                            </m:den>
                          </m:f>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𝑢</m:t>
                          </m:r>
                        </m:e>
                        <m:sup>
                          <m:r>
                            <a:rPr lang="en-US" sz="2000" i="1">
                              <a:latin typeface="Cambria Math" panose="02040503050406030204" pitchFamily="18" charset="0"/>
                              <a:ea typeface="Cambria Math" panose="02040503050406030204" pitchFamily="18" charset="0"/>
                            </a:rPr>
                            <m:t>3</m:t>
                          </m:r>
                        </m:sup>
                      </m:sSup>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𝑢</m:t>
                      </m:r>
                      <m:r>
                        <a:rPr lang="en-US" sz="2000" i="1">
                          <a:latin typeface="Cambria Math" panose="02040503050406030204" pitchFamily="18" charset="0"/>
                          <a:ea typeface="Cambria Math" panose="02040503050406030204" pitchFamily="18" charset="0"/>
                        </a:rPr>
                        <m:t>))</m:t>
                      </m:r>
                    </m:oMath>
                  </m:oMathPara>
                </a14:m>
                <a:endParaRPr lang="en-US" sz="2000" dirty="0">
                  <a:ea typeface="Cambria Math" panose="02040503050406030204" pitchFamily="18" charset="0"/>
                </a:endParaRPr>
              </a:p>
            </p:txBody>
          </p:sp>
        </mc:Choice>
        <mc:Fallback xmlns="">
          <p:sp>
            <p:nvSpPr>
              <p:cNvPr id="17" name="Rectangle 16">
                <a:extLst>
                  <a:ext uri="{FF2B5EF4-FFF2-40B4-BE49-F238E27FC236}">
                    <a16:creationId xmlns:a16="http://schemas.microsoft.com/office/drawing/2014/main" id="{38F6A666-F631-CD42-BDB4-D77E33A3D861}"/>
                  </a:ext>
                </a:extLst>
              </p:cNvPr>
              <p:cNvSpPr>
                <a:spLocks noRot="1" noChangeAspect="1" noMove="1" noResize="1" noEditPoints="1" noAdjustHandles="1" noChangeArrowheads="1" noChangeShapeType="1" noTextEdit="1"/>
              </p:cNvSpPr>
              <p:nvPr/>
            </p:nvSpPr>
            <p:spPr>
              <a:xfrm>
                <a:off x="4430399" y="744467"/>
                <a:ext cx="3748800" cy="985398"/>
              </a:xfrm>
              <a:prstGeom prst="rect">
                <a:avLst/>
              </a:prstGeom>
              <a:blipFill>
                <a:blip r:embed="rId7"/>
                <a:stretch>
                  <a:fillRect l="-1689" t="-2564" b="-256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Rectangle 17">
                <a:extLst>
                  <a:ext uri="{FF2B5EF4-FFF2-40B4-BE49-F238E27FC236}">
                    <a16:creationId xmlns:a16="http://schemas.microsoft.com/office/drawing/2014/main" id="{7E463171-42C6-FF4C-9622-92207843927C}"/>
                  </a:ext>
                </a:extLst>
              </p:cNvPr>
              <p:cNvSpPr/>
              <p:nvPr/>
            </p:nvSpPr>
            <p:spPr>
              <a:xfrm>
                <a:off x="8280393" y="769735"/>
                <a:ext cx="3783849" cy="707886"/>
              </a:xfrm>
              <a:prstGeom prst="rect">
                <a:avLst/>
              </a:prstGeom>
            </p:spPr>
            <p:txBody>
              <a:bodyPr wrap="square">
                <a:spAutoFit/>
              </a:bodyPr>
              <a:lstStyle/>
              <a:p>
                <a:r>
                  <a:rPr lang="en-US" sz="2000" dirty="0">
                    <a:ea typeface="Cambria Math" panose="02040503050406030204" pitchFamily="18" charset="0"/>
                  </a:rPr>
                  <a:t>Lame-</a:t>
                </a:r>
                <a:r>
                  <a:rPr lang="en-US" sz="2000" dirty="0" err="1">
                    <a:ea typeface="Cambria Math" panose="02040503050406030204" pitchFamily="18" charset="0"/>
                  </a:rPr>
                  <a:t>Navier</a:t>
                </a:r>
                <a:r>
                  <a:rPr lang="en-US" sz="2000" dirty="0">
                    <a:ea typeface="Cambria Math" panose="02040503050406030204" pitchFamily="18" charset="0"/>
                  </a:rPr>
                  <a:t> Equations:</a:t>
                </a:r>
              </a:p>
              <a:p>
                <a:pPr/>
                <a14:m>
                  <m:oMathPara xmlns:m="http://schemas.openxmlformats.org/officeDocument/2006/math">
                    <m:oMathParaPr>
                      <m:jc m:val="left"/>
                    </m:oMathParaPr>
                    <m:oMath xmlns:m="http://schemas.openxmlformats.org/officeDocument/2006/math">
                      <m:r>
                        <a:rPr lang="en-US" sz="2000" i="1">
                          <a:latin typeface="Cambria Math" panose="02040503050406030204" pitchFamily="18" charset="0"/>
                          <a:ea typeface="Cambria Math" panose="02040503050406030204" pitchFamily="18" charset="0"/>
                        </a:rPr>
                        <m:t>𝐺</m:t>
                      </m:r>
                      <m:sSup>
                        <m:sSupPr>
                          <m:ctrlPr>
                            <a:rPr lang="en-US" sz="2000" i="1">
                              <a:latin typeface="Cambria Math" panose="02040503050406030204" pitchFamily="18" charset="0"/>
                              <a:ea typeface="Cambria Math" panose="02040503050406030204" pitchFamily="18" charset="0"/>
                            </a:rPr>
                          </m:ctrlPr>
                        </m:sSupPr>
                        <m:e>
                          <m:r>
                            <m:rPr>
                              <m:sty m:val="p"/>
                            </m:rPr>
                            <a:rPr lang="en-US" sz="2000" i="1">
                              <a:latin typeface="Cambria Math" panose="02040503050406030204" pitchFamily="18" charset="0"/>
                              <a:ea typeface="Cambria Math" panose="02040503050406030204" pitchFamily="18" charset="0"/>
                            </a:rPr>
                            <m:t>∇</m:t>
                          </m:r>
                        </m:e>
                        <m:sup>
                          <m:r>
                            <a:rPr lang="en-US" sz="2000" i="1">
                              <a:latin typeface="Cambria Math" panose="02040503050406030204" pitchFamily="18" charset="0"/>
                              <a:ea typeface="Cambria Math" panose="02040503050406030204" pitchFamily="18" charset="0"/>
                            </a:rPr>
                            <m:t>2</m:t>
                          </m:r>
                        </m:sup>
                      </m:sSup>
                      <m:r>
                        <a:rPr lang="en-US" sz="2000" i="1">
                          <a:latin typeface="Cambria Math" panose="02040503050406030204" pitchFamily="18" charset="0"/>
                          <a:ea typeface="Cambria Math" panose="02040503050406030204" pitchFamily="18" charset="0"/>
                        </a:rPr>
                        <m:t>𝑢</m:t>
                      </m:r>
                      <m:r>
                        <a:rPr lang="en-US" sz="2000" i="1">
                          <a:latin typeface="Cambria Math" panose="02040503050406030204" pitchFamily="18" charset="0"/>
                          <a:ea typeface="Cambria Math" panose="02040503050406030204" pitchFamily="18" charset="0"/>
                        </a:rPr>
                        <m:t>+</m:t>
                      </m:r>
                      <m:d>
                        <m:dPr>
                          <m:ctrlPr>
                            <a:rPr lang="en-US" sz="2000" i="1">
                              <a:latin typeface="Cambria Math" panose="02040503050406030204" pitchFamily="18" charset="0"/>
                              <a:ea typeface="Cambria Math" panose="02040503050406030204" pitchFamily="18" charset="0"/>
                            </a:rPr>
                          </m:ctrlPr>
                        </m:dPr>
                        <m:e>
                          <m:r>
                            <a:rPr lang="en-US" sz="2000" i="1">
                              <a:latin typeface="Cambria Math" panose="02040503050406030204" pitchFamily="18" charset="0"/>
                              <a:ea typeface="Cambria Math" panose="02040503050406030204" pitchFamily="18" charset="0"/>
                            </a:rPr>
                            <m:t>𝜆</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𝐺</m:t>
                          </m:r>
                        </m:e>
                      </m:d>
                      <m:r>
                        <m:rPr>
                          <m:sty m:val="p"/>
                        </m:rP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𝜃</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𝑓</m:t>
                      </m:r>
                      <m:r>
                        <a:rPr lang="en-US" sz="2000" i="1">
                          <a:latin typeface="Cambria Math" panose="02040503050406030204" pitchFamily="18" charset="0"/>
                          <a:ea typeface="Cambria Math" panose="02040503050406030204" pitchFamily="18" charset="0"/>
                        </a:rPr>
                        <m:t>=0</m:t>
                      </m:r>
                    </m:oMath>
                  </m:oMathPara>
                </a14:m>
                <a:endParaRPr lang="en-US" sz="2000" dirty="0">
                  <a:ea typeface="Cambria Math" panose="02040503050406030204" pitchFamily="18" charset="0"/>
                </a:endParaRPr>
              </a:p>
            </p:txBody>
          </p:sp>
        </mc:Choice>
        <mc:Fallback xmlns="">
          <p:sp>
            <p:nvSpPr>
              <p:cNvPr id="18" name="Rectangle 17">
                <a:extLst>
                  <a:ext uri="{FF2B5EF4-FFF2-40B4-BE49-F238E27FC236}">
                    <a16:creationId xmlns:a16="http://schemas.microsoft.com/office/drawing/2014/main" id="{7E463171-42C6-FF4C-9622-92207843927C}"/>
                  </a:ext>
                </a:extLst>
              </p:cNvPr>
              <p:cNvSpPr>
                <a:spLocks noRot="1" noChangeAspect="1" noMove="1" noResize="1" noEditPoints="1" noAdjustHandles="1" noChangeArrowheads="1" noChangeShapeType="1" noTextEdit="1"/>
              </p:cNvSpPr>
              <p:nvPr/>
            </p:nvSpPr>
            <p:spPr>
              <a:xfrm>
                <a:off x="8280393" y="769735"/>
                <a:ext cx="3783849" cy="707886"/>
              </a:xfrm>
              <a:prstGeom prst="rect">
                <a:avLst/>
              </a:prstGeom>
              <a:blipFill>
                <a:blip r:embed="rId8"/>
                <a:stretch>
                  <a:fillRect l="-1338" t="-3571" b="-7143"/>
                </a:stretch>
              </a:blipFill>
            </p:spPr>
            <p:txBody>
              <a:bodyPr/>
              <a:lstStyle/>
              <a:p>
                <a:r>
                  <a:rPr lang="en-US">
                    <a:noFill/>
                  </a:rPr>
                  <a:t> </a:t>
                </a:r>
              </a:p>
            </p:txBody>
          </p:sp>
        </mc:Fallback>
      </mc:AlternateContent>
      <p:sp>
        <p:nvSpPr>
          <p:cNvPr id="3" name="Rectangle 2">
            <a:extLst>
              <a:ext uri="{FF2B5EF4-FFF2-40B4-BE49-F238E27FC236}">
                <a16:creationId xmlns:a16="http://schemas.microsoft.com/office/drawing/2014/main" id="{D62C2AA4-E47E-BB49-A2B3-43F4531597C9}"/>
              </a:ext>
            </a:extLst>
          </p:cNvPr>
          <p:cNvSpPr/>
          <p:nvPr/>
        </p:nvSpPr>
        <p:spPr>
          <a:xfrm>
            <a:off x="420413" y="4125731"/>
            <a:ext cx="10933387" cy="1938992"/>
          </a:xfrm>
          <a:prstGeom prst="rect">
            <a:avLst/>
          </a:prstGeom>
        </p:spPr>
        <p:txBody>
          <a:bodyPr wrap="square">
            <a:spAutoFit/>
          </a:bodyPr>
          <a:lstStyle/>
          <a:p>
            <a:pPr lvl="1"/>
            <a:r>
              <a:rPr lang="en-US" altLang="zh-CN" sz="2000" dirty="0"/>
              <a:t>Partial Differential Equations (PDEs) dictates behaviors of physical systems. Traditional Solvers (Finite Difference method, Finite Element Method) can be used to solve these Equations.</a:t>
            </a:r>
          </a:p>
          <a:p>
            <a:pPr lvl="1"/>
            <a:endParaRPr lang="en-US" altLang="zh-CN" sz="2000" dirty="0"/>
          </a:p>
          <a:p>
            <a:pPr lvl="1"/>
            <a:r>
              <a:rPr lang="en-US" altLang="zh-CN" sz="2000" dirty="0"/>
              <a:t>Significance: Break the curse of dimensionality; meshless method</a:t>
            </a:r>
          </a:p>
          <a:p>
            <a:pPr lvl="1"/>
            <a:endParaRPr lang="en-US" altLang="zh-CN" sz="2000" dirty="0"/>
          </a:p>
          <a:p>
            <a:pPr lvl="1"/>
            <a:r>
              <a:rPr lang="en-US" altLang="zh-CN" sz="2000" dirty="0"/>
              <a:t>Goal: Use </a:t>
            </a:r>
            <a:r>
              <a:rPr lang="en-US" altLang="zh-CN" sz="2000" dirty="0">
                <a:solidFill>
                  <a:srgbClr val="FF0000"/>
                </a:solidFill>
              </a:rPr>
              <a:t>Deep Learning </a:t>
            </a:r>
            <a:r>
              <a:rPr lang="en-US" altLang="zh-CN" sz="2000" dirty="0"/>
              <a:t>to solve</a:t>
            </a:r>
            <a:r>
              <a:rPr lang="en-US" altLang="zh-CN" sz="2000" dirty="0">
                <a:solidFill>
                  <a:srgbClr val="FF0000"/>
                </a:solidFill>
              </a:rPr>
              <a:t> PDEs(forward and inverse problem)</a:t>
            </a:r>
            <a:endParaRPr lang="en-US" altLang="zh-CN" sz="2000" dirty="0"/>
          </a:p>
        </p:txBody>
      </p:sp>
    </p:spTree>
    <p:extLst>
      <p:ext uri="{BB962C8B-B14F-4D97-AF65-F5344CB8AC3E}">
        <p14:creationId xmlns:p14="http://schemas.microsoft.com/office/powerpoint/2010/main" val="24512232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7BB2207-E319-4C68-89F5-BABE56735956}"/>
              </a:ext>
            </a:extLst>
          </p:cNvPr>
          <p:cNvSpPr/>
          <p:nvPr/>
        </p:nvSpPr>
        <p:spPr>
          <a:xfrm>
            <a:off x="0" y="0"/>
            <a:ext cx="12192000" cy="5762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t>Methodology</a:t>
            </a:r>
          </a:p>
        </p:txBody>
      </p:sp>
      <p:sp>
        <p:nvSpPr>
          <p:cNvPr id="4" name="Date Placeholder 3">
            <a:extLst>
              <a:ext uri="{FF2B5EF4-FFF2-40B4-BE49-F238E27FC236}">
                <a16:creationId xmlns:a16="http://schemas.microsoft.com/office/drawing/2014/main" id="{C56C5B1D-BAE5-444D-BE0A-8DFE8943F71A}"/>
              </a:ext>
            </a:extLst>
          </p:cNvPr>
          <p:cNvSpPr>
            <a:spLocks noGrp="1"/>
          </p:cNvSpPr>
          <p:nvPr>
            <p:ph type="dt" sz="half" idx="10"/>
          </p:nvPr>
        </p:nvSpPr>
        <p:spPr/>
        <p:txBody>
          <a:bodyPr/>
          <a:lstStyle/>
          <a:p>
            <a:fld id="{DF1A2BDE-45B9-4338-A5B4-A4B361F8291C}" type="datetime1">
              <a:rPr lang="en-US" smtClean="0"/>
              <a:t>12/12/19</a:t>
            </a:fld>
            <a:endParaRPr lang="en-US" dirty="0"/>
          </a:p>
        </p:txBody>
      </p:sp>
      <p:sp>
        <p:nvSpPr>
          <p:cNvPr id="6" name="Slide Number Placeholder 5">
            <a:extLst>
              <a:ext uri="{FF2B5EF4-FFF2-40B4-BE49-F238E27FC236}">
                <a16:creationId xmlns:a16="http://schemas.microsoft.com/office/drawing/2014/main" id="{6018303F-834B-4DF5-9449-DE2539D3C3BF}"/>
              </a:ext>
            </a:extLst>
          </p:cNvPr>
          <p:cNvSpPr>
            <a:spLocks noGrp="1"/>
          </p:cNvSpPr>
          <p:nvPr>
            <p:ph type="sldNum" sz="quarter" idx="12"/>
          </p:nvPr>
        </p:nvSpPr>
        <p:spPr/>
        <p:txBody>
          <a:bodyPr/>
          <a:lstStyle/>
          <a:p>
            <a:fld id="{8EFFDE9E-9997-42E5-95F8-776DC6BFAD10}" type="slidenum">
              <a:rPr lang="en-US" smtClean="0"/>
              <a:t>3</a:t>
            </a:fld>
            <a:endParaRPr lang="en-US" dirty="0"/>
          </a:p>
        </p:txBody>
      </p:sp>
      <p:sp>
        <p:nvSpPr>
          <p:cNvPr id="10" name="Footer Placeholder 6">
            <a:extLst>
              <a:ext uri="{FF2B5EF4-FFF2-40B4-BE49-F238E27FC236}">
                <a16:creationId xmlns:a16="http://schemas.microsoft.com/office/drawing/2014/main" id="{A70489C8-E060-7149-B6D3-1FD304A0777F}"/>
              </a:ext>
            </a:extLst>
          </p:cNvPr>
          <p:cNvSpPr>
            <a:spLocks noGrp="1"/>
          </p:cNvSpPr>
          <p:nvPr>
            <p:ph type="ftr" sz="quarter" idx="11"/>
          </p:nvPr>
        </p:nvSpPr>
        <p:spPr>
          <a:xfrm>
            <a:off x="4038600" y="6356350"/>
            <a:ext cx="4114800" cy="365125"/>
          </a:xfrm>
        </p:spPr>
        <p:txBody>
          <a:bodyPr/>
          <a:lstStyle/>
          <a:p>
            <a:r>
              <a:rPr lang="en-US" dirty="0"/>
              <a:t>2019 Deep Learning Final Presentation</a:t>
            </a:r>
          </a:p>
        </p:txBody>
      </p:sp>
      <p:grpSp>
        <p:nvGrpSpPr>
          <p:cNvPr id="12" name="Group 11">
            <a:extLst>
              <a:ext uri="{FF2B5EF4-FFF2-40B4-BE49-F238E27FC236}">
                <a16:creationId xmlns:a16="http://schemas.microsoft.com/office/drawing/2014/main" id="{AB116DAE-339A-4448-87B4-019058D69CBC}"/>
              </a:ext>
            </a:extLst>
          </p:cNvPr>
          <p:cNvGrpSpPr/>
          <p:nvPr/>
        </p:nvGrpSpPr>
        <p:grpSpPr>
          <a:xfrm>
            <a:off x="4348752" y="525181"/>
            <a:ext cx="7598606" cy="4090663"/>
            <a:chOff x="4348752" y="525181"/>
            <a:chExt cx="7598606" cy="4090663"/>
          </a:xfrm>
        </p:grpSpPr>
        <mc:AlternateContent xmlns:mc="http://schemas.openxmlformats.org/markup-compatibility/2006" xmlns:a14="http://schemas.microsoft.com/office/drawing/2010/main">
          <mc:Choice Requires="a14">
            <p:sp>
              <p:nvSpPr>
                <p:cNvPr id="13" name="Oval 12">
                  <a:extLst>
                    <a:ext uri="{FF2B5EF4-FFF2-40B4-BE49-F238E27FC236}">
                      <a16:creationId xmlns:a16="http://schemas.microsoft.com/office/drawing/2014/main" id="{B924AE36-C477-5C4D-9B8B-7E981C4E890B}"/>
                    </a:ext>
                  </a:extLst>
                </p:cNvPr>
                <p:cNvSpPr/>
                <p:nvPr/>
              </p:nvSpPr>
              <p:spPr>
                <a:xfrm>
                  <a:off x="4348914" y="1700684"/>
                  <a:ext cx="365760" cy="36576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𝑥</m:t>
                        </m:r>
                      </m:oMath>
                    </m:oMathPara>
                  </a14:m>
                  <a:endParaRPr lang="en-US" dirty="0"/>
                </a:p>
              </p:txBody>
            </p:sp>
          </mc:Choice>
          <mc:Fallback xmlns="">
            <p:sp>
              <p:nvSpPr>
                <p:cNvPr id="13" name="Oval 12">
                  <a:extLst>
                    <a:ext uri="{FF2B5EF4-FFF2-40B4-BE49-F238E27FC236}">
                      <a16:creationId xmlns:a16="http://schemas.microsoft.com/office/drawing/2014/main" id="{B924AE36-C477-5C4D-9B8B-7E981C4E890B}"/>
                    </a:ext>
                  </a:extLst>
                </p:cNvPr>
                <p:cNvSpPr>
                  <a:spLocks noRot="1" noChangeAspect="1" noMove="1" noResize="1" noEditPoints="1" noAdjustHandles="1" noChangeArrowheads="1" noChangeShapeType="1" noTextEdit="1"/>
                </p:cNvSpPr>
                <p:nvPr/>
              </p:nvSpPr>
              <p:spPr>
                <a:xfrm>
                  <a:off x="4348914" y="1700684"/>
                  <a:ext cx="365760" cy="365760"/>
                </a:xfrm>
                <a:prstGeom prst="ellipse">
                  <a:avLst/>
                </a:prstGeom>
                <a:blipFill>
                  <a:blip r:embed="rId3"/>
                  <a:stretch>
                    <a:fillRect/>
                  </a:stretch>
                </a:blipFill>
              </p:spPr>
              <p:txBody>
                <a:bodyPr/>
                <a:lstStyle/>
                <a:p>
                  <a:r>
                    <a:rPr lang="en-US">
                      <a:noFill/>
                    </a:rPr>
                    <a:t> </a:t>
                  </a:r>
                </a:p>
              </p:txBody>
            </p:sp>
          </mc:Fallback>
        </mc:AlternateContent>
        <p:sp>
          <p:nvSpPr>
            <p:cNvPr id="15" name="Oval 14">
              <a:extLst>
                <a:ext uri="{FF2B5EF4-FFF2-40B4-BE49-F238E27FC236}">
                  <a16:creationId xmlns:a16="http://schemas.microsoft.com/office/drawing/2014/main" id="{B4D138A7-266F-CC42-8978-A995E75BEF26}"/>
                </a:ext>
              </a:extLst>
            </p:cNvPr>
            <p:cNvSpPr/>
            <p:nvPr/>
          </p:nvSpPr>
          <p:spPr>
            <a:xfrm>
              <a:off x="6423358" y="1385353"/>
              <a:ext cx="248575" cy="248575"/>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l-GR" dirty="0">
                  <a:effectLst/>
                </a:rPr>
                <a:t>σ</a:t>
              </a:r>
              <a:endParaRPr lang="en-US" dirty="0"/>
            </a:p>
          </p:txBody>
        </p:sp>
        <p:sp>
          <p:nvSpPr>
            <p:cNvPr id="19" name="Oval 18">
              <a:extLst>
                <a:ext uri="{FF2B5EF4-FFF2-40B4-BE49-F238E27FC236}">
                  <a16:creationId xmlns:a16="http://schemas.microsoft.com/office/drawing/2014/main" id="{95214BAB-88D1-024F-A0A9-04433DA6F67B}"/>
                </a:ext>
              </a:extLst>
            </p:cNvPr>
            <p:cNvSpPr/>
            <p:nvPr/>
          </p:nvSpPr>
          <p:spPr>
            <a:xfrm>
              <a:off x="6423358" y="1821839"/>
              <a:ext cx="248575" cy="248575"/>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l-GR" dirty="0">
                  <a:effectLst/>
                </a:rPr>
                <a:t>σ</a:t>
              </a:r>
              <a:endParaRPr lang="en-US" dirty="0"/>
            </a:p>
          </p:txBody>
        </p:sp>
        <p:sp>
          <p:nvSpPr>
            <p:cNvPr id="20" name="Oval 19">
              <a:extLst>
                <a:ext uri="{FF2B5EF4-FFF2-40B4-BE49-F238E27FC236}">
                  <a16:creationId xmlns:a16="http://schemas.microsoft.com/office/drawing/2014/main" id="{104B0E67-44B4-FB45-B415-05B565B0F6F5}"/>
                </a:ext>
              </a:extLst>
            </p:cNvPr>
            <p:cNvSpPr/>
            <p:nvPr/>
          </p:nvSpPr>
          <p:spPr>
            <a:xfrm>
              <a:off x="6423358" y="2258325"/>
              <a:ext cx="248575" cy="248575"/>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l-GR" dirty="0">
                  <a:effectLst/>
                </a:rPr>
                <a:t>σ</a:t>
              </a:r>
              <a:endParaRPr lang="en-US" dirty="0"/>
            </a:p>
          </p:txBody>
        </p:sp>
        <p:sp>
          <p:nvSpPr>
            <p:cNvPr id="21" name="Oval 20">
              <a:extLst>
                <a:ext uri="{FF2B5EF4-FFF2-40B4-BE49-F238E27FC236}">
                  <a16:creationId xmlns:a16="http://schemas.microsoft.com/office/drawing/2014/main" id="{4E21D031-24F0-9948-9615-FEA50FE1272A}"/>
                </a:ext>
              </a:extLst>
            </p:cNvPr>
            <p:cNvSpPr/>
            <p:nvPr/>
          </p:nvSpPr>
          <p:spPr>
            <a:xfrm>
              <a:off x="6423358" y="2694810"/>
              <a:ext cx="248575" cy="248575"/>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l-GR" dirty="0">
                  <a:effectLst/>
                </a:rPr>
                <a:t>σ</a:t>
              </a:r>
              <a:endParaRPr lang="en-US" dirty="0"/>
            </a:p>
          </p:txBody>
        </p:sp>
        <p:cxnSp>
          <p:nvCxnSpPr>
            <p:cNvPr id="22" name="Straight Arrow Connector 21">
              <a:extLst>
                <a:ext uri="{FF2B5EF4-FFF2-40B4-BE49-F238E27FC236}">
                  <a16:creationId xmlns:a16="http://schemas.microsoft.com/office/drawing/2014/main" id="{C50DBA5A-9CCB-1E4C-BF30-80D4717F98B1}"/>
                </a:ext>
              </a:extLst>
            </p:cNvPr>
            <p:cNvCxnSpPr>
              <a:cxnSpLocks/>
              <a:stCxn id="13" idx="6"/>
              <a:endCxn id="15" idx="2"/>
            </p:cNvCxnSpPr>
            <p:nvPr/>
          </p:nvCxnSpPr>
          <p:spPr>
            <a:xfrm flipV="1">
              <a:off x="4714674" y="1509641"/>
              <a:ext cx="1708684" cy="37392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 name="Straight Arrow Connector 22">
              <a:extLst>
                <a:ext uri="{FF2B5EF4-FFF2-40B4-BE49-F238E27FC236}">
                  <a16:creationId xmlns:a16="http://schemas.microsoft.com/office/drawing/2014/main" id="{4A9F1E99-9ECA-3F4D-A2EC-B3381EB72551}"/>
                </a:ext>
              </a:extLst>
            </p:cNvPr>
            <p:cNvCxnSpPr>
              <a:cxnSpLocks/>
              <a:stCxn id="13" idx="6"/>
              <a:endCxn id="19" idx="2"/>
            </p:cNvCxnSpPr>
            <p:nvPr/>
          </p:nvCxnSpPr>
          <p:spPr>
            <a:xfrm>
              <a:off x="4714674" y="1883564"/>
              <a:ext cx="1708684" cy="6256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 name="Straight Arrow Connector 23">
              <a:extLst>
                <a:ext uri="{FF2B5EF4-FFF2-40B4-BE49-F238E27FC236}">
                  <a16:creationId xmlns:a16="http://schemas.microsoft.com/office/drawing/2014/main" id="{245DB980-D501-EC4D-BC54-8387928E1145}"/>
                </a:ext>
              </a:extLst>
            </p:cNvPr>
            <p:cNvCxnSpPr>
              <a:cxnSpLocks/>
              <a:stCxn id="13" idx="6"/>
              <a:endCxn id="20" idx="2"/>
            </p:cNvCxnSpPr>
            <p:nvPr/>
          </p:nvCxnSpPr>
          <p:spPr>
            <a:xfrm>
              <a:off x="4714674" y="1883564"/>
              <a:ext cx="1708684" cy="49904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5" name="Straight Arrow Connector 24">
              <a:extLst>
                <a:ext uri="{FF2B5EF4-FFF2-40B4-BE49-F238E27FC236}">
                  <a16:creationId xmlns:a16="http://schemas.microsoft.com/office/drawing/2014/main" id="{8F1769DA-F327-A641-976D-63D15197430C}"/>
                </a:ext>
              </a:extLst>
            </p:cNvPr>
            <p:cNvCxnSpPr>
              <a:cxnSpLocks/>
              <a:stCxn id="13" idx="6"/>
              <a:endCxn id="21" idx="2"/>
            </p:cNvCxnSpPr>
            <p:nvPr/>
          </p:nvCxnSpPr>
          <p:spPr>
            <a:xfrm>
              <a:off x="4714674" y="1883564"/>
              <a:ext cx="1708684" cy="9355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6" name="Oval 25">
              <a:extLst>
                <a:ext uri="{FF2B5EF4-FFF2-40B4-BE49-F238E27FC236}">
                  <a16:creationId xmlns:a16="http://schemas.microsoft.com/office/drawing/2014/main" id="{FA440E78-800B-CD4D-B59E-95F4D5C698D8}"/>
                </a:ext>
              </a:extLst>
            </p:cNvPr>
            <p:cNvSpPr/>
            <p:nvPr/>
          </p:nvSpPr>
          <p:spPr>
            <a:xfrm>
              <a:off x="7108416" y="1385353"/>
              <a:ext cx="248575" cy="248575"/>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l-GR" dirty="0">
                  <a:effectLst/>
                </a:rPr>
                <a:t>σ</a:t>
              </a:r>
              <a:endParaRPr lang="en-US" dirty="0"/>
            </a:p>
          </p:txBody>
        </p:sp>
        <p:sp>
          <p:nvSpPr>
            <p:cNvPr id="27" name="Oval 26">
              <a:extLst>
                <a:ext uri="{FF2B5EF4-FFF2-40B4-BE49-F238E27FC236}">
                  <a16:creationId xmlns:a16="http://schemas.microsoft.com/office/drawing/2014/main" id="{1991E6FE-A291-2F46-B3EF-0E3476429622}"/>
                </a:ext>
              </a:extLst>
            </p:cNvPr>
            <p:cNvSpPr/>
            <p:nvPr/>
          </p:nvSpPr>
          <p:spPr>
            <a:xfrm>
              <a:off x="7108416" y="1821839"/>
              <a:ext cx="248575" cy="248575"/>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l-GR" dirty="0">
                  <a:effectLst/>
                </a:rPr>
                <a:t>σ</a:t>
              </a:r>
              <a:endParaRPr lang="en-US" dirty="0"/>
            </a:p>
          </p:txBody>
        </p:sp>
        <p:sp>
          <p:nvSpPr>
            <p:cNvPr id="28" name="Oval 27">
              <a:extLst>
                <a:ext uri="{FF2B5EF4-FFF2-40B4-BE49-F238E27FC236}">
                  <a16:creationId xmlns:a16="http://schemas.microsoft.com/office/drawing/2014/main" id="{FD560FFE-103F-2E4C-893F-778D900839FA}"/>
                </a:ext>
              </a:extLst>
            </p:cNvPr>
            <p:cNvSpPr/>
            <p:nvPr/>
          </p:nvSpPr>
          <p:spPr>
            <a:xfrm>
              <a:off x="7108416" y="2258325"/>
              <a:ext cx="248575" cy="248575"/>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l-GR" dirty="0">
                  <a:effectLst/>
                </a:rPr>
                <a:t>σ</a:t>
              </a:r>
              <a:endParaRPr lang="en-US" dirty="0"/>
            </a:p>
          </p:txBody>
        </p:sp>
        <p:sp>
          <p:nvSpPr>
            <p:cNvPr id="29" name="Oval 28">
              <a:extLst>
                <a:ext uri="{FF2B5EF4-FFF2-40B4-BE49-F238E27FC236}">
                  <a16:creationId xmlns:a16="http://schemas.microsoft.com/office/drawing/2014/main" id="{826A2D1C-6F9E-6644-8135-CCEA104D151A}"/>
                </a:ext>
              </a:extLst>
            </p:cNvPr>
            <p:cNvSpPr/>
            <p:nvPr/>
          </p:nvSpPr>
          <p:spPr>
            <a:xfrm>
              <a:off x="7108416" y="2694810"/>
              <a:ext cx="248575" cy="248575"/>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l-GR" dirty="0">
                  <a:effectLst/>
                </a:rPr>
                <a:t>σ</a:t>
              </a:r>
              <a:endParaRPr lang="en-US" dirty="0"/>
            </a:p>
          </p:txBody>
        </p:sp>
        <p:cxnSp>
          <p:nvCxnSpPr>
            <p:cNvPr id="30" name="Straight Arrow Connector 29">
              <a:extLst>
                <a:ext uri="{FF2B5EF4-FFF2-40B4-BE49-F238E27FC236}">
                  <a16:creationId xmlns:a16="http://schemas.microsoft.com/office/drawing/2014/main" id="{98AF1866-8CFE-B545-BED4-BE01F7B92DA4}"/>
                </a:ext>
              </a:extLst>
            </p:cNvPr>
            <p:cNvCxnSpPr>
              <a:stCxn id="15" idx="6"/>
              <a:endCxn id="29" idx="2"/>
            </p:cNvCxnSpPr>
            <p:nvPr/>
          </p:nvCxnSpPr>
          <p:spPr>
            <a:xfrm>
              <a:off x="6671933" y="1509641"/>
              <a:ext cx="436483" cy="130945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1" name="Straight Arrow Connector 30">
              <a:extLst>
                <a:ext uri="{FF2B5EF4-FFF2-40B4-BE49-F238E27FC236}">
                  <a16:creationId xmlns:a16="http://schemas.microsoft.com/office/drawing/2014/main" id="{CDDB7F83-1747-2244-BDE6-1E02927D9882}"/>
                </a:ext>
              </a:extLst>
            </p:cNvPr>
            <p:cNvCxnSpPr>
              <a:stCxn id="15" idx="6"/>
              <a:endCxn id="26" idx="2"/>
            </p:cNvCxnSpPr>
            <p:nvPr/>
          </p:nvCxnSpPr>
          <p:spPr>
            <a:xfrm>
              <a:off x="6671933" y="1509641"/>
              <a:ext cx="43648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2" name="Straight Arrow Connector 31">
              <a:extLst>
                <a:ext uri="{FF2B5EF4-FFF2-40B4-BE49-F238E27FC236}">
                  <a16:creationId xmlns:a16="http://schemas.microsoft.com/office/drawing/2014/main" id="{6C1F11DD-2314-884D-B592-242D8BB2F853}"/>
                </a:ext>
              </a:extLst>
            </p:cNvPr>
            <p:cNvCxnSpPr>
              <a:stCxn id="15" idx="6"/>
              <a:endCxn id="27" idx="2"/>
            </p:cNvCxnSpPr>
            <p:nvPr/>
          </p:nvCxnSpPr>
          <p:spPr>
            <a:xfrm>
              <a:off x="6671933" y="1509641"/>
              <a:ext cx="436483" cy="43648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3" name="Straight Arrow Connector 32">
              <a:extLst>
                <a:ext uri="{FF2B5EF4-FFF2-40B4-BE49-F238E27FC236}">
                  <a16:creationId xmlns:a16="http://schemas.microsoft.com/office/drawing/2014/main" id="{8B195806-E0A7-4D49-AF86-3A7E0D489ACD}"/>
                </a:ext>
              </a:extLst>
            </p:cNvPr>
            <p:cNvCxnSpPr>
              <a:stCxn id="15" idx="6"/>
              <a:endCxn id="28" idx="2"/>
            </p:cNvCxnSpPr>
            <p:nvPr/>
          </p:nvCxnSpPr>
          <p:spPr>
            <a:xfrm>
              <a:off x="6671933" y="1509641"/>
              <a:ext cx="436483" cy="87297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4" name="Straight Arrow Connector 33">
              <a:extLst>
                <a:ext uri="{FF2B5EF4-FFF2-40B4-BE49-F238E27FC236}">
                  <a16:creationId xmlns:a16="http://schemas.microsoft.com/office/drawing/2014/main" id="{CFEB5F7F-62AF-B44B-8DF1-0D1C090B7F85}"/>
                </a:ext>
              </a:extLst>
            </p:cNvPr>
            <p:cNvCxnSpPr>
              <a:stCxn id="19" idx="6"/>
              <a:endCxn id="26" idx="2"/>
            </p:cNvCxnSpPr>
            <p:nvPr/>
          </p:nvCxnSpPr>
          <p:spPr>
            <a:xfrm flipV="1">
              <a:off x="6671933" y="1509641"/>
              <a:ext cx="436483" cy="43648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5" name="Straight Arrow Connector 34">
              <a:extLst>
                <a:ext uri="{FF2B5EF4-FFF2-40B4-BE49-F238E27FC236}">
                  <a16:creationId xmlns:a16="http://schemas.microsoft.com/office/drawing/2014/main" id="{09E17A5A-1074-6D4C-83D7-AAF430C03787}"/>
                </a:ext>
              </a:extLst>
            </p:cNvPr>
            <p:cNvCxnSpPr>
              <a:stCxn id="19" idx="6"/>
              <a:endCxn id="27" idx="2"/>
            </p:cNvCxnSpPr>
            <p:nvPr/>
          </p:nvCxnSpPr>
          <p:spPr>
            <a:xfrm>
              <a:off x="6671933" y="1946127"/>
              <a:ext cx="43648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6" name="Straight Arrow Connector 35">
              <a:extLst>
                <a:ext uri="{FF2B5EF4-FFF2-40B4-BE49-F238E27FC236}">
                  <a16:creationId xmlns:a16="http://schemas.microsoft.com/office/drawing/2014/main" id="{1992A066-D2BD-C045-A4C8-7CE7F797459E}"/>
                </a:ext>
              </a:extLst>
            </p:cNvPr>
            <p:cNvCxnSpPr>
              <a:cxnSpLocks/>
              <a:stCxn id="19" idx="6"/>
              <a:endCxn id="28" idx="2"/>
            </p:cNvCxnSpPr>
            <p:nvPr/>
          </p:nvCxnSpPr>
          <p:spPr>
            <a:xfrm>
              <a:off x="6671933" y="1946127"/>
              <a:ext cx="436483" cy="43648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7" name="Straight Arrow Connector 36">
              <a:extLst>
                <a:ext uri="{FF2B5EF4-FFF2-40B4-BE49-F238E27FC236}">
                  <a16:creationId xmlns:a16="http://schemas.microsoft.com/office/drawing/2014/main" id="{A72C3D07-A4EC-B548-9769-33082986C975}"/>
                </a:ext>
              </a:extLst>
            </p:cNvPr>
            <p:cNvCxnSpPr>
              <a:stCxn id="19" idx="6"/>
              <a:endCxn id="29" idx="2"/>
            </p:cNvCxnSpPr>
            <p:nvPr/>
          </p:nvCxnSpPr>
          <p:spPr>
            <a:xfrm>
              <a:off x="6671933" y="1946127"/>
              <a:ext cx="436483" cy="87297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8" name="Straight Arrow Connector 37">
              <a:extLst>
                <a:ext uri="{FF2B5EF4-FFF2-40B4-BE49-F238E27FC236}">
                  <a16:creationId xmlns:a16="http://schemas.microsoft.com/office/drawing/2014/main" id="{B1B8DFFB-3B2A-EC4F-94F1-6DAB4DF38E9A}"/>
                </a:ext>
              </a:extLst>
            </p:cNvPr>
            <p:cNvCxnSpPr>
              <a:stCxn id="20" idx="6"/>
              <a:endCxn id="26" idx="2"/>
            </p:cNvCxnSpPr>
            <p:nvPr/>
          </p:nvCxnSpPr>
          <p:spPr>
            <a:xfrm flipV="1">
              <a:off x="6671933" y="1509641"/>
              <a:ext cx="436483" cy="87297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9" name="Straight Arrow Connector 38">
              <a:extLst>
                <a:ext uri="{FF2B5EF4-FFF2-40B4-BE49-F238E27FC236}">
                  <a16:creationId xmlns:a16="http://schemas.microsoft.com/office/drawing/2014/main" id="{86903244-14C1-5B4C-AD78-28BC3E53CAB7}"/>
                </a:ext>
              </a:extLst>
            </p:cNvPr>
            <p:cNvCxnSpPr>
              <a:stCxn id="20" idx="6"/>
              <a:endCxn id="27" idx="2"/>
            </p:cNvCxnSpPr>
            <p:nvPr/>
          </p:nvCxnSpPr>
          <p:spPr>
            <a:xfrm flipV="1">
              <a:off x="6671933" y="1946127"/>
              <a:ext cx="436483" cy="43648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0" name="Straight Arrow Connector 39">
              <a:extLst>
                <a:ext uri="{FF2B5EF4-FFF2-40B4-BE49-F238E27FC236}">
                  <a16:creationId xmlns:a16="http://schemas.microsoft.com/office/drawing/2014/main" id="{B79B1312-A146-E14C-8656-E62D4546BE3B}"/>
                </a:ext>
              </a:extLst>
            </p:cNvPr>
            <p:cNvCxnSpPr>
              <a:stCxn id="20" idx="6"/>
              <a:endCxn id="28" idx="2"/>
            </p:cNvCxnSpPr>
            <p:nvPr/>
          </p:nvCxnSpPr>
          <p:spPr>
            <a:xfrm>
              <a:off x="6671933" y="2382613"/>
              <a:ext cx="43648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1" name="Straight Arrow Connector 40">
              <a:extLst>
                <a:ext uri="{FF2B5EF4-FFF2-40B4-BE49-F238E27FC236}">
                  <a16:creationId xmlns:a16="http://schemas.microsoft.com/office/drawing/2014/main" id="{EA6AF2AB-18AC-9E48-AC95-0BF7D18CAC98}"/>
                </a:ext>
              </a:extLst>
            </p:cNvPr>
            <p:cNvCxnSpPr>
              <a:stCxn id="20" idx="6"/>
              <a:endCxn id="29" idx="2"/>
            </p:cNvCxnSpPr>
            <p:nvPr/>
          </p:nvCxnSpPr>
          <p:spPr>
            <a:xfrm>
              <a:off x="6671933" y="2382613"/>
              <a:ext cx="436483" cy="43648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2" name="Straight Arrow Connector 41">
              <a:extLst>
                <a:ext uri="{FF2B5EF4-FFF2-40B4-BE49-F238E27FC236}">
                  <a16:creationId xmlns:a16="http://schemas.microsoft.com/office/drawing/2014/main" id="{D9E15C0D-ECE6-8B42-A7E6-634341486863}"/>
                </a:ext>
              </a:extLst>
            </p:cNvPr>
            <p:cNvCxnSpPr>
              <a:stCxn id="21" idx="6"/>
              <a:endCxn id="26" idx="2"/>
            </p:cNvCxnSpPr>
            <p:nvPr/>
          </p:nvCxnSpPr>
          <p:spPr>
            <a:xfrm flipV="1">
              <a:off x="6671933" y="1509641"/>
              <a:ext cx="436483" cy="130945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3" name="Straight Arrow Connector 42">
              <a:extLst>
                <a:ext uri="{FF2B5EF4-FFF2-40B4-BE49-F238E27FC236}">
                  <a16:creationId xmlns:a16="http://schemas.microsoft.com/office/drawing/2014/main" id="{139C6EE7-EC40-EE41-A527-F9DEC5B1F594}"/>
                </a:ext>
              </a:extLst>
            </p:cNvPr>
            <p:cNvCxnSpPr>
              <a:stCxn id="21" idx="6"/>
              <a:endCxn id="27" idx="2"/>
            </p:cNvCxnSpPr>
            <p:nvPr/>
          </p:nvCxnSpPr>
          <p:spPr>
            <a:xfrm flipV="1">
              <a:off x="6671933" y="1946127"/>
              <a:ext cx="436483" cy="87297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4" name="Straight Arrow Connector 43">
              <a:extLst>
                <a:ext uri="{FF2B5EF4-FFF2-40B4-BE49-F238E27FC236}">
                  <a16:creationId xmlns:a16="http://schemas.microsoft.com/office/drawing/2014/main" id="{9D1296EF-54F9-8D47-9517-BB06C24A607E}"/>
                </a:ext>
              </a:extLst>
            </p:cNvPr>
            <p:cNvCxnSpPr>
              <a:stCxn id="21" idx="6"/>
              <a:endCxn id="28" idx="2"/>
            </p:cNvCxnSpPr>
            <p:nvPr/>
          </p:nvCxnSpPr>
          <p:spPr>
            <a:xfrm flipV="1">
              <a:off x="6671933" y="2382613"/>
              <a:ext cx="436483" cy="43648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5" name="Straight Arrow Connector 44">
              <a:extLst>
                <a:ext uri="{FF2B5EF4-FFF2-40B4-BE49-F238E27FC236}">
                  <a16:creationId xmlns:a16="http://schemas.microsoft.com/office/drawing/2014/main" id="{11E8E621-2B6F-8E40-9622-5BF4D5031356}"/>
                </a:ext>
              </a:extLst>
            </p:cNvPr>
            <p:cNvCxnSpPr>
              <a:stCxn id="21" idx="6"/>
              <a:endCxn id="29" idx="2"/>
            </p:cNvCxnSpPr>
            <p:nvPr/>
          </p:nvCxnSpPr>
          <p:spPr>
            <a:xfrm>
              <a:off x="6671933" y="2819098"/>
              <a:ext cx="43648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6" name="Rectangle 45">
              <a:extLst>
                <a:ext uri="{FF2B5EF4-FFF2-40B4-BE49-F238E27FC236}">
                  <a16:creationId xmlns:a16="http://schemas.microsoft.com/office/drawing/2014/main" id="{AB647521-18FC-E341-B8C1-CD8962CB0419}"/>
                </a:ext>
              </a:extLst>
            </p:cNvPr>
            <p:cNvSpPr/>
            <p:nvPr/>
          </p:nvSpPr>
          <p:spPr>
            <a:xfrm>
              <a:off x="6189688" y="936402"/>
              <a:ext cx="1706942" cy="369332"/>
            </a:xfrm>
            <a:prstGeom prst="rect">
              <a:avLst/>
            </a:prstGeom>
          </p:spPr>
          <p:txBody>
            <a:bodyPr wrap="none">
              <a:spAutoFit/>
            </a:bodyPr>
            <a:lstStyle/>
            <a:p>
              <a:r>
                <a:rPr lang="en-US" b="1" u="sng" dirty="0"/>
                <a:t>Neural Network</a:t>
              </a:r>
            </a:p>
          </p:txBody>
        </p:sp>
        <mc:AlternateContent xmlns:mc="http://schemas.openxmlformats.org/markup-compatibility/2006" xmlns:a14="http://schemas.microsoft.com/office/drawing/2010/main">
          <mc:Choice Requires="a14">
            <p:sp>
              <p:nvSpPr>
                <p:cNvPr id="47" name="Oval 46">
                  <a:extLst>
                    <a:ext uri="{FF2B5EF4-FFF2-40B4-BE49-F238E27FC236}">
                      <a16:creationId xmlns:a16="http://schemas.microsoft.com/office/drawing/2014/main" id="{E7436C93-32B8-C545-A362-8ABA51DB2472}"/>
                    </a:ext>
                  </a:extLst>
                </p:cNvPr>
                <p:cNvSpPr/>
                <p:nvPr/>
              </p:nvSpPr>
              <p:spPr>
                <a:xfrm>
                  <a:off x="8863173" y="1572618"/>
                  <a:ext cx="621892" cy="62189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r>
                              <a:rPr lang="en-US" i="1">
                                <a:latin typeface="Cambria Math" panose="02040503050406030204" pitchFamily="18" charset="0"/>
                              </a:rPr>
                              <m:t>𝜕</m:t>
                            </m:r>
                            <m:r>
                              <a:rPr lang="en-US" b="0" i="1" smtClean="0">
                                <a:latin typeface="Cambria Math" panose="02040503050406030204" pitchFamily="18" charset="0"/>
                              </a:rPr>
                              <m:t>𝑢</m:t>
                            </m:r>
                          </m:num>
                          <m:den>
                            <m:r>
                              <a:rPr lang="en-US" i="1">
                                <a:latin typeface="Cambria Math" panose="02040503050406030204" pitchFamily="18" charset="0"/>
                              </a:rPr>
                              <m:t>𝜕</m:t>
                            </m:r>
                            <m:r>
                              <a:rPr lang="en-US" b="0" i="1" smtClean="0">
                                <a:latin typeface="Cambria Math" panose="02040503050406030204" pitchFamily="18" charset="0"/>
                              </a:rPr>
                              <m:t>𝑥</m:t>
                            </m:r>
                          </m:den>
                        </m:f>
                      </m:oMath>
                    </m:oMathPara>
                  </a14:m>
                  <a:endParaRPr lang="en-US" dirty="0"/>
                </a:p>
              </p:txBody>
            </p:sp>
          </mc:Choice>
          <mc:Fallback xmlns="">
            <p:sp>
              <p:nvSpPr>
                <p:cNvPr id="47" name="Oval 46">
                  <a:extLst>
                    <a:ext uri="{FF2B5EF4-FFF2-40B4-BE49-F238E27FC236}">
                      <a16:creationId xmlns:a16="http://schemas.microsoft.com/office/drawing/2014/main" id="{E7436C93-32B8-C545-A362-8ABA51DB2472}"/>
                    </a:ext>
                  </a:extLst>
                </p:cNvPr>
                <p:cNvSpPr>
                  <a:spLocks noRot="1" noChangeAspect="1" noMove="1" noResize="1" noEditPoints="1" noAdjustHandles="1" noChangeArrowheads="1" noChangeShapeType="1" noTextEdit="1"/>
                </p:cNvSpPr>
                <p:nvPr/>
              </p:nvSpPr>
              <p:spPr>
                <a:xfrm>
                  <a:off x="8863173" y="1572618"/>
                  <a:ext cx="621892" cy="621892"/>
                </a:xfrm>
                <a:prstGeom prst="ellipse">
                  <a:avLst/>
                </a:prstGeom>
                <a:blipFill>
                  <a:blip r:embed="rId4"/>
                  <a:stretch>
                    <a:fillRect b="-196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Oval 47">
                  <a:extLst>
                    <a:ext uri="{FF2B5EF4-FFF2-40B4-BE49-F238E27FC236}">
                      <a16:creationId xmlns:a16="http://schemas.microsoft.com/office/drawing/2014/main" id="{F4AC53D7-F1F0-514B-8776-9F96CF1B5388}"/>
                    </a:ext>
                  </a:extLst>
                </p:cNvPr>
                <p:cNvSpPr/>
                <p:nvPr/>
              </p:nvSpPr>
              <p:spPr>
                <a:xfrm>
                  <a:off x="8863172" y="2258325"/>
                  <a:ext cx="621893" cy="621893"/>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r>
                              <a:rPr lang="en-US" i="1">
                                <a:latin typeface="Cambria Math" panose="02040503050406030204" pitchFamily="18" charset="0"/>
                              </a:rPr>
                              <m:t>𝜕</m:t>
                            </m:r>
                            <m:r>
                              <a:rPr lang="en-US" b="0" i="1" smtClean="0">
                                <a:latin typeface="Cambria Math" panose="02040503050406030204" pitchFamily="18" charset="0"/>
                              </a:rPr>
                              <m:t>𝑢</m:t>
                            </m:r>
                          </m:num>
                          <m:den>
                            <m:r>
                              <a:rPr lang="en-US" i="1" smtClean="0">
                                <a:latin typeface="Cambria Math" panose="02040503050406030204" pitchFamily="18" charset="0"/>
                              </a:rPr>
                              <m:t>𝜕</m:t>
                            </m:r>
                            <m:r>
                              <a:rPr lang="en-US" b="0" i="1" smtClean="0">
                                <a:latin typeface="Cambria Math" panose="02040503050406030204" pitchFamily="18" charset="0"/>
                              </a:rPr>
                              <m:t>𝑡</m:t>
                            </m:r>
                          </m:den>
                        </m:f>
                      </m:oMath>
                    </m:oMathPara>
                  </a14:m>
                  <a:endParaRPr lang="en-US" dirty="0"/>
                </a:p>
              </p:txBody>
            </p:sp>
          </mc:Choice>
          <mc:Fallback xmlns="">
            <p:sp>
              <p:nvSpPr>
                <p:cNvPr id="48" name="Oval 47">
                  <a:extLst>
                    <a:ext uri="{FF2B5EF4-FFF2-40B4-BE49-F238E27FC236}">
                      <a16:creationId xmlns:a16="http://schemas.microsoft.com/office/drawing/2014/main" id="{F4AC53D7-F1F0-514B-8776-9F96CF1B5388}"/>
                    </a:ext>
                  </a:extLst>
                </p:cNvPr>
                <p:cNvSpPr>
                  <a:spLocks noRot="1" noChangeAspect="1" noMove="1" noResize="1" noEditPoints="1" noAdjustHandles="1" noChangeArrowheads="1" noChangeShapeType="1" noTextEdit="1"/>
                </p:cNvSpPr>
                <p:nvPr/>
              </p:nvSpPr>
              <p:spPr>
                <a:xfrm>
                  <a:off x="8863172" y="2258325"/>
                  <a:ext cx="621893" cy="621893"/>
                </a:xfrm>
                <a:prstGeom prst="ellipse">
                  <a:avLst/>
                </a:prstGeom>
                <a:blipFill>
                  <a:blip r:embed="rId5"/>
                  <a:stretch>
                    <a:fillRect b="-196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Oval 48">
                  <a:extLst>
                    <a:ext uri="{FF2B5EF4-FFF2-40B4-BE49-F238E27FC236}">
                      <a16:creationId xmlns:a16="http://schemas.microsoft.com/office/drawing/2014/main" id="{CCDB95E4-7DB4-E14C-91A5-92FB4BB18218}"/>
                    </a:ext>
                  </a:extLst>
                </p:cNvPr>
                <p:cNvSpPr/>
                <p:nvPr/>
              </p:nvSpPr>
              <p:spPr>
                <a:xfrm>
                  <a:off x="4348752" y="2236350"/>
                  <a:ext cx="365760" cy="36576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𝑡</m:t>
                        </m:r>
                      </m:oMath>
                    </m:oMathPara>
                  </a14:m>
                  <a:endParaRPr lang="en-US" dirty="0"/>
                </a:p>
              </p:txBody>
            </p:sp>
          </mc:Choice>
          <mc:Fallback xmlns="">
            <p:sp>
              <p:nvSpPr>
                <p:cNvPr id="49" name="Oval 48">
                  <a:extLst>
                    <a:ext uri="{FF2B5EF4-FFF2-40B4-BE49-F238E27FC236}">
                      <a16:creationId xmlns:a16="http://schemas.microsoft.com/office/drawing/2014/main" id="{CCDB95E4-7DB4-E14C-91A5-92FB4BB18218}"/>
                    </a:ext>
                  </a:extLst>
                </p:cNvPr>
                <p:cNvSpPr>
                  <a:spLocks noRot="1" noChangeAspect="1" noMove="1" noResize="1" noEditPoints="1" noAdjustHandles="1" noChangeArrowheads="1" noChangeShapeType="1" noTextEdit="1"/>
                </p:cNvSpPr>
                <p:nvPr/>
              </p:nvSpPr>
              <p:spPr>
                <a:xfrm>
                  <a:off x="4348752" y="2236350"/>
                  <a:ext cx="365760" cy="365760"/>
                </a:xfrm>
                <a:prstGeom prst="ellipse">
                  <a:avLst/>
                </a:prstGeom>
                <a:blipFill>
                  <a:blip r:embed="rId6"/>
                  <a:stretch>
                    <a:fillRect/>
                  </a:stretch>
                </a:blipFill>
              </p:spPr>
              <p:txBody>
                <a:bodyPr/>
                <a:lstStyle/>
                <a:p>
                  <a:r>
                    <a:rPr lang="en-US">
                      <a:noFill/>
                    </a:rPr>
                    <a:t> </a:t>
                  </a:r>
                </a:p>
              </p:txBody>
            </p:sp>
          </mc:Fallback>
        </mc:AlternateContent>
        <p:cxnSp>
          <p:nvCxnSpPr>
            <p:cNvPr id="50" name="Straight Arrow Connector 49">
              <a:extLst>
                <a:ext uri="{FF2B5EF4-FFF2-40B4-BE49-F238E27FC236}">
                  <a16:creationId xmlns:a16="http://schemas.microsoft.com/office/drawing/2014/main" id="{96EC4AC7-887E-D64D-8D8E-C1FDD74353EE}"/>
                </a:ext>
              </a:extLst>
            </p:cNvPr>
            <p:cNvCxnSpPr>
              <a:stCxn id="49" idx="6"/>
              <a:endCxn id="15" idx="2"/>
            </p:cNvCxnSpPr>
            <p:nvPr/>
          </p:nvCxnSpPr>
          <p:spPr>
            <a:xfrm flipV="1">
              <a:off x="4714512" y="1509641"/>
              <a:ext cx="1708846" cy="90958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1" name="Straight Arrow Connector 50">
              <a:extLst>
                <a:ext uri="{FF2B5EF4-FFF2-40B4-BE49-F238E27FC236}">
                  <a16:creationId xmlns:a16="http://schemas.microsoft.com/office/drawing/2014/main" id="{F8EF3118-DE34-9F44-BF88-BA37BB3C6704}"/>
                </a:ext>
              </a:extLst>
            </p:cNvPr>
            <p:cNvCxnSpPr>
              <a:stCxn id="49" idx="6"/>
              <a:endCxn id="19" idx="2"/>
            </p:cNvCxnSpPr>
            <p:nvPr/>
          </p:nvCxnSpPr>
          <p:spPr>
            <a:xfrm flipV="1">
              <a:off x="4714512" y="1946127"/>
              <a:ext cx="1708846" cy="47310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2" name="Straight Arrow Connector 51">
              <a:extLst>
                <a:ext uri="{FF2B5EF4-FFF2-40B4-BE49-F238E27FC236}">
                  <a16:creationId xmlns:a16="http://schemas.microsoft.com/office/drawing/2014/main" id="{1F72936A-2F2D-4843-9BE8-1F6BF124F31F}"/>
                </a:ext>
              </a:extLst>
            </p:cNvPr>
            <p:cNvCxnSpPr>
              <a:stCxn id="49" idx="6"/>
              <a:endCxn id="20" idx="2"/>
            </p:cNvCxnSpPr>
            <p:nvPr/>
          </p:nvCxnSpPr>
          <p:spPr>
            <a:xfrm flipV="1">
              <a:off x="4714512" y="2382613"/>
              <a:ext cx="1708846" cy="3661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3" name="Straight Arrow Connector 52">
              <a:extLst>
                <a:ext uri="{FF2B5EF4-FFF2-40B4-BE49-F238E27FC236}">
                  <a16:creationId xmlns:a16="http://schemas.microsoft.com/office/drawing/2014/main" id="{0FE69034-8BE5-D34B-86A0-BB122D5C2C3F}"/>
                </a:ext>
              </a:extLst>
            </p:cNvPr>
            <p:cNvCxnSpPr>
              <a:stCxn id="49" idx="6"/>
              <a:endCxn id="21" idx="2"/>
            </p:cNvCxnSpPr>
            <p:nvPr/>
          </p:nvCxnSpPr>
          <p:spPr>
            <a:xfrm>
              <a:off x="4714512" y="2419230"/>
              <a:ext cx="1708846" cy="39986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4" name="Rectangle 53">
              <a:extLst>
                <a:ext uri="{FF2B5EF4-FFF2-40B4-BE49-F238E27FC236}">
                  <a16:creationId xmlns:a16="http://schemas.microsoft.com/office/drawing/2014/main" id="{97E750A2-E756-4E4F-911F-5BB40C2BA4A7}"/>
                </a:ext>
              </a:extLst>
            </p:cNvPr>
            <p:cNvSpPr/>
            <p:nvPr/>
          </p:nvSpPr>
          <p:spPr>
            <a:xfrm>
              <a:off x="10809481" y="525181"/>
              <a:ext cx="566181" cy="369332"/>
            </a:xfrm>
            <a:prstGeom prst="rect">
              <a:avLst/>
            </a:prstGeom>
          </p:spPr>
          <p:txBody>
            <a:bodyPr wrap="none">
              <a:spAutoFit/>
            </a:bodyPr>
            <a:lstStyle/>
            <a:p>
              <a:r>
                <a:rPr lang="en-US" b="1" u="sng" dirty="0">
                  <a:solidFill>
                    <a:schemeClr val="bg1">
                      <a:lumMod val="50000"/>
                    </a:schemeClr>
                  </a:solidFill>
                </a:rPr>
                <a:t>PDE</a:t>
              </a:r>
            </a:p>
          </p:txBody>
        </p:sp>
        <p:sp>
          <p:nvSpPr>
            <p:cNvPr id="55" name="Oval 54">
              <a:extLst>
                <a:ext uri="{FF2B5EF4-FFF2-40B4-BE49-F238E27FC236}">
                  <a16:creationId xmlns:a16="http://schemas.microsoft.com/office/drawing/2014/main" id="{F0FC7E70-ED7F-6E45-9E7D-34A3814EDCD0}"/>
                </a:ext>
              </a:extLst>
            </p:cNvPr>
            <p:cNvSpPr/>
            <p:nvPr/>
          </p:nvSpPr>
          <p:spPr>
            <a:xfrm>
              <a:off x="8757586" y="3876378"/>
              <a:ext cx="833063" cy="364730"/>
            </a:xfrm>
            <a:prstGeom prst="ellipse">
              <a:avLst/>
            </a:prstGeom>
            <a:solidFill>
              <a:srgbClr val="FF0000"/>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a:t>Loss</a:t>
              </a:r>
            </a:p>
          </p:txBody>
        </p:sp>
        <p:sp>
          <p:nvSpPr>
            <p:cNvPr id="56" name="Rectangle: Rounded Corners 170">
              <a:extLst>
                <a:ext uri="{FF2B5EF4-FFF2-40B4-BE49-F238E27FC236}">
                  <a16:creationId xmlns:a16="http://schemas.microsoft.com/office/drawing/2014/main" id="{CF68B178-512F-F942-B106-756B9D174A74}"/>
                </a:ext>
              </a:extLst>
            </p:cNvPr>
            <p:cNvSpPr/>
            <p:nvPr/>
          </p:nvSpPr>
          <p:spPr>
            <a:xfrm>
              <a:off x="7605567" y="874873"/>
              <a:ext cx="4341791" cy="2843835"/>
            </a:xfrm>
            <a:prstGeom prst="roundRect">
              <a:avLst/>
            </a:prstGeom>
            <a:noFill/>
            <a:ln w="19050">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57" name="Rectangle: Rounded Corners 171">
                  <a:extLst>
                    <a:ext uri="{FF2B5EF4-FFF2-40B4-BE49-F238E27FC236}">
                      <a16:creationId xmlns:a16="http://schemas.microsoft.com/office/drawing/2014/main" id="{757C124B-07CF-854C-9D35-A19A960BBFA2}"/>
                    </a:ext>
                  </a:extLst>
                </p:cNvPr>
                <p:cNvSpPr/>
                <p:nvPr/>
              </p:nvSpPr>
              <p:spPr>
                <a:xfrm>
                  <a:off x="9923010" y="1856141"/>
                  <a:ext cx="1489264" cy="674702"/>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14:m>
                    <m:oMathPara xmlns:m="http://schemas.openxmlformats.org/officeDocument/2006/math">
                      <m:oMathParaPr>
                        <m:jc m:val="left"/>
                      </m:oMathParaPr>
                      <m:oMath xmlns:m="http://schemas.openxmlformats.org/officeDocument/2006/math">
                        <m:r>
                          <a:rPr lang="en-US" b="0" i="1" smtClean="0">
                            <a:latin typeface="Cambria Math" panose="02040503050406030204" pitchFamily="18" charset="0"/>
                          </a:rPr>
                          <m:t>𝑓</m:t>
                        </m:r>
                        <m:r>
                          <a:rPr lang="en-US" b="0" i="1" smtClean="0">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m:t>
                            </m:r>
                            <m:r>
                              <a:rPr lang="en-US" b="0" i="1" smtClean="0">
                                <a:latin typeface="Cambria Math" panose="02040503050406030204" pitchFamily="18" charset="0"/>
                              </a:rPr>
                              <m:t>𝑢</m:t>
                            </m:r>
                          </m:num>
                          <m:den>
                            <m:r>
                              <a:rPr lang="en-US" i="1">
                                <a:latin typeface="Cambria Math" panose="02040503050406030204" pitchFamily="18" charset="0"/>
                              </a:rPr>
                              <m:t>𝜕</m:t>
                            </m:r>
                            <m:r>
                              <a:rPr lang="en-US" b="0" i="1" smtClean="0">
                                <a:latin typeface="Cambria Math" panose="02040503050406030204" pitchFamily="18" charset="0"/>
                              </a:rPr>
                              <m:t>𝑥</m:t>
                            </m:r>
                          </m:den>
                        </m:f>
                        <m:r>
                          <a:rPr lang="en-US" b="0" i="1" smtClean="0">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m:t>
                            </m:r>
                            <m:r>
                              <a:rPr lang="en-US" b="0" i="1" smtClean="0">
                                <a:latin typeface="Cambria Math" panose="02040503050406030204" pitchFamily="18" charset="0"/>
                              </a:rPr>
                              <m:t>𝑢</m:t>
                            </m:r>
                          </m:num>
                          <m:den>
                            <m:r>
                              <a:rPr lang="en-US" i="1">
                                <a:latin typeface="Cambria Math" panose="02040503050406030204" pitchFamily="18" charset="0"/>
                              </a:rPr>
                              <m:t>𝜕</m:t>
                            </m:r>
                            <m:r>
                              <a:rPr lang="en-US" b="0" i="1" smtClean="0">
                                <a:latin typeface="Cambria Math" panose="02040503050406030204" pitchFamily="18" charset="0"/>
                              </a:rPr>
                              <m:t>𝑡</m:t>
                            </m:r>
                          </m:den>
                        </m:f>
                      </m:oMath>
                    </m:oMathPara>
                  </a14:m>
                  <a:endParaRPr lang="en-US" dirty="0"/>
                </a:p>
              </p:txBody>
            </p:sp>
          </mc:Choice>
          <mc:Fallback xmlns="">
            <p:sp>
              <p:nvSpPr>
                <p:cNvPr id="57" name="Rectangle: Rounded Corners 171">
                  <a:extLst>
                    <a:ext uri="{FF2B5EF4-FFF2-40B4-BE49-F238E27FC236}">
                      <a16:creationId xmlns:a16="http://schemas.microsoft.com/office/drawing/2014/main" id="{757C124B-07CF-854C-9D35-A19A960BBFA2}"/>
                    </a:ext>
                  </a:extLst>
                </p:cNvPr>
                <p:cNvSpPr>
                  <a:spLocks noRot="1" noChangeAspect="1" noMove="1" noResize="1" noEditPoints="1" noAdjustHandles="1" noChangeArrowheads="1" noChangeShapeType="1" noTextEdit="1"/>
                </p:cNvSpPr>
                <p:nvPr/>
              </p:nvSpPr>
              <p:spPr>
                <a:xfrm>
                  <a:off x="9923010" y="1856141"/>
                  <a:ext cx="1489264" cy="674702"/>
                </a:xfrm>
                <a:prstGeom prst="round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8" name="Diamond 57">
                  <a:extLst>
                    <a:ext uri="{FF2B5EF4-FFF2-40B4-BE49-F238E27FC236}">
                      <a16:creationId xmlns:a16="http://schemas.microsoft.com/office/drawing/2014/main" id="{AE7030BD-1EF2-1F4A-B2EA-46A84B066180}"/>
                    </a:ext>
                  </a:extLst>
                </p:cNvPr>
                <p:cNvSpPr/>
                <p:nvPr/>
              </p:nvSpPr>
              <p:spPr>
                <a:xfrm>
                  <a:off x="6949724" y="3823191"/>
                  <a:ext cx="935190" cy="471104"/>
                </a:xfrm>
                <a:prstGeom prst="diamond">
                  <a:avLst/>
                </a:prstGeom>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&lt;</m:t>
                        </m:r>
                        <m:r>
                          <a:rPr lang="en-US" b="0" i="1" smtClean="0">
                            <a:latin typeface="Cambria Math" panose="02040503050406030204" pitchFamily="18" charset="0"/>
                            <a:ea typeface="Cambria Math" panose="02040503050406030204" pitchFamily="18" charset="0"/>
                          </a:rPr>
                          <m:t>𝜖</m:t>
                        </m:r>
                        <m:r>
                          <a:rPr lang="en-US" b="0" i="1" smtClean="0">
                            <a:latin typeface="Cambria Math" panose="02040503050406030204" pitchFamily="18" charset="0"/>
                            <a:ea typeface="Cambria Math" panose="02040503050406030204" pitchFamily="18" charset="0"/>
                          </a:rPr>
                          <m:t>?</m:t>
                        </m:r>
                      </m:oMath>
                    </m:oMathPara>
                  </a14:m>
                  <a:endParaRPr lang="en-US" dirty="0"/>
                </a:p>
              </p:txBody>
            </p:sp>
          </mc:Choice>
          <mc:Fallback xmlns="">
            <p:sp>
              <p:nvSpPr>
                <p:cNvPr id="58" name="Diamond 57">
                  <a:extLst>
                    <a:ext uri="{FF2B5EF4-FFF2-40B4-BE49-F238E27FC236}">
                      <a16:creationId xmlns:a16="http://schemas.microsoft.com/office/drawing/2014/main" id="{AE7030BD-1EF2-1F4A-B2EA-46A84B066180}"/>
                    </a:ext>
                  </a:extLst>
                </p:cNvPr>
                <p:cNvSpPr>
                  <a:spLocks noRot="1" noChangeAspect="1" noMove="1" noResize="1" noEditPoints="1" noAdjustHandles="1" noChangeArrowheads="1" noChangeShapeType="1" noTextEdit="1"/>
                </p:cNvSpPr>
                <p:nvPr/>
              </p:nvSpPr>
              <p:spPr>
                <a:xfrm>
                  <a:off x="6949724" y="3823191"/>
                  <a:ext cx="935190" cy="471104"/>
                </a:xfrm>
                <a:prstGeom prst="diamond">
                  <a:avLst/>
                </a:prstGeom>
                <a:blipFill>
                  <a:blip r:embed="rId8"/>
                  <a:stretch>
                    <a:fillRect/>
                  </a:stretch>
                </a:blipFill>
              </p:spPr>
              <p:txBody>
                <a:bodyPr/>
                <a:lstStyle/>
                <a:p>
                  <a:r>
                    <a:rPr lang="en-US">
                      <a:noFill/>
                    </a:rPr>
                    <a:t> </a:t>
                  </a:r>
                </a:p>
              </p:txBody>
            </p:sp>
          </mc:Fallback>
        </mc:AlternateContent>
        <p:pic>
          <p:nvPicPr>
            <p:cNvPr id="59" name="Picture 58">
              <a:extLst>
                <a:ext uri="{FF2B5EF4-FFF2-40B4-BE49-F238E27FC236}">
                  <a16:creationId xmlns:a16="http://schemas.microsoft.com/office/drawing/2014/main" id="{C35D33A4-01C8-844A-8916-0D68D299F148}"/>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5803153" y="3363588"/>
              <a:ext cx="718954" cy="785457"/>
            </a:xfrm>
            <a:prstGeom prst="rect">
              <a:avLst/>
            </a:prstGeom>
          </p:spPr>
        </p:pic>
        <p:cxnSp>
          <p:nvCxnSpPr>
            <p:cNvPr id="60" name="Connector: Curved 231">
              <a:extLst>
                <a:ext uri="{FF2B5EF4-FFF2-40B4-BE49-F238E27FC236}">
                  <a16:creationId xmlns:a16="http://schemas.microsoft.com/office/drawing/2014/main" id="{2917FC49-49D6-724C-B11A-185925F56A7D}"/>
                </a:ext>
              </a:extLst>
            </p:cNvPr>
            <p:cNvCxnSpPr>
              <a:cxnSpLocks/>
              <a:stCxn id="68" idx="4"/>
              <a:endCxn id="55" idx="1"/>
            </p:cNvCxnSpPr>
            <p:nvPr/>
          </p:nvCxnSpPr>
          <p:spPr>
            <a:xfrm rot="16200000" flipH="1">
              <a:off x="7604427" y="2654633"/>
              <a:ext cx="1593520" cy="956795"/>
            </a:xfrm>
            <a:prstGeom prst="curved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61" name="Straight Arrow Connector 60">
              <a:extLst>
                <a:ext uri="{FF2B5EF4-FFF2-40B4-BE49-F238E27FC236}">
                  <a16:creationId xmlns:a16="http://schemas.microsoft.com/office/drawing/2014/main" id="{DD17F0D5-8495-A744-A945-9CF84585F381}"/>
                </a:ext>
              </a:extLst>
            </p:cNvPr>
            <p:cNvCxnSpPr>
              <a:stCxn id="55" idx="2"/>
              <a:endCxn id="58" idx="3"/>
            </p:cNvCxnSpPr>
            <p:nvPr/>
          </p:nvCxnSpPr>
          <p:spPr>
            <a:xfrm flipH="1">
              <a:off x="7884914" y="4058743"/>
              <a:ext cx="87267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2" name="TextBox 61">
              <a:extLst>
                <a:ext uri="{FF2B5EF4-FFF2-40B4-BE49-F238E27FC236}">
                  <a16:creationId xmlns:a16="http://schemas.microsoft.com/office/drawing/2014/main" id="{AAC216CE-C765-0443-8915-F0B889022C15}"/>
                </a:ext>
              </a:extLst>
            </p:cNvPr>
            <p:cNvSpPr txBox="1"/>
            <p:nvPr/>
          </p:nvSpPr>
          <p:spPr>
            <a:xfrm>
              <a:off x="7349627" y="4246512"/>
              <a:ext cx="296876" cy="369332"/>
            </a:xfrm>
            <a:prstGeom prst="rect">
              <a:avLst/>
            </a:prstGeom>
            <a:noFill/>
          </p:spPr>
          <p:txBody>
            <a:bodyPr wrap="none" rtlCol="0">
              <a:spAutoFit/>
            </a:bodyPr>
            <a:lstStyle/>
            <a:p>
              <a:r>
                <a:rPr lang="en-US" dirty="0"/>
                <a:t>Y</a:t>
              </a:r>
            </a:p>
          </p:txBody>
        </p:sp>
        <p:sp>
          <p:nvSpPr>
            <p:cNvPr id="63" name="TextBox 62">
              <a:extLst>
                <a:ext uri="{FF2B5EF4-FFF2-40B4-BE49-F238E27FC236}">
                  <a16:creationId xmlns:a16="http://schemas.microsoft.com/office/drawing/2014/main" id="{F56DD4BA-27F5-D04E-9B95-D57D0E10608C}"/>
                </a:ext>
              </a:extLst>
            </p:cNvPr>
            <p:cNvSpPr txBox="1"/>
            <p:nvPr/>
          </p:nvSpPr>
          <p:spPr>
            <a:xfrm>
              <a:off x="5721877" y="4241108"/>
              <a:ext cx="744114" cy="369332"/>
            </a:xfrm>
            <a:prstGeom prst="rect">
              <a:avLst/>
            </a:prstGeom>
            <a:noFill/>
          </p:spPr>
          <p:txBody>
            <a:bodyPr wrap="none" rtlCol="0">
              <a:spAutoFit/>
            </a:bodyPr>
            <a:lstStyle/>
            <a:p>
              <a:r>
                <a:rPr lang="en-US" dirty="0"/>
                <a:t>Done.</a:t>
              </a:r>
            </a:p>
          </p:txBody>
        </p:sp>
        <p:sp>
          <p:nvSpPr>
            <p:cNvPr id="64" name="TextBox 63">
              <a:extLst>
                <a:ext uri="{FF2B5EF4-FFF2-40B4-BE49-F238E27FC236}">
                  <a16:creationId xmlns:a16="http://schemas.microsoft.com/office/drawing/2014/main" id="{DB7EC725-C667-EE4A-900E-8036F311861E}"/>
                </a:ext>
              </a:extLst>
            </p:cNvPr>
            <p:cNvSpPr txBox="1"/>
            <p:nvPr/>
          </p:nvSpPr>
          <p:spPr>
            <a:xfrm>
              <a:off x="7349627" y="3490506"/>
              <a:ext cx="333746" cy="369332"/>
            </a:xfrm>
            <a:prstGeom prst="rect">
              <a:avLst/>
            </a:prstGeom>
            <a:noFill/>
          </p:spPr>
          <p:txBody>
            <a:bodyPr wrap="none" rtlCol="0">
              <a:spAutoFit/>
            </a:bodyPr>
            <a:lstStyle/>
            <a:p>
              <a:r>
                <a:rPr lang="en-US" dirty="0"/>
                <a:t>N</a:t>
              </a:r>
            </a:p>
          </p:txBody>
        </p:sp>
        <p:cxnSp>
          <p:nvCxnSpPr>
            <p:cNvPr id="65" name="Connector: Elbow 2">
              <a:extLst>
                <a:ext uri="{FF2B5EF4-FFF2-40B4-BE49-F238E27FC236}">
                  <a16:creationId xmlns:a16="http://schemas.microsoft.com/office/drawing/2014/main" id="{F9A878FC-EEAE-2D40-8F3B-8093BB4796E2}"/>
                </a:ext>
              </a:extLst>
            </p:cNvPr>
            <p:cNvCxnSpPr>
              <a:cxnSpLocks/>
            </p:cNvCxnSpPr>
            <p:nvPr/>
          </p:nvCxnSpPr>
          <p:spPr>
            <a:xfrm rot="16200000" flipV="1">
              <a:off x="6887505" y="3291975"/>
              <a:ext cx="157177" cy="905256"/>
            </a:xfrm>
            <a:prstGeom prst="bent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66" name="Connector: Elbow 17">
              <a:extLst>
                <a:ext uri="{FF2B5EF4-FFF2-40B4-BE49-F238E27FC236}">
                  <a16:creationId xmlns:a16="http://schemas.microsoft.com/office/drawing/2014/main" id="{9BA03A46-031A-1E40-947D-80401E7FA5CF}"/>
                </a:ext>
              </a:extLst>
            </p:cNvPr>
            <p:cNvCxnSpPr>
              <a:cxnSpLocks/>
            </p:cNvCxnSpPr>
            <p:nvPr/>
          </p:nvCxnSpPr>
          <p:spPr>
            <a:xfrm rot="5400000">
              <a:off x="6887668" y="3920092"/>
              <a:ext cx="155448" cy="903854"/>
            </a:xfrm>
            <a:prstGeom prst="bent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67" name="Connector: Curved 225">
              <a:extLst>
                <a:ext uri="{FF2B5EF4-FFF2-40B4-BE49-F238E27FC236}">
                  <a16:creationId xmlns:a16="http://schemas.microsoft.com/office/drawing/2014/main" id="{4050CD53-8470-104B-B9D8-CCB05FCE846D}"/>
                </a:ext>
              </a:extLst>
            </p:cNvPr>
            <p:cNvCxnSpPr>
              <a:cxnSpLocks/>
              <a:stCxn id="59" idx="1"/>
              <a:endCxn id="49" idx="4"/>
            </p:cNvCxnSpPr>
            <p:nvPr/>
          </p:nvCxnSpPr>
          <p:spPr>
            <a:xfrm rot="10800000">
              <a:off x="4531633" y="2602111"/>
              <a:ext cx="1271521" cy="1154207"/>
            </a:xfrm>
            <a:prstGeom prst="curvedConnector2">
              <a:avLst/>
            </a:prstGeom>
            <a:ln>
              <a:prstDash val="dash"/>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68" name="Oval 67">
                  <a:extLst>
                    <a:ext uri="{FF2B5EF4-FFF2-40B4-BE49-F238E27FC236}">
                      <a16:creationId xmlns:a16="http://schemas.microsoft.com/office/drawing/2014/main" id="{6F956514-53A2-AF4A-9BD5-BBB3D68A644F}"/>
                    </a:ext>
                  </a:extLst>
                </p:cNvPr>
                <p:cNvSpPr/>
                <p:nvPr/>
              </p:nvSpPr>
              <p:spPr>
                <a:xfrm>
                  <a:off x="7739910" y="1970511"/>
                  <a:ext cx="365760" cy="365760"/>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𝑢</m:t>
                        </m:r>
                      </m:oMath>
                    </m:oMathPara>
                  </a14:m>
                  <a:endParaRPr lang="en-US" dirty="0"/>
                </a:p>
              </p:txBody>
            </p:sp>
          </mc:Choice>
          <mc:Fallback xmlns="">
            <p:sp>
              <p:nvSpPr>
                <p:cNvPr id="68" name="Oval 67">
                  <a:extLst>
                    <a:ext uri="{FF2B5EF4-FFF2-40B4-BE49-F238E27FC236}">
                      <a16:creationId xmlns:a16="http://schemas.microsoft.com/office/drawing/2014/main" id="{6F956514-53A2-AF4A-9BD5-BBB3D68A644F}"/>
                    </a:ext>
                  </a:extLst>
                </p:cNvPr>
                <p:cNvSpPr>
                  <a:spLocks noRot="1" noChangeAspect="1" noMove="1" noResize="1" noEditPoints="1" noAdjustHandles="1" noChangeArrowheads="1" noChangeShapeType="1" noTextEdit="1"/>
                </p:cNvSpPr>
                <p:nvPr/>
              </p:nvSpPr>
              <p:spPr>
                <a:xfrm>
                  <a:off x="7739910" y="1970511"/>
                  <a:ext cx="365760" cy="365760"/>
                </a:xfrm>
                <a:prstGeom prst="ellipse">
                  <a:avLst/>
                </a:prstGeom>
                <a:blipFill>
                  <a:blip r:embed="rId10"/>
                  <a:stretch>
                    <a:fillRect/>
                  </a:stretch>
                </a:blipFill>
              </p:spPr>
              <p:txBody>
                <a:bodyPr/>
                <a:lstStyle/>
                <a:p>
                  <a:r>
                    <a:rPr lang="en-US">
                      <a:noFill/>
                    </a:rPr>
                    <a:t> </a:t>
                  </a:r>
                </a:p>
              </p:txBody>
            </p:sp>
          </mc:Fallback>
        </mc:AlternateContent>
        <p:cxnSp>
          <p:nvCxnSpPr>
            <p:cNvPr id="69" name="Straight Arrow Connector 68">
              <a:extLst>
                <a:ext uri="{FF2B5EF4-FFF2-40B4-BE49-F238E27FC236}">
                  <a16:creationId xmlns:a16="http://schemas.microsoft.com/office/drawing/2014/main" id="{CFEC21B8-AEB9-2547-9983-CCFFBC72F5E4}"/>
                </a:ext>
              </a:extLst>
            </p:cNvPr>
            <p:cNvCxnSpPr>
              <a:cxnSpLocks/>
              <a:stCxn id="26" idx="6"/>
              <a:endCxn id="68" idx="2"/>
            </p:cNvCxnSpPr>
            <p:nvPr/>
          </p:nvCxnSpPr>
          <p:spPr>
            <a:xfrm>
              <a:off x="7356991" y="1509641"/>
              <a:ext cx="382919" cy="64375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0" name="Straight Arrow Connector 69">
              <a:extLst>
                <a:ext uri="{FF2B5EF4-FFF2-40B4-BE49-F238E27FC236}">
                  <a16:creationId xmlns:a16="http://schemas.microsoft.com/office/drawing/2014/main" id="{12B72A5D-C084-AD4C-8F2D-7164E92302C9}"/>
                </a:ext>
              </a:extLst>
            </p:cNvPr>
            <p:cNvCxnSpPr>
              <a:cxnSpLocks/>
              <a:stCxn id="27" idx="6"/>
              <a:endCxn id="68" idx="2"/>
            </p:cNvCxnSpPr>
            <p:nvPr/>
          </p:nvCxnSpPr>
          <p:spPr>
            <a:xfrm>
              <a:off x="7356991" y="1946127"/>
              <a:ext cx="382919" cy="20726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1" name="Straight Arrow Connector 70">
              <a:extLst>
                <a:ext uri="{FF2B5EF4-FFF2-40B4-BE49-F238E27FC236}">
                  <a16:creationId xmlns:a16="http://schemas.microsoft.com/office/drawing/2014/main" id="{E4BEBD56-5397-7A47-9BCE-0EAF67CF3FC9}"/>
                </a:ext>
              </a:extLst>
            </p:cNvPr>
            <p:cNvCxnSpPr>
              <a:cxnSpLocks/>
              <a:stCxn id="28" idx="6"/>
              <a:endCxn id="68" idx="2"/>
            </p:cNvCxnSpPr>
            <p:nvPr/>
          </p:nvCxnSpPr>
          <p:spPr>
            <a:xfrm flipV="1">
              <a:off x="7356991" y="2153391"/>
              <a:ext cx="382919" cy="22922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2" name="Straight Arrow Connector 71">
              <a:extLst>
                <a:ext uri="{FF2B5EF4-FFF2-40B4-BE49-F238E27FC236}">
                  <a16:creationId xmlns:a16="http://schemas.microsoft.com/office/drawing/2014/main" id="{29E30079-E946-584F-94E0-10EF1DD4B846}"/>
                </a:ext>
              </a:extLst>
            </p:cNvPr>
            <p:cNvCxnSpPr>
              <a:cxnSpLocks/>
              <a:stCxn id="29" idx="6"/>
              <a:endCxn id="68" idx="2"/>
            </p:cNvCxnSpPr>
            <p:nvPr/>
          </p:nvCxnSpPr>
          <p:spPr>
            <a:xfrm flipV="1">
              <a:off x="7356991" y="2153391"/>
              <a:ext cx="382919" cy="66570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3" name="Straight Arrow Connector 72">
              <a:extLst>
                <a:ext uri="{FF2B5EF4-FFF2-40B4-BE49-F238E27FC236}">
                  <a16:creationId xmlns:a16="http://schemas.microsoft.com/office/drawing/2014/main" id="{E82F657D-528E-AD4C-BCC4-0BF36784DD0A}"/>
                </a:ext>
              </a:extLst>
            </p:cNvPr>
            <p:cNvCxnSpPr>
              <a:cxnSpLocks/>
              <a:stCxn id="68" idx="6"/>
              <a:endCxn id="48" idx="2"/>
            </p:cNvCxnSpPr>
            <p:nvPr/>
          </p:nvCxnSpPr>
          <p:spPr>
            <a:xfrm>
              <a:off x="8105670" y="2153391"/>
              <a:ext cx="757502" cy="4158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4" name="Straight Arrow Connector 73">
              <a:extLst>
                <a:ext uri="{FF2B5EF4-FFF2-40B4-BE49-F238E27FC236}">
                  <a16:creationId xmlns:a16="http://schemas.microsoft.com/office/drawing/2014/main" id="{6BF5968B-09DF-B246-A381-31C26238BEDC}"/>
                </a:ext>
              </a:extLst>
            </p:cNvPr>
            <p:cNvCxnSpPr>
              <a:cxnSpLocks/>
              <a:stCxn id="68" idx="6"/>
              <a:endCxn id="47" idx="2"/>
            </p:cNvCxnSpPr>
            <p:nvPr/>
          </p:nvCxnSpPr>
          <p:spPr>
            <a:xfrm flipV="1">
              <a:off x="8105670" y="1883564"/>
              <a:ext cx="757503" cy="26982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5" name="Straight Arrow Connector 74">
              <a:extLst>
                <a:ext uri="{FF2B5EF4-FFF2-40B4-BE49-F238E27FC236}">
                  <a16:creationId xmlns:a16="http://schemas.microsoft.com/office/drawing/2014/main" id="{887B149A-8092-6C4F-9D11-51241A0AF8CE}"/>
                </a:ext>
              </a:extLst>
            </p:cNvPr>
            <p:cNvCxnSpPr>
              <a:cxnSpLocks/>
              <a:stCxn id="47" idx="6"/>
              <a:endCxn id="57" idx="1"/>
            </p:cNvCxnSpPr>
            <p:nvPr/>
          </p:nvCxnSpPr>
          <p:spPr>
            <a:xfrm>
              <a:off x="9485065" y="1883564"/>
              <a:ext cx="437945" cy="30992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6" name="Straight Arrow Connector 75">
              <a:extLst>
                <a:ext uri="{FF2B5EF4-FFF2-40B4-BE49-F238E27FC236}">
                  <a16:creationId xmlns:a16="http://schemas.microsoft.com/office/drawing/2014/main" id="{81B3B736-DF9B-C249-970A-B735BD1B1DE9}"/>
                </a:ext>
              </a:extLst>
            </p:cNvPr>
            <p:cNvCxnSpPr>
              <a:cxnSpLocks/>
              <a:stCxn id="48" idx="6"/>
              <a:endCxn id="57" idx="1"/>
            </p:cNvCxnSpPr>
            <p:nvPr/>
          </p:nvCxnSpPr>
          <p:spPr>
            <a:xfrm flipV="1">
              <a:off x="9485065" y="2193492"/>
              <a:ext cx="437945" cy="3757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7" name="Connector: Curved 161">
              <a:extLst>
                <a:ext uri="{FF2B5EF4-FFF2-40B4-BE49-F238E27FC236}">
                  <a16:creationId xmlns:a16="http://schemas.microsoft.com/office/drawing/2014/main" id="{912B34FF-A4DE-6D4E-80A7-1620E9AEE5E7}"/>
                </a:ext>
              </a:extLst>
            </p:cNvPr>
            <p:cNvCxnSpPr>
              <a:cxnSpLocks/>
              <a:stCxn id="57" idx="3"/>
              <a:endCxn id="55" idx="6"/>
            </p:cNvCxnSpPr>
            <p:nvPr/>
          </p:nvCxnSpPr>
          <p:spPr>
            <a:xfrm flipH="1">
              <a:off x="9590649" y="2193492"/>
              <a:ext cx="1821625" cy="1865251"/>
            </a:xfrm>
            <a:prstGeom prst="curvedConnector3">
              <a:avLst>
                <a:gd name="adj1" fmla="val -12549"/>
              </a:avLst>
            </a:prstGeom>
            <a:ln>
              <a:tailEnd type="triangle"/>
            </a:ln>
          </p:spPr>
          <p:style>
            <a:lnRef idx="1">
              <a:schemeClr val="dk1"/>
            </a:lnRef>
            <a:fillRef idx="0">
              <a:schemeClr val="dk1"/>
            </a:fillRef>
            <a:effectRef idx="0">
              <a:schemeClr val="dk1"/>
            </a:effectRef>
            <a:fontRef idx="minor">
              <a:schemeClr val="tx1"/>
            </a:fontRef>
          </p:style>
        </p:cxnSp>
        <p:sp>
          <p:nvSpPr>
            <p:cNvPr id="78" name="TextBox 77">
              <a:extLst>
                <a:ext uri="{FF2B5EF4-FFF2-40B4-BE49-F238E27FC236}">
                  <a16:creationId xmlns:a16="http://schemas.microsoft.com/office/drawing/2014/main" id="{D39F5D9D-52CD-DE4F-B977-9759D94170AF}"/>
                </a:ext>
              </a:extLst>
            </p:cNvPr>
            <p:cNvSpPr txBox="1"/>
            <p:nvPr/>
          </p:nvSpPr>
          <p:spPr>
            <a:xfrm>
              <a:off x="7656816" y="3108583"/>
              <a:ext cx="1225893" cy="461665"/>
            </a:xfrm>
            <a:prstGeom prst="rect">
              <a:avLst/>
            </a:prstGeom>
            <a:noFill/>
          </p:spPr>
          <p:txBody>
            <a:bodyPr wrap="square" rtlCol="0">
              <a:spAutoFit/>
            </a:bodyPr>
            <a:lstStyle/>
            <a:p>
              <a:pPr algn="ctr"/>
              <a:r>
                <a:rPr lang="en-US" sz="1200" b="1" dirty="0"/>
                <a:t>Boundary Conditions</a:t>
              </a:r>
            </a:p>
          </p:txBody>
        </p:sp>
        <p:sp>
          <p:nvSpPr>
            <p:cNvPr id="79" name="TextBox 78">
              <a:extLst>
                <a:ext uri="{FF2B5EF4-FFF2-40B4-BE49-F238E27FC236}">
                  <a16:creationId xmlns:a16="http://schemas.microsoft.com/office/drawing/2014/main" id="{C5280986-9EA0-8E4C-B604-634B35A43F03}"/>
                </a:ext>
              </a:extLst>
            </p:cNvPr>
            <p:cNvSpPr txBox="1"/>
            <p:nvPr/>
          </p:nvSpPr>
          <p:spPr>
            <a:xfrm>
              <a:off x="9590648" y="4021545"/>
              <a:ext cx="762700" cy="276999"/>
            </a:xfrm>
            <a:prstGeom prst="rect">
              <a:avLst/>
            </a:prstGeom>
            <a:noFill/>
          </p:spPr>
          <p:txBody>
            <a:bodyPr wrap="square" rtlCol="0">
              <a:spAutoFit/>
            </a:bodyPr>
            <a:lstStyle/>
            <a:p>
              <a:r>
                <a:rPr lang="en-US" sz="1200" b="1" dirty="0"/>
                <a:t>PDE</a:t>
              </a:r>
            </a:p>
          </p:txBody>
        </p:sp>
        <p:sp>
          <p:nvSpPr>
            <p:cNvPr id="80" name="Rectangle: Rounded Corners 113">
              <a:extLst>
                <a:ext uri="{FF2B5EF4-FFF2-40B4-BE49-F238E27FC236}">
                  <a16:creationId xmlns:a16="http://schemas.microsoft.com/office/drawing/2014/main" id="{5E278A86-CFB9-1647-8CA8-F9C1952B5596}"/>
                </a:ext>
              </a:extLst>
            </p:cNvPr>
            <p:cNvSpPr/>
            <p:nvPr/>
          </p:nvSpPr>
          <p:spPr>
            <a:xfrm>
              <a:off x="5678359" y="1275167"/>
              <a:ext cx="2693107" cy="1847020"/>
            </a:xfrm>
            <a:prstGeom prst="roundRect">
              <a:avLst>
                <a:gd name="adj" fmla="val 50000"/>
              </a:avLst>
            </a:prstGeom>
            <a:no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mc:AlternateContent xmlns:mc="http://schemas.openxmlformats.org/markup-compatibility/2006" xmlns:a14="http://schemas.microsoft.com/office/drawing/2010/main">
        <mc:Choice Requires="a14">
          <p:sp>
            <p:nvSpPr>
              <p:cNvPr id="81" name="Rectangle 80">
                <a:extLst>
                  <a:ext uri="{FF2B5EF4-FFF2-40B4-BE49-F238E27FC236}">
                    <a16:creationId xmlns:a16="http://schemas.microsoft.com/office/drawing/2014/main" id="{52A7DFEF-6EAE-0D48-B54A-B61F5398912B}"/>
                  </a:ext>
                </a:extLst>
              </p:cNvPr>
              <p:cNvSpPr/>
              <p:nvPr/>
            </p:nvSpPr>
            <p:spPr>
              <a:xfrm>
                <a:off x="343743" y="3085053"/>
                <a:ext cx="4027835" cy="1323439"/>
              </a:xfrm>
              <a:prstGeom prst="rect">
                <a:avLst/>
              </a:prstGeom>
            </p:spPr>
            <p:txBody>
              <a:bodyPr wrap="square">
                <a:spAutoFit/>
              </a:bodyPr>
              <a:lstStyle/>
              <a:p>
                <a:r>
                  <a:rPr lang="en-US" altLang="zh-CN" sz="2000" dirty="0"/>
                  <a:t>Use a </a:t>
                </a:r>
                <a:r>
                  <a:rPr lang="en-US" altLang="zh-CN" sz="2000" b="1" u="sng" dirty="0"/>
                  <a:t>neural network</a:t>
                </a:r>
                <a:r>
                  <a:rPr lang="en-US" altLang="zh-CN" sz="2000" dirty="0"/>
                  <a:t> to approximate the solution </a:t>
                </a:r>
                <a14:m>
                  <m:oMath xmlns:m="http://schemas.openxmlformats.org/officeDocument/2006/math">
                    <m:r>
                      <a:rPr lang="en-US" altLang="zh-CN" sz="2000" i="1">
                        <a:latin typeface="Cambria Math" panose="02040503050406030204" pitchFamily="18" charset="0"/>
                        <a:ea typeface="Cambria Math" panose="02040503050406030204" pitchFamily="18" charset="0"/>
                      </a:rPr>
                      <m:t>𝑢</m:t>
                    </m:r>
                    <m:d>
                      <m:dPr>
                        <m:ctrlPr>
                          <a:rPr lang="en-US" altLang="zh-CN" sz="2000" i="1">
                            <a:latin typeface="Cambria Math" panose="02040503050406030204" pitchFamily="18" charset="0"/>
                            <a:ea typeface="Cambria Math" panose="02040503050406030204" pitchFamily="18" charset="0"/>
                          </a:rPr>
                        </m:ctrlPr>
                      </m:dPr>
                      <m:e>
                        <m:r>
                          <a:rPr lang="en-US" altLang="zh-CN" sz="2000" i="1">
                            <a:latin typeface="Cambria Math" panose="02040503050406030204" pitchFamily="18" charset="0"/>
                            <a:ea typeface="Cambria Math" panose="02040503050406030204" pitchFamily="18" charset="0"/>
                          </a:rPr>
                          <m:t>𝑥</m:t>
                        </m:r>
                        <m:r>
                          <a:rPr lang="en-US" altLang="zh-CN" sz="2000" i="1">
                            <a:latin typeface="Cambria Math" panose="02040503050406030204" pitchFamily="18" charset="0"/>
                            <a:ea typeface="Cambria Math" panose="02040503050406030204" pitchFamily="18" charset="0"/>
                          </a:rPr>
                          <m:t>,</m:t>
                        </m:r>
                        <m:r>
                          <a:rPr lang="en-US" altLang="zh-CN" sz="2000" i="1">
                            <a:latin typeface="Cambria Math" panose="02040503050406030204" pitchFamily="18" charset="0"/>
                            <a:ea typeface="Cambria Math" panose="02040503050406030204" pitchFamily="18" charset="0"/>
                          </a:rPr>
                          <m:t>𝑡</m:t>
                        </m:r>
                      </m:e>
                    </m:d>
                  </m:oMath>
                </a14:m>
                <a:r>
                  <a:rPr lang="en-US" altLang="zh-CN" sz="2000" dirty="0">
                    <a:ea typeface="Cambria Math" panose="02040503050406030204" pitchFamily="18" charset="0"/>
                  </a:rPr>
                  <a:t>:</a:t>
                </a:r>
              </a:p>
              <a:p>
                <a:pPr marL="342900" indent="-342900">
                  <a:buFont typeface="Arial" panose="020B0604020202020204" pitchFamily="34" charset="0"/>
                  <a:buChar char="•"/>
                </a:pPr>
                <a:r>
                  <a:rPr lang="en-US" altLang="zh-CN" sz="2000" dirty="0">
                    <a:ea typeface="Cambria Math" panose="02040503050406030204" pitchFamily="18" charset="0"/>
                  </a:rPr>
                  <a:t>Input: </a:t>
                </a:r>
                <a14:m>
                  <m:oMath xmlns:m="http://schemas.openxmlformats.org/officeDocument/2006/math">
                    <m:r>
                      <a:rPr lang="en-US" altLang="zh-CN" sz="2000" i="1" smtClean="0">
                        <a:latin typeface="Cambria Math" panose="02040503050406030204" pitchFamily="18" charset="0"/>
                        <a:ea typeface="Cambria Math" panose="02040503050406030204" pitchFamily="18" charset="0"/>
                      </a:rPr>
                      <m:t>𝑥</m:t>
                    </m:r>
                  </m:oMath>
                </a14:m>
                <a:r>
                  <a:rPr lang="en-US" altLang="zh-CN" sz="2000" dirty="0">
                    <a:ea typeface="Cambria Math" panose="02040503050406030204" pitchFamily="18" charset="0"/>
                  </a:rPr>
                  <a:t> and </a:t>
                </a:r>
                <a14:m>
                  <m:oMath xmlns:m="http://schemas.openxmlformats.org/officeDocument/2006/math">
                    <m:r>
                      <a:rPr lang="en-US" altLang="zh-CN" sz="2000" i="1" smtClean="0">
                        <a:latin typeface="Cambria Math" panose="02040503050406030204" pitchFamily="18" charset="0"/>
                        <a:ea typeface="Cambria Math" panose="02040503050406030204" pitchFamily="18" charset="0"/>
                      </a:rPr>
                      <m:t>𝑡</m:t>
                    </m:r>
                  </m:oMath>
                </a14:m>
                <a:endParaRPr lang="en-US" altLang="zh-CN" sz="2000" dirty="0">
                  <a:ea typeface="Cambria Math" panose="02040503050406030204" pitchFamily="18" charset="0"/>
                </a:endParaRPr>
              </a:p>
              <a:p>
                <a:pPr marL="342900" indent="-342900">
                  <a:buFont typeface="Arial" panose="020B0604020202020204" pitchFamily="34" charset="0"/>
                  <a:buChar char="•"/>
                </a:pPr>
                <a:r>
                  <a:rPr lang="en-US" altLang="zh-CN" sz="2000" dirty="0">
                    <a:ea typeface="Cambria Math" panose="02040503050406030204" pitchFamily="18" charset="0"/>
                  </a:rPr>
                  <a:t>Output: </a:t>
                </a:r>
                <a14:m>
                  <m:oMath xmlns:m="http://schemas.openxmlformats.org/officeDocument/2006/math">
                    <m:r>
                      <a:rPr lang="en-US" altLang="zh-CN" sz="2000" i="1">
                        <a:latin typeface="Cambria Math" panose="02040503050406030204" pitchFamily="18" charset="0"/>
                        <a:ea typeface="Cambria Math" panose="02040503050406030204" pitchFamily="18" charset="0"/>
                      </a:rPr>
                      <m:t>𝑢</m:t>
                    </m:r>
                  </m:oMath>
                </a14:m>
                <a:r>
                  <a:rPr lang="en-US" altLang="zh-CN" sz="2000" dirty="0">
                    <a:ea typeface="Cambria Math" panose="02040503050406030204" pitchFamily="18" charset="0"/>
                  </a:rPr>
                  <a:t> at the given </a:t>
                </a:r>
                <a14:m>
                  <m:oMath xmlns:m="http://schemas.openxmlformats.org/officeDocument/2006/math">
                    <m:r>
                      <a:rPr lang="en-US" altLang="zh-CN" sz="2000" i="1">
                        <a:latin typeface="Cambria Math" panose="02040503050406030204" pitchFamily="18" charset="0"/>
                        <a:ea typeface="Cambria Math" panose="02040503050406030204" pitchFamily="18" charset="0"/>
                      </a:rPr>
                      <m:t>𝑥</m:t>
                    </m:r>
                  </m:oMath>
                </a14:m>
                <a:r>
                  <a:rPr lang="en-US" altLang="zh-CN" sz="2000" dirty="0">
                    <a:ea typeface="Cambria Math" panose="02040503050406030204" pitchFamily="18" charset="0"/>
                  </a:rPr>
                  <a:t> and </a:t>
                </a:r>
                <a14:m>
                  <m:oMath xmlns:m="http://schemas.openxmlformats.org/officeDocument/2006/math">
                    <m:r>
                      <a:rPr lang="en-US" altLang="zh-CN" sz="2000" i="1">
                        <a:latin typeface="Cambria Math" panose="02040503050406030204" pitchFamily="18" charset="0"/>
                        <a:ea typeface="Cambria Math" panose="02040503050406030204" pitchFamily="18" charset="0"/>
                      </a:rPr>
                      <m:t>𝑡</m:t>
                    </m:r>
                  </m:oMath>
                </a14:m>
                <a:endParaRPr lang="en-US" altLang="zh-CN" sz="2000" dirty="0">
                  <a:ea typeface="Cambria Math" panose="02040503050406030204" pitchFamily="18" charset="0"/>
                </a:endParaRPr>
              </a:p>
            </p:txBody>
          </p:sp>
        </mc:Choice>
        <mc:Fallback xmlns="">
          <p:sp>
            <p:nvSpPr>
              <p:cNvPr id="81" name="Rectangle 80">
                <a:extLst>
                  <a:ext uri="{FF2B5EF4-FFF2-40B4-BE49-F238E27FC236}">
                    <a16:creationId xmlns:a16="http://schemas.microsoft.com/office/drawing/2014/main" id="{52A7DFEF-6EAE-0D48-B54A-B61F5398912B}"/>
                  </a:ext>
                </a:extLst>
              </p:cNvPr>
              <p:cNvSpPr>
                <a:spLocks noRot="1" noChangeAspect="1" noMove="1" noResize="1" noEditPoints="1" noAdjustHandles="1" noChangeArrowheads="1" noChangeShapeType="1" noTextEdit="1"/>
              </p:cNvSpPr>
              <p:nvPr/>
            </p:nvSpPr>
            <p:spPr>
              <a:xfrm>
                <a:off x="343743" y="3085053"/>
                <a:ext cx="4027835" cy="1323439"/>
              </a:xfrm>
              <a:prstGeom prst="rect">
                <a:avLst/>
              </a:prstGeom>
              <a:blipFill>
                <a:blip r:embed="rId12"/>
                <a:stretch>
                  <a:fillRect l="-1258" t="-1905"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2" name="Rectangle 81">
                <a:extLst>
                  <a:ext uri="{FF2B5EF4-FFF2-40B4-BE49-F238E27FC236}">
                    <a16:creationId xmlns:a16="http://schemas.microsoft.com/office/drawing/2014/main" id="{8D0EEEC7-2D4C-2743-9BCB-367078A91D25}"/>
                  </a:ext>
                </a:extLst>
              </p:cNvPr>
              <p:cNvSpPr/>
              <p:nvPr/>
            </p:nvSpPr>
            <p:spPr>
              <a:xfrm>
                <a:off x="365266" y="4587090"/>
                <a:ext cx="4899411" cy="2081467"/>
              </a:xfrm>
              <a:prstGeom prst="rect">
                <a:avLst/>
              </a:prstGeom>
            </p:spPr>
            <p:txBody>
              <a:bodyPr wrap="square">
                <a:spAutoFit/>
              </a:bodyPr>
              <a:lstStyle/>
              <a:p>
                <a:r>
                  <a:rPr lang="en-US" altLang="zh-CN" sz="2000" dirty="0"/>
                  <a:t>To force the NN approximate the solution, we need train the NN using:</a:t>
                </a:r>
                <a:endParaRPr lang="en-US" altLang="zh-CN" sz="2000" dirty="0">
                  <a:ea typeface="Cambria Math" panose="02040503050406030204" pitchFamily="18" charset="0"/>
                </a:endParaRPr>
              </a:p>
              <a:p>
                <a:pPr marL="342900" indent="-342900">
                  <a:buFont typeface="Arial" panose="020B0604020202020204" pitchFamily="34" charset="0"/>
                  <a:buChar char="•"/>
                </a:pPr>
                <a:r>
                  <a:rPr lang="en-US" altLang="zh-CN" sz="2000" dirty="0">
                    <a:ea typeface="Cambria Math" panose="02040503050406030204" pitchFamily="18" charset="0"/>
                  </a:rPr>
                  <a:t>PDE: at </a:t>
                </a:r>
                <a14:m>
                  <m:oMath xmlns:m="http://schemas.openxmlformats.org/officeDocument/2006/math">
                    <m:d>
                      <m:dPr>
                        <m:ctrlPr>
                          <a:rPr lang="en-US" altLang="zh-CN" sz="2000" b="0" i="1" smtClean="0">
                            <a:latin typeface="Cambria Math" panose="02040503050406030204" pitchFamily="18" charset="0"/>
                            <a:ea typeface="Cambria Math" panose="02040503050406030204" pitchFamily="18" charset="0"/>
                          </a:rPr>
                        </m:ctrlPr>
                      </m:dPr>
                      <m:e>
                        <m:sSup>
                          <m:sSupPr>
                            <m:ctrlPr>
                              <a:rPr lang="en-US" altLang="zh-CN" sz="2000" b="0" i="1" smtClean="0">
                                <a:latin typeface="Cambria Math" panose="02040503050406030204" pitchFamily="18" charset="0"/>
                                <a:ea typeface="Cambria Math" panose="02040503050406030204" pitchFamily="18" charset="0"/>
                              </a:rPr>
                            </m:ctrlPr>
                          </m:sSupPr>
                          <m:e>
                            <m:r>
                              <a:rPr lang="en-US" altLang="zh-CN" sz="2000" b="0" i="1" smtClean="0">
                                <a:latin typeface="Cambria Math" panose="02040503050406030204" pitchFamily="18" charset="0"/>
                                <a:ea typeface="Cambria Math" panose="02040503050406030204" pitchFamily="18" charset="0"/>
                              </a:rPr>
                              <m:t>𝑥</m:t>
                            </m:r>
                          </m:e>
                          <m:sup>
                            <m:d>
                              <m:dPr>
                                <m:ctrlPr>
                                  <a:rPr lang="en-US" altLang="zh-CN" sz="2000" b="0" i="1" smtClean="0">
                                    <a:latin typeface="Cambria Math" panose="02040503050406030204" pitchFamily="18" charset="0"/>
                                    <a:ea typeface="Cambria Math" panose="02040503050406030204" pitchFamily="18" charset="0"/>
                                  </a:rPr>
                                </m:ctrlPr>
                              </m:dPr>
                              <m:e>
                                <m:r>
                                  <a:rPr lang="en-US" altLang="zh-CN" sz="2000" b="0" i="1" smtClean="0">
                                    <a:latin typeface="Cambria Math" panose="02040503050406030204" pitchFamily="18" charset="0"/>
                                    <a:ea typeface="Cambria Math" panose="02040503050406030204" pitchFamily="18" charset="0"/>
                                  </a:rPr>
                                  <m:t>𝑖</m:t>
                                </m:r>
                              </m:e>
                            </m:d>
                          </m:sup>
                        </m:sSup>
                        <m:r>
                          <a:rPr lang="en-US" altLang="zh-CN" sz="2000" b="0" i="1" smtClean="0">
                            <a:latin typeface="Cambria Math" panose="02040503050406030204" pitchFamily="18" charset="0"/>
                            <a:ea typeface="Cambria Math" panose="02040503050406030204" pitchFamily="18" charset="0"/>
                          </a:rPr>
                          <m:t>,</m:t>
                        </m:r>
                        <m:sSup>
                          <m:sSupPr>
                            <m:ctrlPr>
                              <a:rPr lang="en-US" altLang="zh-CN" sz="2000" i="1">
                                <a:latin typeface="Cambria Math" panose="02040503050406030204" pitchFamily="18" charset="0"/>
                                <a:ea typeface="Cambria Math" panose="02040503050406030204" pitchFamily="18" charset="0"/>
                              </a:rPr>
                            </m:ctrlPr>
                          </m:sSupPr>
                          <m:e>
                            <m:r>
                              <a:rPr lang="en-US" altLang="zh-CN" sz="2000" b="0" i="1" smtClean="0">
                                <a:latin typeface="Cambria Math" panose="02040503050406030204" pitchFamily="18" charset="0"/>
                                <a:ea typeface="Cambria Math" panose="02040503050406030204" pitchFamily="18" charset="0"/>
                              </a:rPr>
                              <m:t>𝑡</m:t>
                            </m:r>
                          </m:e>
                          <m:sup>
                            <m:d>
                              <m:dPr>
                                <m:ctrlPr>
                                  <a:rPr lang="en-US" altLang="zh-CN" sz="2000" i="1">
                                    <a:latin typeface="Cambria Math" panose="02040503050406030204" pitchFamily="18" charset="0"/>
                                    <a:ea typeface="Cambria Math" panose="02040503050406030204" pitchFamily="18" charset="0"/>
                                  </a:rPr>
                                </m:ctrlPr>
                              </m:dPr>
                              <m:e>
                                <m:r>
                                  <a:rPr lang="en-US" altLang="zh-CN" sz="2000" i="1">
                                    <a:latin typeface="Cambria Math" panose="02040503050406030204" pitchFamily="18" charset="0"/>
                                    <a:ea typeface="Cambria Math" panose="02040503050406030204" pitchFamily="18" charset="0"/>
                                  </a:rPr>
                                  <m:t>𝑖</m:t>
                                </m:r>
                              </m:e>
                            </m:d>
                          </m:sup>
                        </m:sSup>
                      </m:e>
                    </m:d>
                  </m:oMath>
                </a14:m>
                <a:r>
                  <a:rPr lang="en-US" altLang="zh-CN" sz="2000" dirty="0">
                    <a:ea typeface="Cambria Math" panose="02040503050406030204" pitchFamily="18" charset="0"/>
                  </a:rPr>
                  <a:t>, the residual </a:t>
                </a:r>
                <a14:m>
                  <m:oMath xmlns:m="http://schemas.openxmlformats.org/officeDocument/2006/math">
                    <m:sSup>
                      <m:sSupPr>
                        <m:ctrlPr>
                          <a:rPr lang="en-US" altLang="zh-CN" sz="2000" b="0" i="1" smtClean="0">
                            <a:latin typeface="Cambria Math" panose="02040503050406030204" pitchFamily="18" charset="0"/>
                            <a:ea typeface="Cambria Math" panose="02040503050406030204" pitchFamily="18" charset="0"/>
                          </a:rPr>
                        </m:ctrlPr>
                      </m:sSupPr>
                      <m:e>
                        <m:r>
                          <a:rPr lang="en-US" altLang="zh-CN" sz="2000" b="0" i="1" smtClean="0">
                            <a:latin typeface="Cambria Math" panose="02040503050406030204" pitchFamily="18" charset="0"/>
                            <a:ea typeface="Cambria Math" panose="02040503050406030204" pitchFamily="18" charset="0"/>
                          </a:rPr>
                          <m:t>𝑓</m:t>
                        </m:r>
                      </m:e>
                      <m:sup>
                        <m:d>
                          <m:dPr>
                            <m:ctrlPr>
                              <a:rPr lang="en-US" altLang="zh-CN" sz="2000" b="0" i="1" smtClean="0">
                                <a:latin typeface="Cambria Math" panose="02040503050406030204" pitchFamily="18" charset="0"/>
                                <a:ea typeface="Cambria Math" panose="02040503050406030204" pitchFamily="18" charset="0"/>
                              </a:rPr>
                            </m:ctrlPr>
                          </m:dPr>
                          <m:e>
                            <m:r>
                              <a:rPr lang="en-US" altLang="zh-CN" sz="2000" i="1">
                                <a:latin typeface="Cambria Math" panose="02040503050406030204" pitchFamily="18" charset="0"/>
                                <a:ea typeface="Cambria Math" panose="02040503050406030204" pitchFamily="18" charset="0"/>
                              </a:rPr>
                              <m:t>𝑖</m:t>
                            </m:r>
                          </m:e>
                        </m:d>
                      </m:sup>
                    </m:sSup>
                    <m:r>
                      <a:rPr lang="en-US" altLang="zh-CN" sz="2000" i="1">
                        <a:latin typeface="Cambria Math" panose="02040503050406030204" pitchFamily="18" charset="0"/>
                        <a:ea typeface="Cambria Math" panose="02040503050406030204" pitchFamily="18" charset="0"/>
                      </a:rPr>
                      <m:t>=0</m:t>
                    </m:r>
                  </m:oMath>
                </a14:m>
                <a:endParaRPr lang="en-US" altLang="zh-CN" sz="2000" dirty="0">
                  <a:ea typeface="Cambria Math" panose="02040503050406030204" pitchFamily="18" charset="0"/>
                </a:endParaRPr>
              </a:p>
              <a:p>
                <a:pPr marL="342900" indent="-342900">
                  <a:buFont typeface="Arial" panose="020B0604020202020204" pitchFamily="34" charset="0"/>
                  <a:buChar char="•"/>
                </a:pPr>
                <a:r>
                  <a:rPr lang="en-US" altLang="zh-CN" sz="2000" dirty="0">
                    <a:ea typeface="Cambria Math" panose="02040503050406030204" pitchFamily="18" charset="0"/>
                  </a:rPr>
                  <a:t>Boundary conditions: at </a:t>
                </a:r>
                <a14:m>
                  <m:oMath xmlns:m="http://schemas.openxmlformats.org/officeDocument/2006/math">
                    <m:d>
                      <m:dPr>
                        <m:ctrlPr>
                          <a:rPr lang="en-US" altLang="zh-CN" sz="2000" i="1">
                            <a:latin typeface="Cambria Math" panose="02040503050406030204" pitchFamily="18" charset="0"/>
                            <a:ea typeface="Cambria Math" panose="02040503050406030204" pitchFamily="18" charset="0"/>
                          </a:rPr>
                        </m:ctrlPr>
                      </m:dPr>
                      <m:e>
                        <m:sSup>
                          <m:sSupPr>
                            <m:ctrlPr>
                              <a:rPr lang="en-US" altLang="zh-CN" sz="2000" i="1" smtClean="0">
                                <a:latin typeface="Cambria Math" panose="02040503050406030204" pitchFamily="18" charset="0"/>
                                <a:ea typeface="Cambria Math" panose="02040503050406030204" pitchFamily="18" charset="0"/>
                              </a:rPr>
                            </m:ctrlPr>
                          </m:sSupPr>
                          <m:e>
                            <m:r>
                              <a:rPr lang="en-US" altLang="zh-CN" sz="2000" i="1">
                                <a:latin typeface="Cambria Math" panose="02040503050406030204" pitchFamily="18" charset="0"/>
                                <a:ea typeface="Cambria Math" panose="02040503050406030204" pitchFamily="18" charset="0"/>
                              </a:rPr>
                              <m:t>𝑥</m:t>
                            </m:r>
                          </m:e>
                          <m:sup>
                            <m:d>
                              <m:dPr>
                                <m:ctrlPr>
                                  <a:rPr lang="en-US" altLang="zh-CN" sz="2000" i="1">
                                    <a:latin typeface="Cambria Math" panose="02040503050406030204" pitchFamily="18" charset="0"/>
                                    <a:ea typeface="Cambria Math" panose="02040503050406030204" pitchFamily="18" charset="0"/>
                                  </a:rPr>
                                </m:ctrlPr>
                              </m:dPr>
                              <m:e>
                                <m:r>
                                  <a:rPr lang="en-US" altLang="zh-CN" sz="2000" b="0" i="1" smtClean="0">
                                    <a:latin typeface="Cambria Math" panose="02040503050406030204" pitchFamily="18" charset="0"/>
                                    <a:ea typeface="Cambria Math" panose="02040503050406030204" pitchFamily="18" charset="0"/>
                                  </a:rPr>
                                  <m:t>𝑗</m:t>
                                </m:r>
                              </m:e>
                            </m:d>
                          </m:sup>
                        </m:sSup>
                        <m:r>
                          <a:rPr lang="en-US" altLang="zh-CN" sz="2000" i="1">
                            <a:latin typeface="Cambria Math" panose="02040503050406030204" pitchFamily="18" charset="0"/>
                            <a:ea typeface="Cambria Math" panose="02040503050406030204" pitchFamily="18" charset="0"/>
                          </a:rPr>
                          <m:t>,</m:t>
                        </m:r>
                        <m:r>
                          <a:rPr lang="en-US" altLang="zh-CN" sz="2000" b="0" i="1" smtClean="0">
                            <a:latin typeface="Cambria Math" panose="02040503050406030204" pitchFamily="18" charset="0"/>
                            <a:ea typeface="Cambria Math" panose="02040503050406030204" pitchFamily="18" charset="0"/>
                          </a:rPr>
                          <m:t>0</m:t>
                        </m:r>
                      </m:e>
                    </m:d>
                  </m:oMath>
                </a14:m>
                <a:r>
                  <a:rPr lang="en-US" altLang="zh-CN" sz="2000" dirty="0">
                    <a:ea typeface="Cambria Math" panose="02040503050406030204" pitchFamily="18" charset="0"/>
                  </a:rPr>
                  <a:t>, the displacement </a:t>
                </a:r>
                <a14:m>
                  <m:oMath xmlns:m="http://schemas.openxmlformats.org/officeDocument/2006/math">
                    <m:sSup>
                      <m:sSupPr>
                        <m:ctrlPr>
                          <a:rPr lang="en-US" altLang="zh-CN" sz="2000" i="1">
                            <a:latin typeface="Cambria Math" panose="02040503050406030204" pitchFamily="18" charset="0"/>
                            <a:ea typeface="Cambria Math" panose="02040503050406030204" pitchFamily="18" charset="0"/>
                          </a:rPr>
                        </m:ctrlPr>
                      </m:sSupPr>
                      <m:e>
                        <m:r>
                          <a:rPr lang="en-US" altLang="zh-CN" sz="2000" b="0" i="1" smtClean="0">
                            <a:latin typeface="Cambria Math" panose="02040503050406030204" pitchFamily="18" charset="0"/>
                            <a:ea typeface="Cambria Math" panose="02040503050406030204" pitchFamily="18" charset="0"/>
                          </a:rPr>
                          <m:t>𝑢</m:t>
                        </m:r>
                      </m:e>
                      <m:sup>
                        <m:d>
                          <m:dPr>
                            <m:ctrlPr>
                              <a:rPr lang="en-US" altLang="zh-CN" sz="2000" i="1">
                                <a:latin typeface="Cambria Math" panose="02040503050406030204" pitchFamily="18" charset="0"/>
                                <a:ea typeface="Cambria Math" panose="02040503050406030204" pitchFamily="18" charset="0"/>
                              </a:rPr>
                            </m:ctrlPr>
                          </m:dPr>
                          <m:e>
                            <m:r>
                              <a:rPr lang="en-US" altLang="zh-CN" sz="2000" i="1">
                                <a:latin typeface="Cambria Math" panose="02040503050406030204" pitchFamily="18" charset="0"/>
                                <a:ea typeface="Cambria Math" panose="02040503050406030204" pitchFamily="18" charset="0"/>
                              </a:rPr>
                              <m:t>𝑗</m:t>
                            </m:r>
                          </m:e>
                        </m:d>
                      </m:sup>
                    </m:sSup>
                    <m:r>
                      <a:rPr lang="en-US" altLang="zh-CN" sz="2000" b="0" i="1" smtClean="0">
                        <a:latin typeface="Cambria Math" panose="02040503050406030204" pitchFamily="18" charset="0"/>
                        <a:ea typeface="Cambria Math" panose="02040503050406030204" pitchFamily="18" charset="0"/>
                      </a:rPr>
                      <m:t>=</m:t>
                    </m:r>
                    <m:func>
                      <m:funcPr>
                        <m:ctrlPr>
                          <a:rPr lang="en-US" altLang="zh-CN" sz="2000" i="1">
                            <a:latin typeface="Cambria Math" panose="02040503050406030204" pitchFamily="18" charset="0"/>
                            <a:ea typeface="Cambria Math" panose="02040503050406030204" pitchFamily="18" charset="0"/>
                          </a:rPr>
                        </m:ctrlPr>
                      </m:funcPr>
                      <m:fName>
                        <m:r>
                          <m:rPr>
                            <m:sty m:val="p"/>
                          </m:rPr>
                          <a:rPr lang="en-US" altLang="zh-CN" sz="2000">
                            <a:latin typeface="Cambria Math" panose="02040503050406030204" pitchFamily="18" charset="0"/>
                            <a:ea typeface="Cambria Math" panose="02040503050406030204" pitchFamily="18" charset="0"/>
                          </a:rPr>
                          <m:t>sin</m:t>
                        </m:r>
                      </m:fName>
                      <m:e>
                        <m:r>
                          <a:rPr lang="en-US" altLang="zh-CN" sz="2000" i="1">
                            <a:latin typeface="Cambria Math" panose="02040503050406030204" pitchFamily="18" charset="0"/>
                            <a:ea typeface="Cambria Math" panose="02040503050406030204" pitchFamily="18" charset="0"/>
                          </a:rPr>
                          <m:t>3</m:t>
                        </m:r>
                        <m:sSup>
                          <m:sSupPr>
                            <m:ctrlPr>
                              <a:rPr lang="en-US" altLang="zh-CN" sz="2000" i="1">
                                <a:latin typeface="Cambria Math" panose="02040503050406030204" pitchFamily="18" charset="0"/>
                                <a:ea typeface="Cambria Math" panose="02040503050406030204" pitchFamily="18" charset="0"/>
                              </a:rPr>
                            </m:ctrlPr>
                          </m:sSupPr>
                          <m:e>
                            <m:r>
                              <a:rPr lang="en-US" altLang="zh-CN" sz="2000" i="1">
                                <a:latin typeface="Cambria Math" panose="02040503050406030204" pitchFamily="18" charset="0"/>
                                <a:ea typeface="Cambria Math" panose="02040503050406030204" pitchFamily="18" charset="0"/>
                              </a:rPr>
                              <m:t>𝑥</m:t>
                            </m:r>
                          </m:e>
                          <m:sup>
                            <m:d>
                              <m:dPr>
                                <m:ctrlPr>
                                  <a:rPr lang="en-US" altLang="zh-CN" sz="2000" i="1">
                                    <a:latin typeface="Cambria Math" panose="02040503050406030204" pitchFamily="18" charset="0"/>
                                    <a:ea typeface="Cambria Math" panose="02040503050406030204" pitchFamily="18" charset="0"/>
                                  </a:rPr>
                                </m:ctrlPr>
                              </m:dPr>
                              <m:e>
                                <m:r>
                                  <a:rPr lang="en-US" altLang="zh-CN" sz="2000" i="1">
                                    <a:latin typeface="Cambria Math" panose="02040503050406030204" pitchFamily="18" charset="0"/>
                                    <a:ea typeface="Cambria Math" panose="02040503050406030204" pitchFamily="18" charset="0"/>
                                  </a:rPr>
                                  <m:t>𝑗</m:t>
                                </m:r>
                              </m:e>
                            </m:d>
                          </m:sup>
                        </m:sSup>
                      </m:e>
                    </m:func>
                  </m:oMath>
                </a14:m>
                <a:endParaRPr lang="en-US" altLang="zh-CN" sz="2000" dirty="0">
                  <a:ea typeface="Cambria Math" panose="02040503050406030204" pitchFamily="18" charset="0"/>
                </a:endParaRPr>
              </a:p>
              <a:p>
                <a:pPr marL="342900" indent="-342900">
                  <a:buFont typeface="Arial" panose="020B0604020202020204" pitchFamily="34" charset="0"/>
                  <a:buChar char="•"/>
                </a:pPr>
                <a:endParaRPr lang="en-US" altLang="zh-CN" sz="2000" dirty="0">
                  <a:ea typeface="Cambria Math" panose="02040503050406030204" pitchFamily="18" charset="0"/>
                </a:endParaRPr>
              </a:p>
            </p:txBody>
          </p:sp>
        </mc:Choice>
        <mc:Fallback xmlns="">
          <p:sp>
            <p:nvSpPr>
              <p:cNvPr id="82" name="Rectangle 81">
                <a:extLst>
                  <a:ext uri="{FF2B5EF4-FFF2-40B4-BE49-F238E27FC236}">
                    <a16:creationId xmlns:a16="http://schemas.microsoft.com/office/drawing/2014/main" id="{8D0EEEC7-2D4C-2743-9BCB-367078A91D25}"/>
                  </a:ext>
                </a:extLst>
              </p:cNvPr>
              <p:cNvSpPr>
                <a:spLocks noRot="1" noChangeAspect="1" noMove="1" noResize="1" noEditPoints="1" noAdjustHandles="1" noChangeArrowheads="1" noChangeShapeType="1" noTextEdit="1"/>
              </p:cNvSpPr>
              <p:nvPr/>
            </p:nvSpPr>
            <p:spPr>
              <a:xfrm>
                <a:off x="365266" y="4587090"/>
                <a:ext cx="4899411" cy="2081467"/>
              </a:xfrm>
              <a:prstGeom prst="rect">
                <a:avLst/>
              </a:prstGeom>
              <a:blipFill>
                <a:blip r:embed="rId13"/>
                <a:stretch>
                  <a:fillRect l="-1292" t="-1212" r="-155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83" name="Rectangle 82">
                <a:extLst>
                  <a:ext uri="{FF2B5EF4-FFF2-40B4-BE49-F238E27FC236}">
                    <a16:creationId xmlns:a16="http://schemas.microsoft.com/office/drawing/2014/main" id="{59738120-FFC0-BA45-9B30-686EAF972065}"/>
                  </a:ext>
                </a:extLst>
              </p:cNvPr>
              <p:cNvSpPr/>
              <p:nvPr/>
            </p:nvSpPr>
            <p:spPr>
              <a:xfrm>
                <a:off x="6000168" y="4853413"/>
                <a:ext cx="5351818" cy="1181862"/>
              </a:xfrm>
              <a:prstGeom prst="rect">
                <a:avLst/>
              </a:prstGeom>
              <a:ln w="19050">
                <a:solidFill>
                  <a:schemeClr val="tx1"/>
                </a:solidFill>
              </a:ln>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zh-CN" sz="2000" b="0" i="0" smtClean="0">
                          <a:latin typeface="Cambria Math" panose="02040503050406030204" pitchFamily="18" charset="0"/>
                          <a:ea typeface="Cambria Math" panose="02040503050406030204" pitchFamily="18" charset="0"/>
                        </a:rPr>
                        <m:t>Loss</m:t>
                      </m:r>
                      <m:r>
                        <a:rPr lang="en-US" altLang="zh-CN" sz="2000" b="0" i="1" smtClean="0">
                          <a:latin typeface="Cambria Math" panose="02040503050406030204" pitchFamily="18" charset="0"/>
                          <a:ea typeface="Cambria Math" panose="02040503050406030204" pitchFamily="18" charset="0"/>
                        </a:rPr>
                        <m:t>=</m:t>
                      </m:r>
                      <m:f>
                        <m:fPr>
                          <m:ctrlPr>
                            <a:rPr lang="en-US" altLang="zh-CN" sz="2000" b="0" i="1" smtClean="0">
                              <a:latin typeface="Cambria Math" panose="02040503050406030204" pitchFamily="18" charset="0"/>
                              <a:ea typeface="Cambria Math" panose="02040503050406030204" pitchFamily="18" charset="0"/>
                            </a:rPr>
                          </m:ctrlPr>
                        </m:fPr>
                        <m:num>
                          <m:r>
                            <a:rPr lang="en-US" altLang="zh-CN" sz="2000" b="0" i="1" smtClean="0">
                              <a:latin typeface="Cambria Math" panose="02040503050406030204" pitchFamily="18" charset="0"/>
                              <a:ea typeface="Cambria Math" panose="02040503050406030204" pitchFamily="18" charset="0"/>
                            </a:rPr>
                            <m:t>1</m:t>
                          </m:r>
                        </m:num>
                        <m:den>
                          <m:sSub>
                            <m:sSubPr>
                              <m:ctrlPr>
                                <a:rPr lang="en-US" altLang="zh-CN" sz="2000" b="0" i="1" smtClean="0">
                                  <a:latin typeface="Cambria Math" panose="02040503050406030204" pitchFamily="18" charset="0"/>
                                  <a:ea typeface="Cambria Math" panose="02040503050406030204" pitchFamily="18" charset="0"/>
                                </a:rPr>
                              </m:ctrlPr>
                            </m:sSubPr>
                            <m:e>
                              <m:r>
                                <a:rPr lang="en-US" altLang="zh-CN" sz="2000" b="0" i="1" smtClean="0">
                                  <a:latin typeface="Cambria Math" panose="02040503050406030204" pitchFamily="18" charset="0"/>
                                  <a:ea typeface="Cambria Math" panose="02040503050406030204" pitchFamily="18" charset="0"/>
                                </a:rPr>
                                <m:t>𝑁</m:t>
                              </m:r>
                            </m:e>
                            <m:sub>
                              <m:r>
                                <a:rPr lang="en-US" altLang="zh-CN" sz="2000" b="0" i="1" smtClean="0">
                                  <a:latin typeface="Cambria Math" panose="02040503050406030204" pitchFamily="18" charset="0"/>
                                  <a:ea typeface="Cambria Math" panose="02040503050406030204" pitchFamily="18" charset="0"/>
                                </a:rPr>
                                <m:t>𝑖</m:t>
                              </m:r>
                            </m:sub>
                          </m:sSub>
                        </m:den>
                      </m:f>
                      <m:nary>
                        <m:naryPr>
                          <m:chr m:val="∑"/>
                          <m:supHide m:val="on"/>
                          <m:ctrlPr>
                            <a:rPr lang="en-US" altLang="zh-CN" sz="2000" b="0" i="1" smtClean="0">
                              <a:latin typeface="Cambria Math" panose="02040503050406030204" pitchFamily="18" charset="0"/>
                              <a:ea typeface="Cambria Math" panose="02040503050406030204" pitchFamily="18" charset="0"/>
                            </a:rPr>
                          </m:ctrlPr>
                        </m:naryPr>
                        <m:sub>
                          <m:r>
                            <a:rPr lang="en-US" altLang="zh-CN" sz="2000" b="0" i="1" smtClean="0">
                              <a:latin typeface="Cambria Math" panose="02040503050406030204" pitchFamily="18" charset="0"/>
                              <a:ea typeface="Cambria Math" panose="02040503050406030204" pitchFamily="18" charset="0"/>
                            </a:rPr>
                            <m:t>𝑖</m:t>
                          </m:r>
                        </m:sub>
                        <m:sup/>
                        <m:e>
                          <m:sSup>
                            <m:sSupPr>
                              <m:ctrlPr>
                                <a:rPr lang="en-US" altLang="zh-CN" sz="2000" b="0" i="1" smtClean="0">
                                  <a:latin typeface="Cambria Math" panose="02040503050406030204" pitchFamily="18" charset="0"/>
                                  <a:ea typeface="Cambria Math" panose="02040503050406030204" pitchFamily="18" charset="0"/>
                                </a:rPr>
                              </m:ctrlPr>
                            </m:sSupPr>
                            <m:e>
                              <m:d>
                                <m:dPr>
                                  <m:ctrlPr>
                                    <a:rPr lang="en-US" altLang="zh-CN" sz="2000" b="0" i="1" smtClean="0">
                                      <a:latin typeface="Cambria Math" panose="02040503050406030204" pitchFamily="18" charset="0"/>
                                      <a:ea typeface="Cambria Math" panose="02040503050406030204" pitchFamily="18" charset="0"/>
                                    </a:rPr>
                                  </m:ctrlPr>
                                </m:dPr>
                                <m:e>
                                  <m:sSup>
                                    <m:sSupPr>
                                      <m:ctrlPr>
                                        <a:rPr lang="en-US" altLang="zh-CN" sz="2000" i="1">
                                          <a:latin typeface="Cambria Math" panose="02040503050406030204" pitchFamily="18" charset="0"/>
                                          <a:ea typeface="Cambria Math" panose="02040503050406030204" pitchFamily="18" charset="0"/>
                                        </a:rPr>
                                      </m:ctrlPr>
                                    </m:sSupPr>
                                    <m:e>
                                      <m:r>
                                        <a:rPr lang="en-US" altLang="zh-CN" sz="2000" i="1">
                                          <a:latin typeface="Cambria Math" panose="02040503050406030204" pitchFamily="18" charset="0"/>
                                          <a:ea typeface="Cambria Math" panose="02040503050406030204" pitchFamily="18" charset="0"/>
                                        </a:rPr>
                                        <m:t>𝑓</m:t>
                                      </m:r>
                                    </m:e>
                                    <m:sup>
                                      <m:d>
                                        <m:dPr>
                                          <m:ctrlPr>
                                            <a:rPr lang="en-US" altLang="zh-CN" sz="2000" i="1">
                                              <a:latin typeface="Cambria Math" panose="02040503050406030204" pitchFamily="18" charset="0"/>
                                              <a:ea typeface="Cambria Math" panose="02040503050406030204" pitchFamily="18" charset="0"/>
                                            </a:rPr>
                                          </m:ctrlPr>
                                        </m:dPr>
                                        <m:e>
                                          <m:r>
                                            <a:rPr lang="en-US" altLang="zh-CN" sz="2000" i="1">
                                              <a:latin typeface="Cambria Math" panose="02040503050406030204" pitchFamily="18" charset="0"/>
                                              <a:ea typeface="Cambria Math" panose="02040503050406030204" pitchFamily="18" charset="0"/>
                                            </a:rPr>
                                            <m:t>𝑖</m:t>
                                          </m:r>
                                        </m:e>
                                      </m:d>
                                    </m:sup>
                                  </m:sSup>
                                </m:e>
                              </m:d>
                            </m:e>
                            <m:sup>
                              <m:r>
                                <a:rPr lang="en-US" altLang="zh-CN" sz="2000" b="0" i="1" smtClean="0">
                                  <a:latin typeface="Cambria Math" panose="02040503050406030204" pitchFamily="18" charset="0"/>
                                  <a:ea typeface="Cambria Math" panose="02040503050406030204" pitchFamily="18" charset="0"/>
                                </a:rPr>
                                <m:t>2</m:t>
                              </m:r>
                            </m:sup>
                          </m:sSup>
                        </m:e>
                      </m:nary>
                      <m:r>
                        <a:rPr lang="en-US" altLang="zh-CN" sz="2000" b="0" i="1" smtClean="0">
                          <a:latin typeface="Cambria Math" panose="02040503050406030204" pitchFamily="18" charset="0"/>
                          <a:ea typeface="Cambria Math" panose="02040503050406030204" pitchFamily="18" charset="0"/>
                        </a:rPr>
                        <m:t>+</m:t>
                      </m:r>
                      <m:f>
                        <m:fPr>
                          <m:ctrlPr>
                            <a:rPr lang="en-US" altLang="zh-CN" sz="2000" i="1">
                              <a:latin typeface="Cambria Math" panose="02040503050406030204" pitchFamily="18" charset="0"/>
                              <a:ea typeface="Cambria Math" panose="02040503050406030204" pitchFamily="18" charset="0"/>
                            </a:rPr>
                          </m:ctrlPr>
                        </m:fPr>
                        <m:num>
                          <m:r>
                            <a:rPr lang="en-US" altLang="zh-CN" sz="2000" i="1">
                              <a:latin typeface="Cambria Math" panose="02040503050406030204" pitchFamily="18" charset="0"/>
                              <a:ea typeface="Cambria Math" panose="02040503050406030204" pitchFamily="18" charset="0"/>
                            </a:rPr>
                            <m:t>1</m:t>
                          </m:r>
                        </m:num>
                        <m:den>
                          <m:sSub>
                            <m:sSubPr>
                              <m:ctrlPr>
                                <a:rPr lang="en-US" altLang="zh-CN" sz="2000" i="1" smtClean="0">
                                  <a:latin typeface="Cambria Math" panose="02040503050406030204" pitchFamily="18" charset="0"/>
                                  <a:ea typeface="Cambria Math" panose="02040503050406030204" pitchFamily="18" charset="0"/>
                                </a:rPr>
                              </m:ctrlPr>
                            </m:sSubPr>
                            <m:e>
                              <m:r>
                                <a:rPr lang="en-US" altLang="zh-CN" sz="2000" i="1">
                                  <a:latin typeface="Cambria Math" panose="02040503050406030204" pitchFamily="18" charset="0"/>
                                  <a:ea typeface="Cambria Math" panose="02040503050406030204" pitchFamily="18" charset="0"/>
                                </a:rPr>
                                <m:t>𝑁</m:t>
                              </m:r>
                            </m:e>
                            <m:sub>
                              <m:r>
                                <a:rPr lang="en-US" altLang="zh-CN" sz="2000" b="0" i="1" smtClean="0">
                                  <a:latin typeface="Cambria Math" panose="02040503050406030204" pitchFamily="18" charset="0"/>
                                  <a:ea typeface="Cambria Math" panose="02040503050406030204" pitchFamily="18" charset="0"/>
                                </a:rPr>
                                <m:t>𝑗</m:t>
                              </m:r>
                            </m:sub>
                          </m:sSub>
                        </m:den>
                      </m:f>
                      <m:nary>
                        <m:naryPr>
                          <m:chr m:val="∑"/>
                          <m:supHide m:val="on"/>
                          <m:ctrlPr>
                            <a:rPr lang="en-US" altLang="zh-CN" sz="2000" i="1">
                              <a:latin typeface="Cambria Math" panose="02040503050406030204" pitchFamily="18" charset="0"/>
                              <a:ea typeface="Cambria Math" panose="02040503050406030204" pitchFamily="18" charset="0"/>
                            </a:rPr>
                          </m:ctrlPr>
                        </m:naryPr>
                        <m:sub>
                          <m:r>
                            <a:rPr lang="en-US" altLang="zh-CN" sz="2000" b="0" i="1" smtClean="0">
                              <a:latin typeface="Cambria Math" panose="02040503050406030204" pitchFamily="18" charset="0"/>
                              <a:ea typeface="Cambria Math" panose="02040503050406030204" pitchFamily="18" charset="0"/>
                            </a:rPr>
                            <m:t>𝑗</m:t>
                          </m:r>
                        </m:sub>
                        <m:sup/>
                        <m:e>
                          <m:sSup>
                            <m:sSupPr>
                              <m:ctrlPr>
                                <a:rPr lang="en-US" altLang="zh-CN" sz="2000" b="0" i="1" smtClean="0">
                                  <a:latin typeface="Cambria Math" panose="02040503050406030204" pitchFamily="18" charset="0"/>
                                  <a:ea typeface="Cambria Math" panose="02040503050406030204" pitchFamily="18" charset="0"/>
                                </a:rPr>
                              </m:ctrlPr>
                            </m:sSupPr>
                            <m:e>
                              <m:d>
                                <m:dPr>
                                  <m:begChr m:val="（"/>
                                  <m:endChr m:val="）"/>
                                  <m:ctrlPr>
                                    <a:rPr lang="zh-CN" altLang="en-US" sz="2000" b="0" i="1" smtClean="0">
                                      <a:latin typeface="Cambria Math" panose="02040503050406030204" pitchFamily="18" charset="0"/>
                                    </a:rPr>
                                  </m:ctrlPr>
                                </m:dPr>
                                <m:e>
                                  <m:sSup>
                                    <m:sSupPr>
                                      <m:ctrlPr>
                                        <a:rPr lang="en-US" altLang="zh-CN" sz="2000" i="1">
                                          <a:latin typeface="Cambria Math" panose="02040503050406030204" pitchFamily="18" charset="0"/>
                                          <a:ea typeface="Cambria Math" panose="02040503050406030204" pitchFamily="18" charset="0"/>
                                        </a:rPr>
                                      </m:ctrlPr>
                                    </m:sSupPr>
                                    <m:e>
                                      <m:r>
                                        <a:rPr lang="en-US" altLang="zh-CN" sz="2000" i="1">
                                          <a:latin typeface="Cambria Math" panose="02040503050406030204" pitchFamily="18" charset="0"/>
                                          <a:ea typeface="Cambria Math" panose="02040503050406030204" pitchFamily="18" charset="0"/>
                                        </a:rPr>
                                        <m:t>𝑢</m:t>
                                      </m:r>
                                    </m:e>
                                    <m:sup>
                                      <m:d>
                                        <m:dPr>
                                          <m:ctrlPr>
                                            <a:rPr lang="en-US" altLang="zh-CN" sz="2000" i="1">
                                              <a:latin typeface="Cambria Math" panose="02040503050406030204" pitchFamily="18" charset="0"/>
                                              <a:ea typeface="Cambria Math" panose="02040503050406030204" pitchFamily="18" charset="0"/>
                                            </a:rPr>
                                          </m:ctrlPr>
                                        </m:dPr>
                                        <m:e>
                                          <m:r>
                                            <a:rPr lang="en-US" altLang="zh-CN" sz="2000" i="1">
                                              <a:latin typeface="Cambria Math" panose="02040503050406030204" pitchFamily="18" charset="0"/>
                                              <a:ea typeface="Cambria Math" panose="02040503050406030204" pitchFamily="18" charset="0"/>
                                            </a:rPr>
                                            <m:t>𝑗</m:t>
                                          </m:r>
                                        </m:e>
                                      </m:d>
                                    </m:sup>
                                  </m:sSup>
                                  <m:r>
                                    <a:rPr lang="en-US" altLang="zh-CN" sz="2000" b="0" i="1" smtClean="0">
                                      <a:latin typeface="Cambria Math" panose="02040503050406030204" pitchFamily="18" charset="0"/>
                                      <a:ea typeface="Cambria Math" panose="02040503050406030204" pitchFamily="18" charset="0"/>
                                    </a:rPr>
                                    <m:t>−</m:t>
                                  </m:r>
                                  <m:func>
                                    <m:funcPr>
                                      <m:ctrlPr>
                                        <a:rPr lang="en-US" altLang="zh-CN" sz="2000" i="1">
                                          <a:latin typeface="Cambria Math" panose="02040503050406030204" pitchFamily="18" charset="0"/>
                                          <a:ea typeface="Cambria Math" panose="02040503050406030204" pitchFamily="18" charset="0"/>
                                        </a:rPr>
                                      </m:ctrlPr>
                                    </m:funcPr>
                                    <m:fName>
                                      <m:r>
                                        <m:rPr>
                                          <m:sty m:val="p"/>
                                        </m:rPr>
                                        <a:rPr lang="en-US" altLang="zh-CN" sz="2000">
                                          <a:latin typeface="Cambria Math" panose="02040503050406030204" pitchFamily="18" charset="0"/>
                                          <a:ea typeface="Cambria Math" panose="02040503050406030204" pitchFamily="18" charset="0"/>
                                        </a:rPr>
                                        <m:t>sin</m:t>
                                      </m:r>
                                    </m:fName>
                                    <m:e>
                                      <m:r>
                                        <a:rPr lang="en-US" altLang="zh-CN" sz="2000" i="1">
                                          <a:latin typeface="Cambria Math" panose="02040503050406030204" pitchFamily="18" charset="0"/>
                                          <a:ea typeface="Cambria Math" panose="02040503050406030204" pitchFamily="18" charset="0"/>
                                        </a:rPr>
                                        <m:t>3</m:t>
                                      </m:r>
                                      <m:sSup>
                                        <m:sSupPr>
                                          <m:ctrlPr>
                                            <a:rPr lang="en-US" altLang="zh-CN" sz="2000" i="1">
                                              <a:latin typeface="Cambria Math" panose="02040503050406030204" pitchFamily="18" charset="0"/>
                                              <a:ea typeface="Cambria Math" panose="02040503050406030204" pitchFamily="18" charset="0"/>
                                            </a:rPr>
                                          </m:ctrlPr>
                                        </m:sSupPr>
                                        <m:e>
                                          <m:r>
                                            <a:rPr lang="en-US" altLang="zh-CN" sz="2000" i="1">
                                              <a:latin typeface="Cambria Math" panose="02040503050406030204" pitchFamily="18" charset="0"/>
                                              <a:ea typeface="Cambria Math" panose="02040503050406030204" pitchFamily="18" charset="0"/>
                                            </a:rPr>
                                            <m:t>𝑥</m:t>
                                          </m:r>
                                        </m:e>
                                        <m:sup>
                                          <m:d>
                                            <m:dPr>
                                              <m:ctrlPr>
                                                <a:rPr lang="en-US" altLang="zh-CN" sz="2000" i="1">
                                                  <a:latin typeface="Cambria Math" panose="02040503050406030204" pitchFamily="18" charset="0"/>
                                                  <a:ea typeface="Cambria Math" panose="02040503050406030204" pitchFamily="18" charset="0"/>
                                                </a:rPr>
                                              </m:ctrlPr>
                                            </m:dPr>
                                            <m:e>
                                              <m:r>
                                                <a:rPr lang="en-US" altLang="zh-CN" sz="2000" i="1">
                                                  <a:latin typeface="Cambria Math" panose="02040503050406030204" pitchFamily="18" charset="0"/>
                                                  <a:ea typeface="Cambria Math" panose="02040503050406030204" pitchFamily="18" charset="0"/>
                                                </a:rPr>
                                                <m:t>𝑗</m:t>
                                              </m:r>
                                            </m:e>
                                          </m:d>
                                        </m:sup>
                                      </m:sSup>
                                    </m:e>
                                  </m:func>
                                </m:e>
                              </m:d>
                            </m:e>
                            <m:sup>
                              <m:r>
                                <a:rPr lang="en-US" altLang="zh-CN" sz="2000" b="0" i="1" smtClean="0">
                                  <a:latin typeface="Cambria Math" panose="02040503050406030204" pitchFamily="18" charset="0"/>
                                  <a:ea typeface="Cambria Math" panose="02040503050406030204" pitchFamily="18" charset="0"/>
                                </a:rPr>
                                <m:t>2</m:t>
                              </m:r>
                            </m:sup>
                          </m:sSup>
                        </m:e>
                      </m:nary>
                    </m:oMath>
                  </m:oMathPara>
                </a14:m>
                <a:endParaRPr lang="en-US" altLang="zh-CN" sz="2000" dirty="0">
                  <a:ea typeface="Cambria Math" panose="02040503050406030204" pitchFamily="18" charset="0"/>
                </a:endParaRPr>
              </a:p>
              <a:p>
                <a:endParaRPr lang="en-US" altLang="zh-CN" sz="2000" dirty="0">
                  <a:ea typeface="Cambria Math" panose="02040503050406030204" pitchFamily="18" charset="0"/>
                </a:endParaRPr>
              </a:p>
            </p:txBody>
          </p:sp>
        </mc:Choice>
        <mc:Fallback>
          <p:sp>
            <p:nvSpPr>
              <p:cNvPr id="83" name="Rectangle 82">
                <a:extLst>
                  <a:ext uri="{FF2B5EF4-FFF2-40B4-BE49-F238E27FC236}">
                    <a16:creationId xmlns:a16="http://schemas.microsoft.com/office/drawing/2014/main" id="{59738120-FFC0-BA45-9B30-686EAF972065}"/>
                  </a:ext>
                </a:extLst>
              </p:cNvPr>
              <p:cNvSpPr>
                <a:spLocks noRot="1" noChangeAspect="1" noMove="1" noResize="1" noEditPoints="1" noAdjustHandles="1" noChangeArrowheads="1" noChangeShapeType="1" noTextEdit="1"/>
              </p:cNvSpPr>
              <p:nvPr/>
            </p:nvSpPr>
            <p:spPr>
              <a:xfrm>
                <a:off x="6000168" y="4853413"/>
                <a:ext cx="5351818" cy="1181862"/>
              </a:xfrm>
              <a:prstGeom prst="rect">
                <a:avLst/>
              </a:prstGeom>
              <a:blipFill>
                <a:blip r:embed="rId14"/>
                <a:stretch>
                  <a:fillRect t="-85417" b="-91667"/>
                </a:stretch>
              </a:blipFill>
              <a:ln w="19050">
                <a:solidFill>
                  <a:schemeClr val="tx1"/>
                </a:solidFill>
              </a:ln>
            </p:spPr>
            <p:txBody>
              <a:bodyPr/>
              <a:lstStyle/>
              <a:p>
                <a:r>
                  <a:rPr lang="en-US">
                    <a:noFill/>
                  </a:rPr>
                  <a:t> </a:t>
                </a:r>
              </a:p>
            </p:txBody>
          </p:sp>
        </mc:Fallback>
      </mc:AlternateContent>
      <p:grpSp>
        <p:nvGrpSpPr>
          <p:cNvPr id="5" name="Group 4">
            <a:extLst>
              <a:ext uri="{FF2B5EF4-FFF2-40B4-BE49-F238E27FC236}">
                <a16:creationId xmlns:a16="http://schemas.microsoft.com/office/drawing/2014/main" id="{767D64EC-CB38-C34D-A8E2-F8D594BC1359}"/>
              </a:ext>
            </a:extLst>
          </p:cNvPr>
          <p:cNvGrpSpPr/>
          <p:nvPr/>
        </p:nvGrpSpPr>
        <p:grpSpPr>
          <a:xfrm>
            <a:off x="172195" y="773727"/>
            <a:ext cx="3892621" cy="2062607"/>
            <a:chOff x="172195" y="773727"/>
            <a:chExt cx="3892621" cy="2062607"/>
          </a:xfrm>
        </p:grpSpPr>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74DFEF03-11E9-C24E-A750-54C57B15515A}"/>
                    </a:ext>
                  </a:extLst>
                </p:cNvPr>
                <p:cNvSpPr/>
                <p:nvPr/>
              </p:nvSpPr>
              <p:spPr>
                <a:xfrm>
                  <a:off x="377170" y="1296554"/>
                  <a:ext cx="3687646" cy="1539780"/>
                </a:xfrm>
                <a:prstGeom prst="rect">
                  <a:avLst/>
                </a:prstGeom>
              </p:spPr>
              <p:txBody>
                <a:bodyPr wrap="square">
                  <a:spAutoFit/>
                </a:bodyPr>
                <a:lstStyle/>
                <a:p>
                  <a:r>
                    <a:rPr lang="en-US" altLang="zh-CN" sz="2000" dirty="0"/>
                    <a:t>Solve </a:t>
                  </a:r>
                  <a14:m>
                    <m:oMath xmlns:m="http://schemas.openxmlformats.org/officeDocument/2006/math">
                      <m:r>
                        <a:rPr lang="en-US" altLang="zh-CN" sz="2000" i="1">
                          <a:latin typeface="Cambria Math" panose="02040503050406030204" pitchFamily="18" charset="0"/>
                          <a:ea typeface="Cambria Math" panose="02040503050406030204" pitchFamily="18" charset="0"/>
                        </a:rPr>
                        <m:t>𝑢</m:t>
                      </m:r>
                      <m:d>
                        <m:dPr>
                          <m:ctrlPr>
                            <a:rPr lang="en-US" altLang="zh-CN" sz="2000" b="0" i="1" smtClean="0">
                              <a:latin typeface="Cambria Math" panose="02040503050406030204" pitchFamily="18" charset="0"/>
                              <a:ea typeface="Cambria Math" panose="02040503050406030204" pitchFamily="18" charset="0"/>
                            </a:rPr>
                          </m:ctrlPr>
                        </m:dPr>
                        <m:e>
                          <m:r>
                            <a:rPr lang="en-US" altLang="zh-CN" sz="2000" b="0" i="1" smtClean="0">
                              <a:latin typeface="Cambria Math" panose="02040503050406030204" pitchFamily="18" charset="0"/>
                              <a:ea typeface="Cambria Math" panose="02040503050406030204" pitchFamily="18" charset="0"/>
                            </a:rPr>
                            <m:t>𝑥</m:t>
                          </m:r>
                          <m:r>
                            <a:rPr lang="en-US" altLang="zh-CN" sz="2000" b="0" i="1" smtClean="0">
                              <a:latin typeface="Cambria Math" panose="02040503050406030204" pitchFamily="18" charset="0"/>
                              <a:ea typeface="Cambria Math" panose="02040503050406030204" pitchFamily="18" charset="0"/>
                            </a:rPr>
                            <m:t>,</m:t>
                          </m:r>
                          <m:r>
                            <a:rPr lang="en-US" altLang="zh-CN" sz="2000" b="0" i="1" smtClean="0">
                              <a:latin typeface="Cambria Math" panose="02040503050406030204" pitchFamily="18" charset="0"/>
                              <a:ea typeface="Cambria Math" panose="02040503050406030204" pitchFamily="18" charset="0"/>
                            </a:rPr>
                            <m:t>𝑡</m:t>
                          </m:r>
                        </m:e>
                      </m:d>
                    </m:oMath>
                  </a14:m>
                  <a:r>
                    <a:rPr lang="en-US" altLang="zh-CN" sz="2000" dirty="0"/>
                    <a:t> in the following PDE:</a:t>
                  </a:r>
                </a:p>
                <a:p>
                  <a:pPr/>
                  <a14:m>
                    <m:oMathPara xmlns:m="http://schemas.openxmlformats.org/officeDocument/2006/math">
                      <m:oMathParaPr>
                        <m:jc m:val="centerGroup"/>
                      </m:oMathParaPr>
                      <m:oMath xmlns:m="http://schemas.openxmlformats.org/officeDocument/2006/math">
                        <m:d>
                          <m:dPr>
                            <m:begChr m:val="{"/>
                            <m:endChr m:val=""/>
                            <m:ctrlPr>
                              <a:rPr lang="en-US" altLang="zh-CN" sz="2000" i="1" smtClean="0">
                                <a:latin typeface="Cambria Math" panose="02040503050406030204" pitchFamily="18" charset="0"/>
                                <a:ea typeface="Cambria Math" panose="02040503050406030204" pitchFamily="18" charset="0"/>
                              </a:rPr>
                            </m:ctrlPr>
                          </m:dPr>
                          <m:e>
                            <m:eqArr>
                              <m:eqArrPr>
                                <m:ctrlPr>
                                  <a:rPr lang="en-US" altLang="zh-CN" sz="2000" i="1" smtClean="0">
                                    <a:latin typeface="Cambria Math" panose="02040503050406030204" pitchFamily="18" charset="0"/>
                                    <a:ea typeface="Cambria Math" panose="02040503050406030204" pitchFamily="18" charset="0"/>
                                  </a:rPr>
                                </m:ctrlPr>
                              </m:eqArrPr>
                              <m:e>
                                <m:f>
                                  <m:fPr>
                                    <m:ctrlPr>
                                      <a:rPr lang="en-US" altLang="zh-CN" sz="2000" b="0" i="1" smtClean="0">
                                        <a:latin typeface="Cambria Math" panose="02040503050406030204" pitchFamily="18" charset="0"/>
                                        <a:ea typeface="Cambria Math" panose="02040503050406030204" pitchFamily="18" charset="0"/>
                                      </a:rPr>
                                    </m:ctrlPr>
                                  </m:fPr>
                                  <m:num>
                                    <m:r>
                                      <a:rPr lang="en-US" altLang="zh-CN" sz="2000" b="0" i="1" smtClean="0">
                                        <a:latin typeface="Cambria Math" panose="02040503050406030204" pitchFamily="18" charset="0"/>
                                        <a:ea typeface="Cambria Math" panose="02040503050406030204" pitchFamily="18" charset="0"/>
                                      </a:rPr>
                                      <m:t>𝜕</m:t>
                                    </m:r>
                                    <m:r>
                                      <a:rPr lang="en-US" altLang="zh-CN" sz="2000" b="0" i="1" smtClean="0">
                                        <a:latin typeface="Cambria Math" panose="02040503050406030204" pitchFamily="18" charset="0"/>
                                        <a:ea typeface="Cambria Math" panose="02040503050406030204" pitchFamily="18" charset="0"/>
                                      </a:rPr>
                                      <m:t>𝑢</m:t>
                                    </m:r>
                                  </m:num>
                                  <m:den>
                                    <m:r>
                                      <a:rPr lang="en-US" altLang="zh-CN" sz="2000" b="0" i="1" smtClean="0">
                                        <a:latin typeface="Cambria Math" panose="02040503050406030204" pitchFamily="18" charset="0"/>
                                        <a:ea typeface="Cambria Math" panose="02040503050406030204" pitchFamily="18" charset="0"/>
                                      </a:rPr>
                                      <m:t>𝜕</m:t>
                                    </m:r>
                                    <m:r>
                                      <a:rPr lang="en-US" altLang="zh-CN" sz="2000" b="0" i="1" smtClean="0">
                                        <a:latin typeface="Cambria Math" panose="02040503050406030204" pitchFamily="18" charset="0"/>
                                        <a:ea typeface="Cambria Math" panose="02040503050406030204" pitchFamily="18" charset="0"/>
                                      </a:rPr>
                                      <m:t>𝑥</m:t>
                                    </m:r>
                                  </m:den>
                                </m:f>
                                <m:r>
                                  <a:rPr lang="en-US" altLang="zh-CN" sz="2000" b="0" i="1" smtClean="0">
                                    <a:latin typeface="Cambria Math" panose="02040503050406030204" pitchFamily="18" charset="0"/>
                                    <a:ea typeface="Cambria Math" panose="02040503050406030204" pitchFamily="18" charset="0"/>
                                  </a:rPr>
                                  <m:t>+</m:t>
                                </m:r>
                                <m:f>
                                  <m:fPr>
                                    <m:ctrlPr>
                                      <a:rPr lang="en-US" altLang="zh-CN" sz="2000" i="1">
                                        <a:latin typeface="Cambria Math" panose="02040503050406030204" pitchFamily="18" charset="0"/>
                                        <a:ea typeface="Cambria Math" panose="02040503050406030204" pitchFamily="18" charset="0"/>
                                      </a:rPr>
                                    </m:ctrlPr>
                                  </m:fPr>
                                  <m:num>
                                    <m:r>
                                      <a:rPr lang="en-US" altLang="zh-CN" sz="2000" i="1">
                                        <a:latin typeface="Cambria Math" panose="02040503050406030204" pitchFamily="18" charset="0"/>
                                        <a:ea typeface="Cambria Math" panose="02040503050406030204" pitchFamily="18" charset="0"/>
                                      </a:rPr>
                                      <m:t>𝜕</m:t>
                                    </m:r>
                                    <m:r>
                                      <a:rPr lang="en-US" altLang="zh-CN" sz="2000" i="1">
                                        <a:latin typeface="Cambria Math" panose="02040503050406030204" pitchFamily="18" charset="0"/>
                                        <a:ea typeface="Cambria Math" panose="02040503050406030204" pitchFamily="18" charset="0"/>
                                      </a:rPr>
                                      <m:t>𝑢</m:t>
                                    </m:r>
                                  </m:num>
                                  <m:den>
                                    <m:r>
                                      <a:rPr lang="en-US" altLang="zh-CN" sz="2000" i="1">
                                        <a:latin typeface="Cambria Math" panose="02040503050406030204" pitchFamily="18" charset="0"/>
                                        <a:ea typeface="Cambria Math" panose="02040503050406030204" pitchFamily="18" charset="0"/>
                                      </a:rPr>
                                      <m:t>𝜕</m:t>
                                    </m:r>
                                    <m:r>
                                      <a:rPr lang="en-US" altLang="zh-CN" sz="2000" b="0" i="1" smtClean="0">
                                        <a:latin typeface="Cambria Math" panose="02040503050406030204" pitchFamily="18" charset="0"/>
                                        <a:ea typeface="Cambria Math" panose="02040503050406030204" pitchFamily="18" charset="0"/>
                                      </a:rPr>
                                      <m:t>𝑡</m:t>
                                    </m:r>
                                  </m:den>
                                </m:f>
                                <m:r>
                                  <a:rPr lang="en-US" altLang="zh-CN" sz="2000" b="0" i="1" smtClean="0">
                                    <a:latin typeface="Cambria Math" panose="02040503050406030204" pitchFamily="18" charset="0"/>
                                    <a:ea typeface="Cambria Math" panose="02040503050406030204" pitchFamily="18" charset="0"/>
                                  </a:rPr>
                                  <m:t>=0, </m:t>
                                </m:r>
                                <m:r>
                                  <a:rPr lang="en-US" altLang="zh-CN" sz="2000" b="0" i="1" smtClean="0">
                                    <a:latin typeface="Cambria Math" panose="02040503050406030204" pitchFamily="18" charset="0"/>
                                    <a:ea typeface="Cambria Math" panose="02040503050406030204" pitchFamily="18" charset="0"/>
                                  </a:rPr>
                                  <m:t>𝑥</m:t>
                                </m:r>
                                <m:r>
                                  <a:rPr lang="en-US" altLang="zh-CN" sz="2000" b="0" i="1" smtClean="0">
                                    <a:latin typeface="Cambria Math" panose="02040503050406030204" pitchFamily="18" charset="0"/>
                                    <a:ea typeface="Cambria Math" panose="02040503050406030204" pitchFamily="18" charset="0"/>
                                  </a:rPr>
                                  <m:t>∈</m:t>
                                </m:r>
                                <m:r>
                                  <a:rPr lang="en-US" altLang="zh-CN" sz="2000" b="0" i="1" smtClean="0">
                                    <a:latin typeface="Cambria Math" panose="02040503050406030204" pitchFamily="18" charset="0"/>
                                    <a:ea typeface="Cambria Math" panose="02040503050406030204" pitchFamily="18" charset="0"/>
                                  </a:rPr>
                                  <m:t>ℝ</m:t>
                                </m:r>
                                <m:r>
                                  <a:rPr lang="en-US" altLang="zh-CN" sz="2000" b="0" i="1" smtClean="0">
                                    <a:latin typeface="Cambria Math" panose="02040503050406030204" pitchFamily="18" charset="0"/>
                                    <a:ea typeface="Cambria Math" panose="02040503050406030204" pitchFamily="18" charset="0"/>
                                  </a:rPr>
                                  <m:t>,</m:t>
                                </m:r>
                                <m:r>
                                  <a:rPr lang="en-US" altLang="zh-CN" sz="2000" b="0" i="1" smtClean="0">
                                    <a:latin typeface="Cambria Math" panose="02040503050406030204" pitchFamily="18" charset="0"/>
                                    <a:ea typeface="Cambria Math" panose="02040503050406030204" pitchFamily="18" charset="0"/>
                                  </a:rPr>
                                  <m:t>𝑡</m:t>
                                </m:r>
                                <m:r>
                                  <a:rPr lang="en-US" altLang="zh-CN" sz="2000" b="0" i="1" smtClean="0">
                                    <a:latin typeface="Cambria Math" panose="02040503050406030204" pitchFamily="18" charset="0"/>
                                    <a:ea typeface="Cambria Math" panose="02040503050406030204" pitchFamily="18" charset="0"/>
                                  </a:rPr>
                                  <m:t>&gt;0</m:t>
                                </m:r>
                              </m:e>
                              <m:e>
                                <m:r>
                                  <a:rPr lang="en-US" altLang="zh-CN" sz="2000" b="0" i="1" smtClean="0">
                                    <a:latin typeface="Cambria Math" panose="02040503050406030204" pitchFamily="18" charset="0"/>
                                    <a:ea typeface="Cambria Math" panose="02040503050406030204" pitchFamily="18" charset="0"/>
                                  </a:rPr>
                                  <m:t>𝑢</m:t>
                                </m:r>
                                <m:d>
                                  <m:dPr>
                                    <m:ctrlPr>
                                      <a:rPr lang="en-US" altLang="zh-CN" sz="2000" b="0" i="1" smtClean="0">
                                        <a:latin typeface="Cambria Math" panose="02040503050406030204" pitchFamily="18" charset="0"/>
                                        <a:ea typeface="Cambria Math" panose="02040503050406030204" pitchFamily="18" charset="0"/>
                                      </a:rPr>
                                    </m:ctrlPr>
                                  </m:dPr>
                                  <m:e>
                                    <m:r>
                                      <a:rPr lang="en-US" altLang="zh-CN" sz="2000" b="0" i="1" smtClean="0">
                                        <a:latin typeface="Cambria Math" panose="02040503050406030204" pitchFamily="18" charset="0"/>
                                        <a:ea typeface="Cambria Math" panose="02040503050406030204" pitchFamily="18" charset="0"/>
                                      </a:rPr>
                                      <m:t>𝑥</m:t>
                                    </m:r>
                                    <m:r>
                                      <a:rPr lang="en-US" altLang="zh-CN" sz="2000" b="0" i="1" smtClean="0">
                                        <a:latin typeface="Cambria Math" panose="02040503050406030204" pitchFamily="18" charset="0"/>
                                        <a:ea typeface="Cambria Math" panose="02040503050406030204" pitchFamily="18" charset="0"/>
                                      </a:rPr>
                                      <m:t>,0</m:t>
                                    </m:r>
                                  </m:e>
                                </m:d>
                                <m:r>
                                  <a:rPr lang="en-US" altLang="zh-CN" sz="2000" b="0" i="1" smtClean="0">
                                    <a:latin typeface="Cambria Math" panose="02040503050406030204" pitchFamily="18" charset="0"/>
                                    <a:ea typeface="Cambria Math" panose="02040503050406030204" pitchFamily="18" charset="0"/>
                                  </a:rPr>
                                  <m:t>=</m:t>
                                </m:r>
                                <m:func>
                                  <m:funcPr>
                                    <m:ctrlPr>
                                      <a:rPr lang="en-US" altLang="zh-CN" sz="2000" b="0" i="1" smtClean="0">
                                        <a:latin typeface="Cambria Math" panose="02040503050406030204" pitchFamily="18" charset="0"/>
                                        <a:ea typeface="Cambria Math" panose="02040503050406030204" pitchFamily="18" charset="0"/>
                                      </a:rPr>
                                    </m:ctrlPr>
                                  </m:funcPr>
                                  <m:fName>
                                    <m:r>
                                      <m:rPr>
                                        <m:sty m:val="p"/>
                                      </m:rPr>
                                      <a:rPr lang="en-US" altLang="zh-CN" sz="2000" b="0" i="0" smtClean="0">
                                        <a:latin typeface="Cambria Math" panose="02040503050406030204" pitchFamily="18" charset="0"/>
                                        <a:ea typeface="Cambria Math" panose="02040503050406030204" pitchFamily="18" charset="0"/>
                                      </a:rPr>
                                      <m:t>sin</m:t>
                                    </m:r>
                                  </m:fName>
                                  <m:e>
                                    <m:r>
                                      <a:rPr lang="en-US" altLang="zh-CN" sz="2000" b="0" i="1" smtClean="0">
                                        <a:latin typeface="Cambria Math" panose="02040503050406030204" pitchFamily="18" charset="0"/>
                                        <a:ea typeface="Cambria Math" panose="02040503050406030204" pitchFamily="18" charset="0"/>
                                      </a:rPr>
                                      <m:t>3</m:t>
                                    </m:r>
                                    <m:r>
                                      <a:rPr lang="en-US" altLang="zh-CN" sz="2000" b="0" i="1" smtClean="0">
                                        <a:latin typeface="Cambria Math" panose="02040503050406030204" pitchFamily="18" charset="0"/>
                                        <a:ea typeface="Cambria Math" panose="02040503050406030204" pitchFamily="18" charset="0"/>
                                      </a:rPr>
                                      <m:t>𝑥</m:t>
                                    </m:r>
                                  </m:e>
                                </m:func>
                              </m:e>
                            </m:eqArr>
                          </m:e>
                        </m:d>
                      </m:oMath>
                    </m:oMathPara>
                  </a14:m>
                  <a:endParaRPr lang="en-US" altLang="zh-CN" sz="2000" i="1" dirty="0">
                    <a:ea typeface="Cambria Math" panose="02040503050406030204" pitchFamily="18" charset="0"/>
                  </a:endParaRPr>
                </a:p>
              </p:txBody>
            </p:sp>
          </mc:Choice>
          <mc:Fallback xmlns="">
            <p:sp>
              <p:nvSpPr>
                <p:cNvPr id="2" name="Rectangle 1">
                  <a:extLst>
                    <a:ext uri="{FF2B5EF4-FFF2-40B4-BE49-F238E27FC236}">
                      <a16:creationId xmlns:a16="http://schemas.microsoft.com/office/drawing/2014/main" id="{74DFEF03-11E9-C24E-A750-54C57B15515A}"/>
                    </a:ext>
                  </a:extLst>
                </p:cNvPr>
                <p:cNvSpPr>
                  <a:spLocks noRot="1" noChangeAspect="1" noMove="1" noResize="1" noEditPoints="1" noAdjustHandles="1" noChangeArrowheads="1" noChangeShapeType="1" noTextEdit="1"/>
                </p:cNvSpPr>
                <p:nvPr/>
              </p:nvSpPr>
              <p:spPr>
                <a:xfrm>
                  <a:off x="377170" y="1296554"/>
                  <a:ext cx="3687646" cy="1539780"/>
                </a:xfrm>
                <a:prstGeom prst="rect">
                  <a:avLst/>
                </a:prstGeom>
                <a:blipFill>
                  <a:blip r:embed="rId15"/>
                  <a:stretch>
                    <a:fillRect l="-48454" t="-150000" r="-3436" b="-242623"/>
                  </a:stretch>
                </a:blipFill>
              </p:spPr>
              <p:txBody>
                <a:bodyPr/>
                <a:lstStyle/>
                <a:p>
                  <a:r>
                    <a:rPr lang="en-US">
                      <a:noFill/>
                    </a:rPr>
                    <a:t> </a:t>
                  </a:r>
                </a:p>
              </p:txBody>
            </p:sp>
          </mc:Fallback>
        </mc:AlternateContent>
        <p:sp>
          <p:nvSpPr>
            <p:cNvPr id="89" name="Rectangle 88">
              <a:extLst>
                <a:ext uri="{FF2B5EF4-FFF2-40B4-BE49-F238E27FC236}">
                  <a16:creationId xmlns:a16="http://schemas.microsoft.com/office/drawing/2014/main" id="{6EFEFCF2-5D0A-EC43-B6B9-EA934606AFC1}"/>
                </a:ext>
              </a:extLst>
            </p:cNvPr>
            <p:cNvSpPr/>
            <p:nvPr/>
          </p:nvSpPr>
          <p:spPr>
            <a:xfrm>
              <a:off x="172195" y="773727"/>
              <a:ext cx="2028632" cy="400110"/>
            </a:xfrm>
            <a:prstGeom prst="rect">
              <a:avLst/>
            </a:prstGeom>
          </p:spPr>
          <p:txBody>
            <a:bodyPr wrap="none">
              <a:spAutoFit/>
            </a:bodyPr>
            <a:lstStyle/>
            <a:p>
              <a:r>
                <a:rPr lang="en-US" sz="2000" b="1" dirty="0"/>
                <a:t>Forward Problem</a:t>
              </a:r>
            </a:p>
          </p:txBody>
        </p:sp>
      </p:grpSp>
      <p:sp>
        <p:nvSpPr>
          <p:cNvPr id="84" name="Rectangle 83">
            <a:extLst>
              <a:ext uri="{FF2B5EF4-FFF2-40B4-BE49-F238E27FC236}">
                <a16:creationId xmlns:a16="http://schemas.microsoft.com/office/drawing/2014/main" id="{3633394F-C20E-4445-97AF-C2A242C418A1}"/>
              </a:ext>
            </a:extLst>
          </p:cNvPr>
          <p:cNvSpPr/>
          <p:nvPr/>
        </p:nvSpPr>
        <p:spPr>
          <a:xfrm>
            <a:off x="6000167" y="6039167"/>
            <a:ext cx="5726009" cy="369332"/>
          </a:xfrm>
          <a:prstGeom prst="rect">
            <a:avLst/>
          </a:prstGeom>
        </p:spPr>
        <p:txBody>
          <a:bodyPr wrap="square">
            <a:spAutoFit/>
          </a:bodyPr>
          <a:lstStyle/>
          <a:p>
            <a:r>
              <a:rPr lang="en-US" altLang="zh-CN" dirty="0"/>
              <a:t>Training data all comes from PDE and boundary conditions</a:t>
            </a:r>
            <a:endParaRPr lang="en-US" altLang="zh-CN" dirty="0">
              <a:ea typeface="Cambria Math" panose="02040503050406030204" pitchFamily="18" charset="0"/>
            </a:endParaRPr>
          </a:p>
        </p:txBody>
      </p:sp>
      <p:sp>
        <p:nvSpPr>
          <p:cNvPr id="3" name="Rectangle 2">
            <a:extLst>
              <a:ext uri="{FF2B5EF4-FFF2-40B4-BE49-F238E27FC236}">
                <a16:creationId xmlns:a16="http://schemas.microsoft.com/office/drawing/2014/main" id="{5942AA66-B73C-2349-ACF3-2BD924263302}"/>
              </a:ext>
            </a:extLst>
          </p:cNvPr>
          <p:cNvSpPr/>
          <p:nvPr/>
        </p:nvSpPr>
        <p:spPr>
          <a:xfrm>
            <a:off x="7128749" y="5638155"/>
            <a:ext cx="1222322" cy="338554"/>
          </a:xfrm>
          <a:prstGeom prst="rect">
            <a:avLst/>
          </a:prstGeom>
        </p:spPr>
        <p:txBody>
          <a:bodyPr wrap="none">
            <a:spAutoFit/>
          </a:bodyPr>
          <a:lstStyle/>
          <a:p>
            <a:r>
              <a:rPr lang="en-US" altLang="zh-CN" sz="1600" dirty="0">
                <a:ea typeface="Cambria Math" panose="02040503050406030204" pitchFamily="18" charset="0"/>
              </a:rPr>
              <a:t>PDE residual</a:t>
            </a:r>
            <a:endParaRPr lang="en-US" sz="1600" dirty="0"/>
          </a:p>
        </p:txBody>
      </p:sp>
      <p:sp>
        <p:nvSpPr>
          <p:cNvPr id="85" name="Rectangle 84">
            <a:extLst>
              <a:ext uri="{FF2B5EF4-FFF2-40B4-BE49-F238E27FC236}">
                <a16:creationId xmlns:a16="http://schemas.microsoft.com/office/drawing/2014/main" id="{7CF10FBE-705D-0848-9BE3-7C9F30D1A81B}"/>
              </a:ext>
            </a:extLst>
          </p:cNvPr>
          <p:cNvSpPr/>
          <p:nvPr/>
        </p:nvSpPr>
        <p:spPr>
          <a:xfrm>
            <a:off x="9221406" y="5644573"/>
            <a:ext cx="1110112" cy="338554"/>
          </a:xfrm>
          <a:prstGeom prst="rect">
            <a:avLst/>
          </a:prstGeom>
        </p:spPr>
        <p:txBody>
          <a:bodyPr wrap="none">
            <a:spAutoFit/>
          </a:bodyPr>
          <a:lstStyle/>
          <a:p>
            <a:r>
              <a:rPr lang="en-US" altLang="zh-CN" sz="1600" dirty="0">
                <a:ea typeface="Cambria Math" panose="02040503050406030204" pitchFamily="18" charset="0"/>
              </a:rPr>
              <a:t>BC residual</a:t>
            </a:r>
            <a:endParaRPr lang="en-US" sz="1600" dirty="0"/>
          </a:p>
        </p:txBody>
      </p:sp>
      <p:sp>
        <p:nvSpPr>
          <p:cNvPr id="87" name="Rectangle 86">
            <a:extLst>
              <a:ext uri="{FF2B5EF4-FFF2-40B4-BE49-F238E27FC236}">
                <a16:creationId xmlns:a16="http://schemas.microsoft.com/office/drawing/2014/main" id="{1940AA61-700E-124E-94CB-12EF3C87BE22}"/>
              </a:ext>
            </a:extLst>
          </p:cNvPr>
          <p:cNvSpPr/>
          <p:nvPr/>
        </p:nvSpPr>
        <p:spPr>
          <a:xfrm>
            <a:off x="4171951" y="3190865"/>
            <a:ext cx="7939654" cy="13962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8" name="Rectangle 87">
            <a:extLst>
              <a:ext uri="{FF2B5EF4-FFF2-40B4-BE49-F238E27FC236}">
                <a16:creationId xmlns:a16="http://schemas.microsoft.com/office/drawing/2014/main" id="{4B536397-52B2-A94F-AF2B-D7C2DB560C2E}"/>
              </a:ext>
            </a:extLst>
          </p:cNvPr>
          <p:cNvSpPr/>
          <p:nvPr/>
        </p:nvSpPr>
        <p:spPr>
          <a:xfrm>
            <a:off x="8178262" y="567617"/>
            <a:ext cx="3933342" cy="398462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5347062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grpId="0" nodeType="clickEffect">
                                  <p:stCondLst>
                                    <p:cond delay="0"/>
                                  </p:stCondLst>
                                  <p:childTnLst>
                                    <p:set>
                                      <p:cBhvr>
                                        <p:cTn id="16" dur="1" fill="hold">
                                          <p:stCondLst>
                                            <p:cond delay="0"/>
                                          </p:stCondLst>
                                        </p:cTn>
                                        <p:tgtEl>
                                          <p:spTgt spid="88"/>
                                        </p:tgtEl>
                                        <p:attrNameLst>
                                          <p:attrName>style.visibility</p:attrName>
                                        </p:attrNameLst>
                                      </p:cBhvr>
                                      <p:to>
                                        <p:strVal val="hidden"/>
                                      </p:to>
                                    </p:set>
                                  </p:childTnLst>
                                </p:cTn>
                              </p:par>
                              <p:par>
                                <p:cTn id="17" presetID="1" presetClass="entr" presetSubtype="0" fill="hold" grpId="0" nodeType="withEffect">
                                  <p:stCondLst>
                                    <p:cond delay="0"/>
                                  </p:stCondLst>
                                  <p:childTnLst>
                                    <p:set>
                                      <p:cBhvr>
                                        <p:cTn id="18" dur="1" fill="hold">
                                          <p:stCondLst>
                                            <p:cond delay="0"/>
                                          </p:stCondLst>
                                        </p:cTn>
                                        <p:tgtEl>
                                          <p:spTgt spid="8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4"/>
                                        </p:tgtEl>
                                        <p:attrNameLst>
                                          <p:attrName>style.visibility</p:attrName>
                                        </p:attrNameLst>
                                      </p:cBhvr>
                                      <p:to>
                                        <p:strVal val="visible"/>
                                      </p:to>
                                    </p:set>
                                  </p:childTnLst>
                                </p:cTn>
                              </p:par>
                              <p:par>
                                <p:cTn id="25" presetID="1" presetClass="exit" presetSubtype="0" fill="hold" grpId="0" nodeType="withEffect">
                                  <p:stCondLst>
                                    <p:cond delay="0"/>
                                  </p:stCondLst>
                                  <p:childTnLst>
                                    <p:set>
                                      <p:cBhvr>
                                        <p:cTn id="26" dur="1" fill="hold">
                                          <p:stCondLst>
                                            <p:cond delay="0"/>
                                          </p:stCondLst>
                                        </p:cTn>
                                        <p:tgtEl>
                                          <p:spTgt spid="87"/>
                                        </p:tgtEl>
                                        <p:attrNameLst>
                                          <p:attrName>style.visibility</p:attrName>
                                        </p:attrNameLst>
                                      </p:cBhvr>
                                      <p:to>
                                        <p:strVal val="hidden"/>
                                      </p:to>
                                    </p:set>
                                  </p:childTnLst>
                                </p:cTn>
                              </p:par>
                              <p:par>
                                <p:cTn id="27" presetID="1" presetClass="entr" presetSubtype="0" fill="hold" grpId="0" nodeType="withEffect">
                                  <p:stCondLst>
                                    <p:cond delay="0"/>
                                  </p:stCondLst>
                                  <p:childTnLst>
                                    <p:set>
                                      <p:cBhvr>
                                        <p:cTn id="28" dur="1" fill="hold">
                                          <p:stCondLst>
                                            <p:cond delay="0"/>
                                          </p:stCondLst>
                                        </p:cTn>
                                        <p:tgtEl>
                                          <p:spTgt spid="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8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 grpId="0"/>
      <p:bldP spid="82" grpId="0"/>
      <p:bldP spid="83" grpId="0" animBg="1"/>
      <p:bldP spid="84" grpId="0"/>
      <p:bldP spid="3" grpId="0"/>
      <p:bldP spid="85" grpId="0"/>
      <p:bldP spid="87" grpId="0" animBg="1"/>
      <p:bldP spid="88"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7BB2207-E319-4C68-89F5-BABE56735956}"/>
              </a:ext>
            </a:extLst>
          </p:cNvPr>
          <p:cNvSpPr/>
          <p:nvPr/>
        </p:nvSpPr>
        <p:spPr>
          <a:xfrm>
            <a:off x="0" y="0"/>
            <a:ext cx="12192000" cy="5762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t>Methodology</a:t>
            </a:r>
          </a:p>
        </p:txBody>
      </p:sp>
      <p:sp>
        <p:nvSpPr>
          <p:cNvPr id="4" name="Date Placeholder 3">
            <a:extLst>
              <a:ext uri="{FF2B5EF4-FFF2-40B4-BE49-F238E27FC236}">
                <a16:creationId xmlns:a16="http://schemas.microsoft.com/office/drawing/2014/main" id="{C56C5B1D-BAE5-444D-BE0A-8DFE8943F71A}"/>
              </a:ext>
            </a:extLst>
          </p:cNvPr>
          <p:cNvSpPr>
            <a:spLocks noGrp="1"/>
          </p:cNvSpPr>
          <p:nvPr>
            <p:ph type="dt" sz="half" idx="10"/>
          </p:nvPr>
        </p:nvSpPr>
        <p:spPr/>
        <p:txBody>
          <a:bodyPr/>
          <a:lstStyle/>
          <a:p>
            <a:fld id="{DF1A2BDE-45B9-4338-A5B4-A4B361F8291C}" type="datetime1">
              <a:rPr lang="en-US" smtClean="0"/>
              <a:t>12/12/19</a:t>
            </a:fld>
            <a:endParaRPr lang="en-US" dirty="0"/>
          </a:p>
        </p:txBody>
      </p:sp>
      <p:sp>
        <p:nvSpPr>
          <p:cNvPr id="6" name="Slide Number Placeholder 5">
            <a:extLst>
              <a:ext uri="{FF2B5EF4-FFF2-40B4-BE49-F238E27FC236}">
                <a16:creationId xmlns:a16="http://schemas.microsoft.com/office/drawing/2014/main" id="{6018303F-834B-4DF5-9449-DE2539D3C3BF}"/>
              </a:ext>
            </a:extLst>
          </p:cNvPr>
          <p:cNvSpPr>
            <a:spLocks noGrp="1"/>
          </p:cNvSpPr>
          <p:nvPr>
            <p:ph type="sldNum" sz="quarter" idx="12"/>
          </p:nvPr>
        </p:nvSpPr>
        <p:spPr/>
        <p:txBody>
          <a:bodyPr/>
          <a:lstStyle/>
          <a:p>
            <a:fld id="{8EFFDE9E-9997-42E5-95F8-776DC6BFAD10}" type="slidenum">
              <a:rPr lang="en-US" smtClean="0"/>
              <a:t>4</a:t>
            </a:fld>
            <a:endParaRPr lang="en-US" dirty="0"/>
          </a:p>
        </p:txBody>
      </p:sp>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74DFEF03-11E9-C24E-A750-54C57B15515A}"/>
                  </a:ext>
                </a:extLst>
              </p:cNvPr>
              <p:cNvSpPr/>
              <p:nvPr/>
            </p:nvSpPr>
            <p:spPr>
              <a:xfrm>
                <a:off x="377169" y="1296554"/>
                <a:ext cx="3955169" cy="1539780"/>
              </a:xfrm>
              <a:prstGeom prst="rect">
                <a:avLst/>
              </a:prstGeom>
            </p:spPr>
            <p:txBody>
              <a:bodyPr wrap="square">
                <a:spAutoFit/>
              </a:bodyPr>
              <a:lstStyle/>
              <a:p>
                <a:r>
                  <a:rPr lang="en-US" altLang="zh-CN" sz="2000" dirty="0"/>
                  <a:t>Infer the unknown parameter in PDE:</a:t>
                </a:r>
              </a:p>
              <a:p>
                <a:pPr/>
                <a14:m>
                  <m:oMathPara xmlns:m="http://schemas.openxmlformats.org/officeDocument/2006/math">
                    <m:oMathParaPr>
                      <m:jc m:val="centerGroup"/>
                    </m:oMathParaPr>
                    <m:oMath xmlns:m="http://schemas.openxmlformats.org/officeDocument/2006/math">
                      <m:d>
                        <m:dPr>
                          <m:begChr m:val="{"/>
                          <m:endChr m:val=""/>
                          <m:ctrlPr>
                            <a:rPr lang="en-US" altLang="zh-CN" sz="2000" i="1" smtClean="0">
                              <a:latin typeface="Cambria Math" panose="02040503050406030204" pitchFamily="18" charset="0"/>
                              <a:ea typeface="Cambria Math" panose="02040503050406030204" pitchFamily="18" charset="0"/>
                            </a:rPr>
                          </m:ctrlPr>
                        </m:dPr>
                        <m:e>
                          <m:eqArr>
                            <m:eqArrPr>
                              <m:ctrlPr>
                                <a:rPr lang="en-US" altLang="zh-CN" sz="2000" i="1" smtClean="0">
                                  <a:latin typeface="Cambria Math" panose="02040503050406030204" pitchFamily="18" charset="0"/>
                                  <a:ea typeface="Cambria Math" panose="02040503050406030204" pitchFamily="18" charset="0"/>
                                </a:rPr>
                              </m:ctrlPr>
                            </m:eqArrPr>
                            <m:e>
                              <m:f>
                                <m:fPr>
                                  <m:ctrlPr>
                                    <a:rPr lang="en-US" altLang="zh-CN" sz="2000" b="0" i="1" smtClean="0">
                                      <a:latin typeface="Cambria Math" panose="02040503050406030204" pitchFamily="18" charset="0"/>
                                      <a:ea typeface="Cambria Math" panose="02040503050406030204" pitchFamily="18" charset="0"/>
                                    </a:rPr>
                                  </m:ctrlPr>
                                </m:fPr>
                                <m:num>
                                  <m:r>
                                    <a:rPr lang="en-US" altLang="zh-CN" sz="2000" b="0" i="1" smtClean="0">
                                      <a:latin typeface="Cambria Math" panose="02040503050406030204" pitchFamily="18" charset="0"/>
                                      <a:ea typeface="Cambria Math" panose="02040503050406030204" pitchFamily="18" charset="0"/>
                                    </a:rPr>
                                    <m:t>𝜕</m:t>
                                  </m:r>
                                  <m:r>
                                    <a:rPr lang="en-US" altLang="zh-CN" sz="2000" b="0" i="1" smtClean="0">
                                      <a:latin typeface="Cambria Math" panose="02040503050406030204" pitchFamily="18" charset="0"/>
                                      <a:ea typeface="Cambria Math" panose="02040503050406030204" pitchFamily="18" charset="0"/>
                                    </a:rPr>
                                    <m:t>𝑢</m:t>
                                  </m:r>
                                </m:num>
                                <m:den>
                                  <m:r>
                                    <a:rPr lang="en-US" altLang="zh-CN" sz="2000" b="0" i="1" smtClean="0">
                                      <a:latin typeface="Cambria Math" panose="02040503050406030204" pitchFamily="18" charset="0"/>
                                      <a:ea typeface="Cambria Math" panose="02040503050406030204" pitchFamily="18" charset="0"/>
                                    </a:rPr>
                                    <m:t>𝜕</m:t>
                                  </m:r>
                                  <m:r>
                                    <a:rPr lang="en-US" altLang="zh-CN" sz="2000" b="0" i="1" smtClean="0">
                                      <a:latin typeface="Cambria Math" panose="02040503050406030204" pitchFamily="18" charset="0"/>
                                      <a:ea typeface="Cambria Math" panose="02040503050406030204" pitchFamily="18" charset="0"/>
                                    </a:rPr>
                                    <m:t>𝑥</m:t>
                                  </m:r>
                                </m:den>
                              </m:f>
                              <m:r>
                                <a:rPr lang="en-US" altLang="zh-CN" sz="2000" b="0" i="1" smtClean="0">
                                  <a:latin typeface="Cambria Math" panose="02040503050406030204" pitchFamily="18" charset="0"/>
                                  <a:ea typeface="Cambria Math" panose="02040503050406030204" pitchFamily="18" charset="0"/>
                                </a:rPr>
                                <m:t>+</m:t>
                              </m:r>
                              <m:r>
                                <a:rPr lang="en-US" altLang="zh-CN" sz="2000" b="0" i="1" smtClean="0">
                                  <a:solidFill>
                                    <a:srgbClr val="FF0000"/>
                                  </a:solidFill>
                                  <a:latin typeface="Cambria Math" panose="02040503050406030204" pitchFamily="18" charset="0"/>
                                  <a:ea typeface="Cambria Math" panose="02040503050406030204" pitchFamily="18" charset="0"/>
                                </a:rPr>
                                <m:t>𝜆</m:t>
                              </m:r>
                              <m:f>
                                <m:fPr>
                                  <m:ctrlPr>
                                    <a:rPr lang="en-US" altLang="zh-CN" sz="2000" i="1">
                                      <a:latin typeface="Cambria Math" panose="02040503050406030204" pitchFamily="18" charset="0"/>
                                      <a:ea typeface="Cambria Math" panose="02040503050406030204" pitchFamily="18" charset="0"/>
                                    </a:rPr>
                                  </m:ctrlPr>
                                </m:fPr>
                                <m:num>
                                  <m:r>
                                    <a:rPr lang="en-US" altLang="zh-CN" sz="2000" i="1">
                                      <a:latin typeface="Cambria Math" panose="02040503050406030204" pitchFamily="18" charset="0"/>
                                      <a:ea typeface="Cambria Math" panose="02040503050406030204" pitchFamily="18" charset="0"/>
                                    </a:rPr>
                                    <m:t>𝜕</m:t>
                                  </m:r>
                                  <m:r>
                                    <a:rPr lang="en-US" altLang="zh-CN" sz="2000" i="1">
                                      <a:latin typeface="Cambria Math" panose="02040503050406030204" pitchFamily="18" charset="0"/>
                                      <a:ea typeface="Cambria Math" panose="02040503050406030204" pitchFamily="18" charset="0"/>
                                    </a:rPr>
                                    <m:t>𝑢</m:t>
                                  </m:r>
                                </m:num>
                                <m:den>
                                  <m:r>
                                    <a:rPr lang="en-US" altLang="zh-CN" sz="2000" i="1">
                                      <a:latin typeface="Cambria Math" panose="02040503050406030204" pitchFamily="18" charset="0"/>
                                      <a:ea typeface="Cambria Math" panose="02040503050406030204" pitchFamily="18" charset="0"/>
                                    </a:rPr>
                                    <m:t>𝜕</m:t>
                                  </m:r>
                                  <m:r>
                                    <a:rPr lang="en-US" altLang="zh-CN" sz="2000" b="0" i="1" smtClean="0">
                                      <a:latin typeface="Cambria Math" panose="02040503050406030204" pitchFamily="18" charset="0"/>
                                      <a:ea typeface="Cambria Math" panose="02040503050406030204" pitchFamily="18" charset="0"/>
                                    </a:rPr>
                                    <m:t>𝑡</m:t>
                                  </m:r>
                                </m:den>
                              </m:f>
                              <m:r>
                                <a:rPr lang="en-US" altLang="zh-CN" sz="2000" b="0" i="1" smtClean="0">
                                  <a:latin typeface="Cambria Math" panose="02040503050406030204" pitchFamily="18" charset="0"/>
                                  <a:ea typeface="Cambria Math" panose="02040503050406030204" pitchFamily="18" charset="0"/>
                                </a:rPr>
                                <m:t>=0, </m:t>
                              </m:r>
                              <m:r>
                                <a:rPr lang="en-US" altLang="zh-CN" sz="2000" b="0" i="1" smtClean="0">
                                  <a:latin typeface="Cambria Math" panose="02040503050406030204" pitchFamily="18" charset="0"/>
                                  <a:ea typeface="Cambria Math" panose="02040503050406030204" pitchFamily="18" charset="0"/>
                                </a:rPr>
                                <m:t>𝑥</m:t>
                              </m:r>
                              <m:r>
                                <a:rPr lang="en-US" altLang="zh-CN" sz="2000" b="0" i="1" smtClean="0">
                                  <a:latin typeface="Cambria Math" panose="02040503050406030204" pitchFamily="18" charset="0"/>
                                  <a:ea typeface="Cambria Math" panose="02040503050406030204" pitchFamily="18" charset="0"/>
                                </a:rPr>
                                <m:t>∈</m:t>
                              </m:r>
                              <m:r>
                                <a:rPr lang="en-US" altLang="zh-CN" sz="2000" b="0" i="1" smtClean="0">
                                  <a:latin typeface="Cambria Math" panose="02040503050406030204" pitchFamily="18" charset="0"/>
                                  <a:ea typeface="Cambria Math" panose="02040503050406030204" pitchFamily="18" charset="0"/>
                                </a:rPr>
                                <m:t>ℝ</m:t>
                              </m:r>
                              <m:r>
                                <a:rPr lang="en-US" altLang="zh-CN" sz="2000" b="0" i="1" smtClean="0">
                                  <a:latin typeface="Cambria Math" panose="02040503050406030204" pitchFamily="18" charset="0"/>
                                  <a:ea typeface="Cambria Math" panose="02040503050406030204" pitchFamily="18" charset="0"/>
                                </a:rPr>
                                <m:t>,</m:t>
                              </m:r>
                              <m:r>
                                <a:rPr lang="en-US" altLang="zh-CN" sz="2000" b="0" i="1" smtClean="0">
                                  <a:latin typeface="Cambria Math" panose="02040503050406030204" pitchFamily="18" charset="0"/>
                                  <a:ea typeface="Cambria Math" panose="02040503050406030204" pitchFamily="18" charset="0"/>
                                </a:rPr>
                                <m:t>𝑡</m:t>
                              </m:r>
                              <m:r>
                                <a:rPr lang="en-US" altLang="zh-CN" sz="2000" b="0" i="1" smtClean="0">
                                  <a:latin typeface="Cambria Math" panose="02040503050406030204" pitchFamily="18" charset="0"/>
                                  <a:ea typeface="Cambria Math" panose="02040503050406030204" pitchFamily="18" charset="0"/>
                                </a:rPr>
                                <m:t>&gt;0</m:t>
                              </m:r>
                            </m:e>
                            <m:e>
                              <m:r>
                                <a:rPr lang="en-US" altLang="zh-CN" sz="2000" b="0" i="1" smtClean="0">
                                  <a:latin typeface="Cambria Math" panose="02040503050406030204" pitchFamily="18" charset="0"/>
                                  <a:ea typeface="Cambria Math" panose="02040503050406030204" pitchFamily="18" charset="0"/>
                                </a:rPr>
                                <m:t>𝑢</m:t>
                              </m:r>
                              <m:d>
                                <m:dPr>
                                  <m:ctrlPr>
                                    <a:rPr lang="en-US" altLang="zh-CN" sz="2000" b="0" i="1" smtClean="0">
                                      <a:latin typeface="Cambria Math" panose="02040503050406030204" pitchFamily="18" charset="0"/>
                                      <a:ea typeface="Cambria Math" panose="02040503050406030204" pitchFamily="18" charset="0"/>
                                    </a:rPr>
                                  </m:ctrlPr>
                                </m:dPr>
                                <m:e>
                                  <m:r>
                                    <a:rPr lang="en-US" altLang="zh-CN" sz="2000" b="0" i="1" smtClean="0">
                                      <a:latin typeface="Cambria Math" panose="02040503050406030204" pitchFamily="18" charset="0"/>
                                      <a:ea typeface="Cambria Math" panose="02040503050406030204" pitchFamily="18" charset="0"/>
                                    </a:rPr>
                                    <m:t>𝑥</m:t>
                                  </m:r>
                                  <m:r>
                                    <a:rPr lang="en-US" altLang="zh-CN" sz="2000" b="0" i="1" smtClean="0">
                                      <a:latin typeface="Cambria Math" panose="02040503050406030204" pitchFamily="18" charset="0"/>
                                      <a:ea typeface="Cambria Math" panose="02040503050406030204" pitchFamily="18" charset="0"/>
                                    </a:rPr>
                                    <m:t>,0</m:t>
                                  </m:r>
                                </m:e>
                              </m:d>
                              <m:r>
                                <a:rPr lang="en-US" altLang="zh-CN" sz="2000" b="0" i="1" smtClean="0">
                                  <a:latin typeface="Cambria Math" panose="02040503050406030204" pitchFamily="18" charset="0"/>
                                  <a:ea typeface="Cambria Math" panose="02040503050406030204" pitchFamily="18" charset="0"/>
                                </a:rPr>
                                <m:t>=</m:t>
                              </m:r>
                              <m:func>
                                <m:funcPr>
                                  <m:ctrlPr>
                                    <a:rPr lang="en-US" altLang="zh-CN" sz="2000" b="0" i="1" smtClean="0">
                                      <a:latin typeface="Cambria Math" panose="02040503050406030204" pitchFamily="18" charset="0"/>
                                      <a:ea typeface="Cambria Math" panose="02040503050406030204" pitchFamily="18" charset="0"/>
                                    </a:rPr>
                                  </m:ctrlPr>
                                </m:funcPr>
                                <m:fName>
                                  <m:r>
                                    <m:rPr>
                                      <m:sty m:val="p"/>
                                    </m:rPr>
                                    <a:rPr lang="en-US" altLang="zh-CN" sz="2000" b="0" i="0" smtClean="0">
                                      <a:latin typeface="Cambria Math" panose="02040503050406030204" pitchFamily="18" charset="0"/>
                                      <a:ea typeface="Cambria Math" panose="02040503050406030204" pitchFamily="18" charset="0"/>
                                    </a:rPr>
                                    <m:t>sin</m:t>
                                  </m:r>
                                </m:fName>
                                <m:e>
                                  <m:r>
                                    <a:rPr lang="en-US" altLang="zh-CN" sz="2000" b="0" i="1" smtClean="0">
                                      <a:latin typeface="Cambria Math" panose="02040503050406030204" pitchFamily="18" charset="0"/>
                                      <a:ea typeface="Cambria Math" panose="02040503050406030204" pitchFamily="18" charset="0"/>
                                    </a:rPr>
                                    <m:t>3</m:t>
                                  </m:r>
                                  <m:r>
                                    <a:rPr lang="en-US" altLang="zh-CN" sz="2000" b="0" i="1" smtClean="0">
                                      <a:latin typeface="Cambria Math" panose="02040503050406030204" pitchFamily="18" charset="0"/>
                                      <a:ea typeface="Cambria Math" panose="02040503050406030204" pitchFamily="18" charset="0"/>
                                    </a:rPr>
                                    <m:t>𝑥</m:t>
                                  </m:r>
                                </m:e>
                              </m:func>
                            </m:e>
                          </m:eqArr>
                        </m:e>
                      </m:d>
                    </m:oMath>
                  </m:oMathPara>
                </a14:m>
                <a:endParaRPr lang="en-US" altLang="zh-CN" sz="2000" i="1" dirty="0">
                  <a:ea typeface="Cambria Math" panose="02040503050406030204" pitchFamily="18" charset="0"/>
                </a:endParaRPr>
              </a:p>
            </p:txBody>
          </p:sp>
        </mc:Choice>
        <mc:Fallback xmlns="">
          <p:sp>
            <p:nvSpPr>
              <p:cNvPr id="2" name="Rectangle 1">
                <a:extLst>
                  <a:ext uri="{FF2B5EF4-FFF2-40B4-BE49-F238E27FC236}">
                    <a16:creationId xmlns:a16="http://schemas.microsoft.com/office/drawing/2014/main" id="{74DFEF03-11E9-C24E-A750-54C57B15515A}"/>
                  </a:ext>
                </a:extLst>
              </p:cNvPr>
              <p:cNvSpPr>
                <a:spLocks noRot="1" noChangeAspect="1" noMove="1" noResize="1" noEditPoints="1" noAdjustHandles="1" noChangeArrowheads="1" noChangeShapeType="1" noTextEdit="1"/>
              </p:cNvSpPr>
              <p:nvPr/>
            </p:nvSpPr>
            <p:spPr>
              <a:xfrm>
                <a:off x="377169" y="1296554"/>
                <a:ext cx="3955169" cy="1539780"/>
              </a:xfrm>
              <a:prstGeom prst="rect">
                <a:avLst/>
              </a:prstGeom>
              <a:blipFill>
                <a:blip r:embed="rId3"/>
                <a:stretch>
                  <a:fillRect l="-43910" t="-150000" r="-3205" b="-242623"/>
                </a:stretch>
              </a:blipFill>
            </p:spPr>
            <p:txBody>
              <a:bodyPr/>
              <a:lstStyle/>
              <a:p>
                <a:r>
                  <a:rPr lang="en-US">
                    <a:noFill/>
                  </a:rPr>
                  <a:t> </a:t>
                </a:r>
              </a:p>
            </p:txBody>
          </p:sp>
        </mc:Fallback>
      </mc:AlternateContent>
      <p:sp>
        <p:nvSpPr>
          <p:cNvPr id="10" name="Footer Placeholder 6">
            <a:extLst>
              <a:ext uri="{FF2B5EF4-FFF2-40B4-BE49-F238E27FC236}">
                <a16:creationId xmlns:a16="http://schemas.microsoft.com/office/drawing/2014/main" id="{A70489C8-E060-7149-B6D3-1FD304A0777F}"/>
              </a:ext>
            </a:extLst>
          </p:cNvPr>
          <p:cNvSpPr>
            <a:spLocks noGrp="1"/>
          </p:cNvSpPr>
          <p:nvPr>
            <p:ph type="ftr" sz="quarter" idx="11"/>
          </p:nvPr>
        </p:nvSpPr>
        <p:spPr>
          <a:xfrm>
            <a:off x="4038600" y="6356350"/>
            <a:ext cx="4114800" cy="365125"/>
          </a:xfrm>
        </p:spPr>
        <p:txBody>
          <a:bodyPr/>
          <a:lstStyle/>
          <a:p>
            <a:r>
              <a:rPr lang="en-US" dirty="0"/>
              <a:t>2019 Deep Learning Final Presentation</a:t>
            </a:r>
          </a:p>
        </p:txBody>
      </p:sp>
      <mc:AlternateContent xmlns:mc="http://schemas.openxmlformats.org/markup-compatibility/2006" xmlns:a14="http://schemas.microsoft.com/office/drawing/2010/main">
        <mc:Choice Requires="a14">
          <p:sp>
            <p:nvSpPr>
              <p:cNvPr id="81" name="Rectangle 80">
                <a:extLst>
                  <a:ext uri="{FF2B5EF4-FFF2-40B4-BE49-F238E27FC236}">
                    <a16:creationId xmlns:a16="http://schemas.microsoft.com/office/drawing/2014/main" id="{52A7DFEF-6EAE-0D48-B54A-B61F5398912B}"/>
                  </a:ext>
                </a:extLst>
              </p:cNvPr>
              <p:cNvSpPr/>
              <p:nvPr/>
            </p:nvSpPr>
            <p:spPr>
              <a:xfrm>
                <a:off x="340835" y="3756598"/>
                <a:ext cx="4027835" cy="707886"/>
              </a:xfrm>
              <a:prstGeom prst="rect">
                <a:avLst/>
              </a:prstGeom>
            </p:spPr>
            <p:txBody>
              <a:bodyPr wrap="square">
                <a:spAutoFit/>
              </a:bodyPr>
              <a:lstStyle/>
              <a:p>
                <a:r>
                  <a:rPr lang="en-US" altLang="zh-CN" sz="2000" dirty="0"/>
                  <a:t>Use a </a:t>
                </a:r>
                <a:r>
                  <a:rPr lang="en-US" altLang="zh-CN" sz="2000" b="1" u="sng" dirty="0"/>
                  <a:t>neural network</a:t>
                </a:r>
                <a:r>
                  <a:rPr lang="en-US" altLang="zh-CN" sz="2000" dirty="0"/>
                  <a:t> to approximate the solution </a:t>
                </a:r>
                <a14:m>
                  <m:oMath xmlns:m="http://schemas.openxmlformats.org/officeDocument/2006/math">
                    <m:r>
                      <a:rPr lang="en-US" altLang="zh-CN" sz="2000" i="1">
                        <a:latin typeface="Cambria Math" panose="02040503050406030204" pitchFamily="18" charset="0"/>
                        <a:ea typeface="Cambria Math" panose="02040503050406030204" pitchFamily="18" charset="0"/>
                      </a:rPr>
                      <m:t>𝑢</m:t>
                    </m:r>
                    <m:d>
                      <m:dPr>
                        <m:ctrlPr>
                          <a:rPr lang="en-US" altLang="zh-CN" sz="2000" i="1">
                            <a:latin typeface="Cambria Math" panose="02040503050406030204" pitchFamily="18" charset="0"/>
                            <a:ea typeface="Cambria Math" panose="02040503050406030204" pitchFamily="18" charset="0"/>
                          </a:rPr>
                        </m:ctrlPr>
                      </m:dPr>
                      <m:e>
                        <m:r>
                          <a:rPr lang="en-US" altLang="zh-CN" sz="2000" i="1">
                            <a:latin typeface="Cambria Math" panose="02040503050406030204" pitchFamily="18" charset="0"/>
                            <a:ea typeface="Cambria Math" panose="02040503050406030204" pitchFamily="18" charset="0"/>
                          </a:rPr>
                          <m:t>𝑥</m:t>
                        </m:r>
                        <m:r>
                          <a:rPr lang="en-US" altLang="zh-CN" sz="2000" i="1">
                            <a:latin typeface="Cambria Math" panose="02040503050406030204" pitchFamily="18" charset="0"/>
                            <a:ea typeface="Cambria Math" panose="02040503050406030204" pitchFamily="18" charset="0"/>
                          </a:rPr>
                          <m:t>,</m:t>
                        </m:r>
                        <m:r>
                          <a:rPr lang="en-US" altLang="zh-CN" sz="2000" i="1">
                            <a:latin typeface="Cambria Math" panose="02040503050406030204" pitchFamily="18" charset="0"/>
                            <a:ea typeface="Cambria Math" panose="02040503050406030204" pitchFamily="18" charset="0"/>
                          </a:rPr>
                          <m:t>𝑡</m:t>
                        </m:r>
                      </m:e>
                    </m:d>
                  </m:oMath>
                </a14:m>
                <a:endParaRPr lang="en-US" altLang="zh-CN" sz="2000" dirty="0">
                  <a:ea typeface="Cambria Math" panose="02040503050406030204" pitchFamily="18" charset="0"/>
                </a:endParaRPr>
              </a:p>
            </p:txBody>
          </p:sp>
        </mc:Choice>
        <mc:Fallback xmlns="">
          <p:sp>
            <p:nvSpPr>
              <p:cNvPr id="81" name="Rectangle 80">
                <a:extLst>
                  <a:ext uri="{FF2B5EF4-FFF2-40B4-BE49-F238E27FC236}">
                    <a16:creationId xmlns:a16="http://schemas.microsoft.com/office/drawing/2014/main" id="{52A7DFEF-6EAE-0D48-B54A-B61F5398912B}"/>
                  </a:ext>
                </a:extLst>
              </p:cNvPr>
              <p:cNvSpPr>
                <a:spLocks noRot="1" noChangeAspect="1" noMove="1" noResize="1" noEditPoints="1" noAdjustHandles="1" noChangeArrowheads="1" noChangeShapeType="1" noTextEdit="1"/>
              </p:cNvSpPr>
              <p:nvPr/>
            </p:nvSpPr>
            <p:spPr>
              <a:xfrm>
                <a:off x="340835" y="3756598"/>
                <a:ext cx="4027835" cy="707886"/>
              </a:xfrm>
              <a:prstGeom prst="rect">
                <a:avLst/>
              </a:prstGeom>
              <a:blipFill>
                <a:blip r:embed="rId4"/>
                <a:stretch>
                  <a:fillRect l="-1572" t="-3509" b="-1228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2" name="Rectangle 81">
                <a:extLst>
                  <a:ext uri="{FF2B5EF4-FFF2-40B4-BE49-F238E27FC236}">
                    <a16:creationId xmlns:a16="http://schemas.microsoft.com/office/drawing/2014/main" id="{8D0EEEC7-2D4C-2743-9BCB-367078A91D25}"/>
                  </a:ext>
                </a:extLst>
              </p:cNvPr>
              <p:cNvSpPr/>
              <p:nvPr/>
            </p:nvSpPr>
            <p:spPr>
              <a:xfrm>
                <a:off x="365266" y="4587090"/>
                <a:ext cx="4711349" cy="1652119"/>
              </a:xfrm>
              <a:prstGeom prst="rect">
                <a:avLst/>
              </a:prstGeom>
            </p:spPr>
            <p:txBody>
              <a:bodyPr wrap="square">
                <a:spAutoFit/>
              </a:bodyPr>
              <a:lstStyle/>
              <a:p>
                <a:r>
                  <a:rPr lang="en-US" altLang="zh-CN" sz="2000" dirty="0"/>
                  <a:t>To force the NN approximate the solution, we need train the NN using:</a:t>
                </a:r>
                <a:endParaRPr lang="en-US" altLang="zh-CN" sz="2000" dirty="0">
                  <a:ea typeface="Cambria Math" panose="02040503050406030204" pitchFamily="18" charset="0"/>
                </a:endParaRPr>
              </a:p>
              <a:p>
                <a:pPr marL="342900" indent="-342900">
                  <a:buFont typeface="Arial" panose="020B0604020202020204" pitchFamily="34" charset="0"/>
                  <a:buChar char="•"/>
                </a:pPr>
                <a:r>
                  <a:rPr lang="en-US" altLang="zh-CN" sz="2000" dirty="0">
                    <a:ea typeface="Cambria Math" panose="02040503050406030204" pitchFamily="18" charset="0"/>
                  </a:rPr>
                  <a:t>PDE &amp; Boundary conditions (same as forward problems)</a:t>
                </a:r>
              </a:p>
              <a:p>
                <a:pPr marL="342900" indent="-342900">
                  <a:buFont typeface="Arial" panose="020B0604020202020204" pitchFamily="34" charset="0"/>
                  <a:buChar char="•"/>
                </a:pPr>
                <a:r>
                  <a:rPr lang="en-US" altLang="zh-CN" sz="2000" b="1" dirty="0">
                    <a:solidFill>
                      <a:srgbClr val="FF0000"/>
                    </a:solidFill>
                    <a:ea typeface="Cambria Math" panose="02040503050406030204" pitchFamily="18" charset="0"/>
                  </a:rPr>
                  <a:t>At the observation points, </a:t>
                </a:r>
                <a14:m>
                  <m:oMath xmlns:m="http://schemas.openxmlformats.org/officeDocument/2006/math">
                    <m:sSup>
                      <m:sSupPr>
                        <m:ctrlPr>
                          <a:rPr lang="en-US" altLang="zh-CN" sz="2000" b="1" i="1">
                            <a:solidFill>
                              <a:srgbClr val="FF0000"/>
                            </a:solidFill>
                            <a:latin typeface="Cambria Math" panose="02040503050406030204" pitchFamily="18" charset="0"/>
                            <a:ea typeface="Cambria Math" panose="02040503050406030204" pitchFamily="18" charset="0"/>
                          </a:rPr>
                        </m:ctrlPr>
                      </m:sSupPr>
                      <m:e>
                        <m:r>
                          <a:rPr lang="en-US" altLang="zh-CN" sz="2000" b="1" i="1">
                            <a:solidFill>
                              <a:srgbClr val="FF0000"/>
                            </a:solidFill>
                            <a:latin typeface="Cambria Math" panose="02040503050406030204" pitchFamily="18" charset="0"/>
                            <a:ea typeface="Cambria Math" panose="02040503050406030204" pitchFamily="18" charset="0"/>
                          </a:rPr>
                          <m:t>𝒖</m:t>
                        </m:r>
                      </m:e>
                      <m:sup>
                        <m:d>
                          <m:dPr>
                            <m:ctrlPr>
                              <a:rPr lang="en-US" altLang="zh-CN" sz="2000" b="1" i="1">
                                <a:solidFill>
                                  <a:srgbClr val="FF0000"/>
                                </a:solidFill>
                                <a:latin typeface="Cambria Math" panose="02040503050406030204" pitchFamily="18" charset="0"/>
                                <a:ea typeface="Cambria Math" panose="02040503050406030204" pitchFamily="18" charset="0"/>
                              </a:rPr>
                            </m:ctrlPr>
                          </m:dPr>
                          <m:e>
                            <m:r>
                              <a:rPr lang="en-US" altLang="zh-CN" sz="2000" b="1" i="1" smtClean="0">
                                <a:solidFill>
                                  <a:srgbClr val="FF0000"/>
                                </a:solidFill>
                                <a:latin typeface="Cambria Math" panose="02040503050406030204" pitchFamily="18" charset="0"/>
                                <a:ea typeface="Cambria Math" panose="02040503050406030204" pitchFamily="18" charset="0"/>
                              </a:rPr>
                              <m:t>𝒌</m:t>
                            </m:r>
                          </m:e>
                        </m:d>
                      </m:sup>
                    </m:sSup>
                    <m:r>
                      <a:rPr lang="en-US" altLang="zh-CN" sz="2000" b="1" i="1">
                        <a:solidFill>
                          <a:srgbClr val="FF0000"/>
                        </a:solidFill>
                        <a:latin typeface="Cambria Math" panose="02040503050406030204" pitchFamily="18" charset="0"/>
                        <a:ea typeface="Cambria Math" panose="02040503050406030204" pitchFamily="18" charset="0"/>
                      </a:rPr>
                      <m:t>=</m:t>
                    </m:r>
                    <m:sSup>
                      <m:sSupPr>
                        <m:ctrlPr>
                          <a:rPr lang="en-US" altLang="zh-CN" sz="2000" b="1" i="1">
                            <a:solidFill>
                              <a:srgbClr val="FF0000"/>
                            </a:solidFill>
                            <a:latin typeface="Cambria Math" panose="02040503050406030204" pitchFamily="18" charset="0"/>
                            <a:ea typeface="Cambria Math" panose="02040503050406030204" pitchFamily="18" charset="0"/>
                          </a:rPr>
                        </m:ctrlPr>
                      </m:sSupPr>
                      <m:e>
                        <m:acc>
                          <m:accPr>
                            <m:chr m:val="̃"/>
                            <m:ctrlPr>
                              <a:rPr lang="en-US" altLang="zh-CN" sz="2000" b="1" i="1">
                                <a:solidFill>
                                  <a:srgbClr val="FF0000"/>
                                </a:solidFill>
                                <a:latin typeface="Cambria Math" panose="02040503050406030204" pitchFamily="18" charset="0"/>
                                <a:ea typeface="Cambria Math" panose="02040503050406030204" pitchFamily="18" charset="0"/>
                              </a:rPr>
                            </m:ctrlPr>
                          </m:accPr>
                          <m:e>
                            <m:r>
                              <a:rPr lang="en-US" altLang="zh-CN" sz="2000" b="1" i="1">
                                <a:solidFill>
                                  <a:srgbClr val="FF0000"/>
                                </a:solidFill>
                                <a:latin typeface="Cambria Math" panose="02040503050406030204" pitchFamily="18" charset="0"/>
                                <a:ea typeface="Cambria Math" panose="02040503050406030204" pitchFamily="18" charset="0"/>
                              </a:rPr>
                              <m:t>𝒖</m:t>
                            </m:r>
                          </m:e>
                        </m:acc>
                      </m:e>
                      <m:sup>
                        <m:d>
                          <m:dPr>
                            <m:ctrlPr>
                              <a:rPr lang="en-US" altLang="zh-CN" sz="2000" b="1" i="1">
                                <a:solidFill>
                                  <a:srgbClr val="FF0000"/>
                                </a:solidFill>
                                <a:latin typeface="Cambria Math" panose="02040503050406030204" pitchFamily="18" charset="0"/>
                                <a:ea typeface="Cambria Math" panose="02040503050406030204" pitchFamily="18" charset="0"/>
                              </a:rPr>
                            </m:ctrlPr>
                          </m:dPr>
                          <m:e>
                            <m:r>
                              <a:rPr lang="en-US" altLang="zh-CN" sz="2000" b="1" i="1">
                                <a:solidFill>
                                  <a:srgbClr val="FF0000"/>
                                </a:solidFill>
                                <a:latin typeface="Cambria Math" panose="02040503050406030204" pitchFamily="18" charset="0"/>
                                <a:ea typeface="Cambria Math" panose="02040503050406030204" pitchFamily="18" charset="0"/>
                              </a:rPr>
                              <m:t>𝒌</m:t>
                            </m:r>
                          </m:e>
                        </m:d>
                      </m:sup>
                    </m:sSup>
                  </m:oMath>
                </a14:m>
                <a:endParaRPr lang="en-US" altLang="zh-CN" sz="2000" b="1" dirty="0">
                  <a:ea typeface="Cambria Math" panose="02040503050406030204" pitchFamily="18" charset="0"/>
                </a:endParaRPr>
              </a:p>
            </p:txBody>
          </p:sp>
        </mc:Choice>
        <mc:Fallback xmlns="">
          <p:sp>
            <p:nvSpPr>
              <p:cNvPr id="82" name="Rectangle 81">
                <a:extLst>
                  <a:ext uri="{FF2B5EF4-FFF2-40B4-BE49-F238E27FC236}">
                    <a16:creationId xmlns:a16="http://schemas.microsoft.com/office/drawing/2014/main" id="{8D0EEEC7-2D4C-2743-9BCB-367078A91D25}"/>
                  </a:ext>
                </a:extLst>
              </p:cNvPr>
              <p:cNvSpPr>
                <a:spLocks noRot="1" noChangeAspect="1" noMove="1" noResize="1" noEditPoints="1" noAdjustHandles="1" noChangeArrowheads="1" noChangeShapeType="1" noTextEdit="1"/>
              </p:cNvSpPr>
              <p:nvPr/>
            </p:nvSpPr>
            <p:spPr>
              <a:xfrm>
                <a:off x="365266" y="4587090"/>
                <a:ext cx="4711349" cy="1652119"/>
              </a:xfrm>
              <a:prstGeom prst="rect">
                <a:avLst/>
              </a:prstGeom>
              <a:blipFill>
                <a:blip r:embed="rId5"/>
                <a:stretch>
                  <a:fillRect l="-1344" t="-1527" b="-6107"/>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83" name="Rectangle 82">
                <a:extLst>
                  <a:ext uri="{FF2B5EF4-FFF2-40B4-BE49-F238E27FC236}">
                    <a16:creationId xmlns:a16="http://schemas.microsoft.com/office/drawing/2014/main" id="{59738120-FFC0-BA45-9B30-686EAF972065}"/>
                  </a:ext>
                </a:extLst>
              </p:cNvPr>
              <p:cNvSpPr/>
              <p:nvPr/>
            </p:nvSpPr>
            <p:spPr>
              <a:xfrm>
                <a:off x="4947132" y="5076551"/>
                <a:ext cx="7014718" cy="1072858"/>
              </a:xfrm>
              <a:prstGeom prst="rect">
                <a:avLst/>
              </a:prstGeom>
              <a:ln w="19050">
                <a:solidFill>
                  <a:schemeClr val="tx1"/>
                </a:solidFill>
              </a:ln>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zh-CN" b="0" i="0" smtClean="0">
                          <a:latin typeface="Cambria Math" panose="02040503050406030204" pitchFamily="18" charset="0"/>
                          <a:ea typeface="Cambria Math" panose="02040503050406030204" pitchFamily="18" charset="0"/>
                        </a:rPr>
                        <m:t>Loss</m:t>
                      </m:r>
                      <m:r>
                        <a:rPr lang="en-US" altLang="zh-CN" b="0" i="1" smtClean="0">
                          <a:latin typeface="Cambria Math" panose="02040503050406030204" pitchFamily="18" charset="0"/>
                          <a:ea typeface="Cambria Math" panose="02040503050406030204" pitchFamily="18" charset="0"/>
                        </a:rPr>
                        <m:t>=</m:t>
                      </m:r>
                      <m:f>
                        <m:fPr>
                          <m:ctrlPr>
                            <a:rPr lang="en-US" altLang="zh-CN" b="0" i="1" smtClean="0">
                              <a:latin typeface="Cambria Math" panose="02040503050406030204" pitchFamily="18" charset="0"/>
                              <a:ea typeface="Cambria Math" panose="02040503050406030204" pitchFamily="18" charset="0"/>
                            </a:rPr>
                          </m:ctrlPr>
                        </m:fPr>
                        <m:num>
                          <m:r>
                            <a:rPr lang="en-US" altLang="zh-CN" b="0" i="1" smtClean="0">
                              <a:latin typeface="Cambria Math" panose="02040503050406030204" pitchFamily="18" charset="0"/>
                              <a:ea typeface="Cambria Math" panose="02040503050406030204" pitchFamily="18" charset="0"/>
                            </a:rPr>
                            <m:t>1</m:t>
                          </m:r>
                        </m:num>
                        <m:den>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𝑁</m:t>
                              </m:r>
                            </m:e>
                            <m:sub>
                              <m:r>
                                <a:rPr lang="en-US" altLang="zh-CN" b="0" i="1" smtClean="0">
                                  <a:latin typeface="Cambria Math" panose="02040503050406030204" pitchFamily="18" charset="0"/>
                                  <a:ea typeface="Cambria Math" panose="02040503050406030204" pitchFamily="18" charset="0"/>
                                </a:rPr>
                                <m:t>𝑖</m:t>
                              </m:r>
                            </m:sub>
                          </m:sSub>
                        </m:den>
                      </m:f>
                      <m:nary>
                        <m:naryPr>
                          <m:chr m:val="∑"/>
                          <m:supHide m:val="on"/>
                          <m:ctrlPr>
                            <a:rPr lang="en-US" altLang="zh-CN" b="0" i="1" smtClean="0">
                              <a:latin typeface="Cambria Math" panose="02040503050406030204" pitchFamily="18" charset="0"/>
                              <a:ea typeface="Cambria Math" panose="02040503050406030204" pitchFamily="18" charset="0"/>
                            </a:rPr>
                          </m:ctrlPr>
                        </m:naryPr>
                        <m:sub>
                          <m:r>
                            <a:rPr lang="en-US" altLang="zh-CN" b="0" i="1" smtClean="0">
                              <a:latin typeface="Cambria Math" panose="02040503050406030204" pitchFamily="18" charset="0"/>
                              <a:ea typeface="Cambria Math" panose="02040503050406030204" pitchFamily="18" charset="0"/>
                            </a:rPr>
                            <m:t>𝑖</m:t>
                          </m:r>
                        </m:sub>
                        <m:sup/>
                        <m:e>
                          <m:sSup>
                            <m:sSupPr>
                              <m:ctrlPr>
                                <a:rPr lang="en-US" altLang="zh-CN" b="0" i="1" smtClean="0">
                                  <a:latin typeface="Cambria Math" panose="02040503050406030204" pitchFamily="18" charset="0"/>
                                  <a:ea typeface="Cambria Math" panose="02040503050406030204" pitchFamily="18" charset="0"/>
                                </a:rPr>
                              </m:ctrlPr>
                            </m:sSupPr>
                            <m:e>
                              <m:d>
                                <m:dPr>
                                  <m:ctrlPr>
                                    <a:rPr lang="en-US" altLang="zh-CN" b="0" i="1" smtClean="0">
                                      <a:latin typeface="Cambria Math" panose="02040503050406030204" pitchFamily="18" charset="0"/>
                                      <a:ea typeface="Cambria Math" panose="02040503050406030204" pitchFamily="18" charset="0"/>
                                    </a:rPr>
                                  </m:ctrlPr>
                                </m:dPr>
                                <m:e>
                                  <m:sSup>
                                    <m:sSupPr>
                                      <m:ctrlPr>
                                        <a:rPr lang="en-US" altLang="zh-CN" i="1">
                                          <a:latin typeface="Cambria Math" panose="02040503050406030204" pitchFamily="18" charset="0"/>
                                          <a:ea typeface="Cambria Math" panose="02040503050406030204" pitchFamily="18" charset="0"/>
                                        </a:rPr>
                                      </m:ctrlPr>
                                    </m:sSupPr>
                                    <m:e>
                                      <m:r>
                                        <a:rPr lang="en-US" altLang="zh-CN" i="1">
                                          <a:latin typeface="Cambria Math" panose="02040503050406030204" pitchFamily="18" charset="0"/>
                                          <a:ea typeface="Cambria Math" panose="02040503050406030204" pitchFamily="18" charset="0"/>
                                        </a:rPr>
                                        <m:t>𝑓</m:t>
                                      </m:r>
                                    </m:e>
                                    <m:sup>
                                      <m:d>
                                        <m:dPr>
                                          <m:ctrlPr>
                                            <a:rPr lang="en-US" altLang="zh-CN" i="1">
                                              <a:latin typeface="Cambria Math" panose="02040503050406030204" pitchFamily="18" charset="0"/>
                                              <a:ea typeface="Cambria Math" panose="02040503050406030204" pitchFamily="18" charset="0"/>
                                            </a:rPr>
                                          </m:ctrlPr>
                                        </m:dPr>
                                        <m:e>
                                          <m:r>
                                            <a:rPr lang="en-US" altLang="zh-CN" i="1">
                                              <a:latin typeface="Cambria Math" panose="02040503050406030204" pitchFamily="18" charset="0"/>
                                              <a:ea typeface="Cambria Math" panose="02040503050406030204" pitchFamily="18" charset="0"/>
                                            </a:rPr>
                                            <m:t>𝑖</m:t>
                                          </m:r>
                                        </m:e>
                                      </m:d>
                                    </m:sup>
                                  </m:sSup>
                                </m:e>
                              </m:d>
                            </m:e>
                            <m:sup>
                              <m:r>
                                <a:rPr lang="en-US" altLang="zh-CN" b="0" i="1" smtClean="0">
                                  <a:latin typeface="Cambria Math" panose="02040503050406030204" pitchFamily="18" charset="0"/>
                                  <a:ea typeface="Cambria Math" panose="02040503050406030204" pitchFamily="18" charset="0"/>
                                </a:rPr>
                                <m:t>2</m:t>
                              </m:r>
                            </m:sup>
                          </m:sSup>
                        </m:e>
                      </m:nary>
                      <m:r>
                        <a:rPr lang="en-US" altLang="zh-CN" b="0" i="1" smtClean="0">
                          <a:latin typeface="Cambria Math" panose="02040503050406030204" pitchFamily="18" charset="0"/>
                          <a:ea typeface="Cambria Math" panose="02040503050406030204" pitchFamily="18" charset="0"/>
                        </a:rPr>
                        <m:t>+</m:t>
                      </m:r>
                      <m:f>
                        <m:fPr>
                          <m:ctrlPr>
                            <a:rPr lang="en-US" altLang="zh-CN" i="1">
                              <a:latin typeface="Cambria Math" panose="02040503050406030204" pitchFamily="18" charset="0"/>
                              <a:ea typeface="Cambria Math" panose="02040503050406030204" pitchFamily="18" charset="0"/>
                            </a:rPr>
                          </m:ctrlPr>
                        </m:fPr>
                        <m:num>
                          <m:r>
                            <a:rPr lang="en-US" altLang="zh-CN" i="1">
                              <a:latin typeface="Cambria Math" panose="02040503050406030204" pitchFamily="18" charset="0"/>
                              <a:ea typeface="Cambria Math" panose="02040503050406030204" pitchFamily="18" charset="0"/>
                            </a:rPr>
                            <m:t>1</m:t>
                          </m:r>
                        </m:num>
                        <m:den>
                          <m:sSub>
                            <m:sSubPr>
                              <m:ctrlPr>
                                <a:rPr lang="en-US" altLang="zh-CN" i="1" smtClean="0">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𝑁</m:t>
                              </m:r>
                            </m:e>
                            <m:sub>
                              <m:r>
                                <a:rPr lang="en-US" altLang="zh-CN" b="0" i="1" smtClean="0">
                                  <a:latin typeface="Cambria Math" panose="02040503050406030204" pitchFamily="18" charset="0"/>
                                  <a:ea typeface="Cambria Math" panose="02040503050406030204" pitchFamily="18" charset="0"/>
                                </a:rPr>
                                <m:t>𝑗</m:t>
                              </m:r>
                            </m:sub>
                          </m:sSub>
                        </m:den>
                      </m:f>
                      <m:nary>
                        <m:naryPr>
                          <m:chr m:val="∑"/>
                          <m:supHide m:val="on"/>
                          <m:ctrlPr>
                            <a:rPr lang="en-US" altLang="zh-CN" i="1">
                              <a:latin typeface="Cambria Math" panose="02040503050406030204" pitchFamily="18" charset="0"/>
                              <a:ea typeface="Cambria Math" panose="02040503050406030204" pitchFamily="18" charset="0"/>
                            </a:rPr>
                          </m:ctrlPr>
                        </m:naryPr>
                        <m:sub>
                          <m:r>
                            <a:rPr lang="en-US" altLang="zh-CN" b="0" i="1" smtClean="0">
                              <a:latin typeface="Cambria Math" panose="02040503050406030204" pitchFamily="18" charset="0"/>
                              <a:ea typeface="Cambria Math" panose="02040503050406030204" pitchFamily="18" charset="0"/>
                            </a:rPr>
                            <m:t>𝑗</m:t>
                          </m:r>
                        </m:sub>
                        <m:sup/>
                        <m:e>
                          <m:sSup>
                            <m:sSupPr>
                              <m:ctrlPr>
                                <a:rPr lang="en-US" altLang="zh-CN" b="0" i="1" smtClean="0">
                                  <a:latin typeface="Cambria Math" panose="02040503050406030204" pitchFamily="18" charset="0"/>
                                  <a:ea typeface="Cambria Math" panose="02040503050406030204" pitchFamily="18" charset="0"/>
                                </a:rPr>
                              </m:ctrlPr>
                            </m:sSupPr>
                            <m:e>
                              <m:d>
                                <m:dPr>
                                  <m:begChr m:val="（"/>
                                  <m:endChr m:val="）"/>
                                  <m:ctrlPr>
                                    <a:rPr lang="zh-CN" altLang="en-US" i="1">
                                      <a:latin typeface="Cambria Math" panose="02040503050406030204" pitchFamily="18" charset="0"/>
                                    </a:rPr>
                                  </m:ctrlPr>
                                </m:dPr>
                                <m:e>
                                  <m:sSup>
                                    <m:sSupPr>
                                      <m:ctrlPr>
                                        <a:rPr lang="en-US" altLang="zh-CN" i="1">
                                          <a:latin typeface="Cambria Math" panose="02040503050406030204" pitchFamily="18" charset="0"/>
                                          <a:ea typeface="Cambria Math" panose="02040503050406030204" pitchFamily="18" charset="0"/>
                                        </a:rPr>
                                      </m:ctrlPr>
                                    </m:sSupPr>
                                    <m:e>
                                      <m:r>
                                        <a:rPr lang="en-US" altLang="zh-CN" i="1">
                                          <a:latin typeface="Cambria Math" panose="02040503050406030204" pitchFamily="18" charset="0"/>
                                          <a:ea typeface="Cambria Math" panose="02040503050406030204" pitchFamily="18" charset="0"/>
                                        </a:rPr>
                                        <m:t>𝑢</m:t>
                                      </m:r>
                                    </m:e>
                                    <m:sup>
                                      <m:d>
                                        <m:dPr>
                                          <m:ctrlPr>
                                            <a:rPr lang="en-US" altLang="zh-CN" i="1">
                                              <a:latin typeface="Cambria Math" panose="02040503050406030204" pitchFamily="18" charset="0"/>
                                              <a:ea typeface="Cambria Math" panose="02040503050406030204" pitchFamily="18" charset="0"/>
                                            </a:rPr>
                                          </m:ctrlPr>
                                        </m:dPr>
                                        <m:e>
                                          <m:r>
                                            <a:rPr lang="en-US" altLang="zh-CN" i="1">
                                              <a:latin typeface="Cambria Math" panose="02040503050406030204" pitchFamily="18" charset="0"/>
                                              <a:ea typeface="Cambria Math" panose="02040503050406030204" pitchFamily="18" charset="0"/>
                                            </a:rPr>
                                            <m:t>𝑗</m:t>
                                          </m:r>
                                        </m:e>
                                      </m:d>
                                    </m:sup>
                                  </m:sSup>
                                  <m:r>
                                    <a:rPr lang="en-US" altLang="zh-CN" i="1">
                                      <a:latin typeface="Cambria Math" panose="02040503050406030204" pitchFamily="18" charset="0"/>
                                      <a:ea typeface="Cambria Math" panose="02040503050406030204" pitchFamily="18" charset="0"/>
                                    </a:rPr>
                                    <m:t>−</m:t>
                                  </m:r>
                                  <m:func>
                                    <m:funcPr>
                                      <m:ctrlPr>
                                        <a:rPr lang="en-US" altLang="zh-CN" i="1">
                                          <a:latin typeface="Cambria Math" panose="02040503050406030204" pitchFamily="18" charset="0"/>
                                          <a:ea typeface="Cambria Math" panose="02040503050406030204" pitchFamily="18" charset="0"/>
                                        </a:rPr>
                                      </m:ctrlPr>
                                    </m:funcPr>
                                    <m:fName>
                                      <m:r>
                                        <m:rPr>
                                          <m:sty m:val="p"/>
                                        </m:rPr>
                                        <a:rPr lang="en-US" altLang="zh-CN">
                                          <a:latin typeface="Cambria Math" panose="02040503050406030204" pitchFamily="18" charset="0"/>
                                          <a:ea typeface="Cambria Math" panose="02040503050406030204" pitchFamily="18" charset="0"/>
                                        </a:rPr>
                                        <m:t>sin</m:t>
                                      </m:r>
                                    </m:fName>
                                    <m:e>
                                      <m:r>
                                        <a:rPr lang="en-US" altLang="zh-CN" i="1">
                                          <a:latin typeface="Cambria Math" panose="02040503050406030204" pitchFamily="18" charset="0"/>
                                          <a:ea typeface="Cambria Math" panose="02040503050406030204" pitchFamily="18" charset="0"/>
                                        </a:rPr>
                                        <m:t>3</m:t>
                                      </m:r>
                                      <m:sSup>
                                        <m:sSupPr>
                                          <m:ctrlPr>
                                            <a:rPr lang="en-US" altLang="zh-CN" i="1">
                                              <a:latin typeface="Cambria Math" panose="02040503050406030204" pitchFamily="18" charset="0"/>
                                              <a:ea typeface="Cambria Math" panose="02040503050406030204" pitchFamily="18" charset="0"/>
                                            </a:rPr>
                                          </m:ctrlPr>
                                        </m:sSupPr>
                                        <m:e>
                                          <m:r>
                                            <a:rPr lang="en-US" altLang="zh-CN" i="1">
                                              <a:latin typeface="Cambria Math" panose="02040503050406030204" pitchFamily="18" charset="0"/>
                                              <a:ea typeface="Cambria Math" panose="02040503050406030204" pitchFamily="18" charset="0"/>
                                            </a:rPr>
                                            <m:t>𝑥</m:t>
                                          </m:r>
                                        </m:e>
                                        <m:sup>
                                          <m:d>
                                            <m:dPr>
                                              <m:ctrlPr>
                                                <a:rPr lang="en-US" altLang="zh-CN" i="1">
                                                  <a:latin typeface="Cambria Math" panose="02040503050406030204" pitchFamily="18" charset="0"/>
                                                  <a:ea typeface="Cambria Math" panose="02040503050406030204" pitchFamily="18" charset="0"/>
                                                </a:rPr>
                                              </m:ctrlPr>
                                            </m:dPr>
                                            <m:e>
                                              <m:r>
                                                <a:rPr lang="en-US" altLang="zh-CN" i="1">
                                                  <a:latin typeface="Cambria Math" panose="02040503050406030204" pitchFamily="18" charset="0"/>
                                                  <a:ea typeface="Cambria Math" panose="02040503050406030204" pitchFamily="18" charset="0"/>
                                                </a:rPr>
                                                <m:t>𝑗</m:t>
                                              </m:r>
                                            </m:e>
                                          </m:d>
                                        </m:sup>
                                      </m:sSup>
                                    </m:e>
                                  </m:func>
                                </m:e>
                              </m:d>
                            </m:e>
                            <m:sup>
                              <m:r>
                                <a:rPr lang="en-US" altLang="zh-CN" b="0" i="1" smtClean="0">
                                  <a:latin typeface="Cambria Math" panose="02040503050406030204" pitchFamily="18" charset="0"/>
                                  <a:ea typeface="Cambria Math" panose="02040503050406030204" pitchFamily="18" charset="0"/>
                                </a:rPr>
                                <m:t>2</m:t>
                              </m:r>
                            </m:sup>
                          </m:sSup>
                        </m:e>
                      </m:nary>
                      <m:r>
                        <a:rPr lang="en-US" altLang="zh-CN" i="1">
                          <a:latin typeface="Cambria Math" panose="02040503050406030204" pitchFamily="18" charset="0"/>
                          <a:ea typeface="Cambria Math" panose="02040503050406030204" pitchFamily="18" charset="0"/>
                        </a:rPr>
                        <m:t>+</m:t>
                      </m:r>
                      <m:f>
                        <m:fPr>
                          <m:ctrlPr>
                            <a:rPr lang="en-US" altLang="zh-CN" i="1">
                              <a:latin typeface="Cambria Math" panose="02040503050406030204" pitchFamily="18" charset="0"/>
                              <a:ea typeface="Cambria Math" panose="02040503050406030204" pitchFamily="18" charset="0"/>
                            </a:rPr>
                          </m:ctrlPr>
                        </m:fPr>
                        <m:num>
                          <m:r>
                            <a:rPr lang="en-US" altLang="zh-CN" i="1">
                              <a:latin typeface="Cambria Math" panose="02040503050406030204" pitchFamily="18" charset="0"/>
                              <a:ea typeface="Cambria Math" panose="02040503050406030204" pitchFamily="18" charset="0"/>
                            </a:rPr>
                            <m:t>1</m:t>
                          </m:r>
                        </m:num>
                        <m:den>
                          <m:sSub>
                            <m:sSubPr>
                              <m:ctrlPr>
                                <a:rPr lang="en-US"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𝑁</m:t>
                              </m:r>
                            </m:e>
                            <m:sub>
                              <m:r>
                                <a:rPr lang="en-US" altLang="zh-CN" b="0" i="1" smtClean="0">
                                  <a:latin typeface="Cambria Math" panose="02040503050406030204" pitchFamily="18" charset="0"/>
                                  <a:ea typeface="Cambria Math" panose="02040503050406030204" pitchFamily="18" charset="0"/>
                                </a:rPr>
                                <m:t>𝑘</m:t>
                              </m:r>
                            </m:sub>
                          </m:sSub>
                        </m:den>
                      </m:f>
                      <m:nary>
                        <m:naryPr>
                          <m:chr m:val="∑"/>
                          <m:supHide m:val="on"/>
                          <m:ctrlPr>
                            <a:rPr lang="en-US" altLang="zh-CN" i="1">
                              <a:latin typeface="Cambria Math" panose="02040503050406030204" pitchFamily="18" charset="0"/>
                              <a:ea typeface="Cambria Math" panose="02040503050406030204" pitchFamily="18" charset="0"/>
                            </a:rPr>
                          </m:ctrlPr>
                        </m:naryPr>
                        <m:sub>
                          <m:r>
                            <a:rPr lang="en-US" altLang="zh-CN" b="0" i="1" smtClean="0">
                              <a:latin typeface="Cambria Math" panose="02040503050406030204" pitchFamily="18" charset="0"/>
                              <a:ea typeface="Cambria Math" panose="02040503050406030204" pitchFamily="18" charset="0"/>
                            </a:rPr>
                            <m:t>𝑘</m:t>
                          </m:r>
                        </m:sub>
                        <m:sup/>
                        <m:e>
                          <m:sSup>
                            <m:sSupPr>
                              <m:ctrlPr>
                                <a:rPr lang="en-US" altLang="zh-CN" b="0" i="1" smtClean="0">
                                  <a:latin typeface="Cambria Math" panose="02040503050406030204" pitchFamily="18" charset="0"/>
                                  <a:ea typeface="Cambria Math" panose="02040503050406030204" pitchFamily="18" charset="0"/>
                                </a:rPr>
                              </m:ctrlPr>
                            </m:sSupPr>
                            <m:e>
                              <m:d>
                                <m:dPr>
                                  <m:begChr m:val="（"/>
                                  <m:endChr m:val="）"/>
                                  <m:ctrlPr>
                                    <a:rPr lang="zh-CN" altLang="en-US" b="0" i="1" smtClean="0">
                                      <a:latin typeface="Cambria Math" panose="02040503050406030204" pitchFamily="18" charset="0"/>
                                    </a:rPr>
                                  </m:ctrlPr>
                                </m:dPr>
                                <m:e>
                                  <m:sSup>
                                    <m:sSupPr>
                                      <m:ctrlPr>
                                        <a:rPr lang="en-US" altLang="zh-CN" i="1">
                                          <a:latin typeface="Cambria Math" panose="02040503050406030204" pitchFamily="18" charset="0"/>
                                          <a:ea typeface="Cambria Math" panose="02040503050406030204" pitchFamily="18" charset="0"/>
                                        </a:rPr>
                                      </m:ctrlPr>
                                    </m:sSupPr>
                                    <m:e>
                                      <m:r>
                                        <a:rPr lang="en-US" altLang="zh-CN" i="1">
                                          <a:latin typeface="Cambria Math" panose="02040503050406030204" pitchFamily="18" charset="0"/>
                                          <a:ea typeface="Cambria Math" panose="02040503050406030204" pitchFamily="18" charset="0"/>
                                        </a:rPr>
                                        <m:t>𝑢</m:t>
                                      </m:r>
                                    </m:e>
                                    <m:sup>
                                      <m:d>
                                        <m:dPr>
                                          <m:ctrlPr>
                                            <a:rPr lang="en-US" altLang="zh-CN" i="1">
                                              <a:latin typeface="Cambria Math" panose="02040503050406030204" pitchFamily="18" charset="0"/>
                                              <a:ea typeface="Cambria Math" panose="02040503050406030204" pitchFamily="18" charset="0"/>
                                            </a:rPr>
                                          </m:ctrlPr>
                                        </m:dPr>
                                        <m:e>
                                          <m:r>
                                            <a:rPr lang="en-US" altLang="zh-CN" i="1">
                                              <a:latin typeface="Cambria Math" panose="02040503050406030204" pitchFamily="18" charset="0"/>
                                              <a:ea typeface="Cambria Math" panose="02040503050406030204" pitchFamily="18" charset="0"/>
                                            </a:rPr>
                                            <m:t>𝑘</m:t>
                                          </m:r>
                                        </m:e>
                                      </m:d>
                                    </m:sup>
                                  </m:sSup>
                                  <m:r>
                                    <a:rPr lang="en-US" altLang="zh-CN" b="0" i="1" smtClean="0">
                                      <a:latin typeface="Cambria Math" panose="02040503050406030204" pitchFamily="18" charset="0"/>
                                      <a:ea typeface="Cambria Math" panose="02040503050406030204" pitchFamily="18" charset="0"/>
                                    </a:rPr>
                                    <m:t>−</m:t>
                                  </m:r>
                                  <m:sSup>
                                    <m:sSupPr>
                                      <m:ctrlPr>
                                        <a:rPr lang="en-US" altLang="zh-CN" i="1">
                                          <a:latin typeface="Cambria Math" panose="02040503050406030204" pitchFamily="18" charset="0"/>
                                          <a:ea typeface="Cambria Math" panose="02040503050406030204" pitchFamily="18" charset="0"/>
                                        </a:rPr>
                                      </m:ctrlPr>
                                    </m:sSupPr>
                                    <m:e>
                                      <m:acc>
                                        <m:accPr>
                                          <m:chr m:val="̃"/>
                                          <m:ctrlPr>
                                            <a:rPr lang="en-US" altLang="zh-CN" i="1">
                                              <a:latin typeface="Cambria Math" panose="02040503050406030204" pitchFamily="18" charset="0"/>
                                              <a:ea typeface="Cambria Math" panose="02040503050406030204" pitchFamily="18" charset="0"/>
                                            </a:rPr>
                                          </m:ctrlPr>
                                        </m:accPr>
                                        <m:e>
                                          <m:r>
                                            <a:rPr lang="en-US" altLang="zh-CN" i="1">
                                              <a:latin typeface="Cambria Math" panose="02040503050406030204" pitchFamily="18" charset="0"/>
                                              <a:ea typeface="Cambria Math" panose="02040503050406030204" pitchFamily="18" charset="0"/>
                                            </a:rPr>
                                            <m:t>𝑢</m:t>
                                          </m:r>
                                        </m:e>
                                      </m:acc>
                                    </m:e>
                                    <m:sup>
                                      <m:d>
                                        <m:dPr>
                                          <m:ctrlPr>
                                            <a:rPr lang="en-US" altLang="zh-CN" i="1">
                                              <a:latin typeface="Cambria Math" panose="02040503050406030204" pitchFamily="18" charset="0"/>
                                              <a:ea typeface="Cambria Math" panose="02040503050406030204" pitchFamily="18" charset="0"/>
                                            </a:rPr>
                                          </m:ctrlPr>
                                        </m:dPr>
                                        <m:e>
                                          <m:r>
                                            <a:rPr lang="en-US" altLang="zh-CN" i="1">
                                              <a:latin typeface="Cambria Math" panose="02040503050406030204" pitchFamily="18" charset="0"/>
                                              <a:ea typeface="Cambria Math" panose="02040503050406030204" pitchFamily="18" charset="0"/>
                                            </a:rPr>
                                            <m:t>𝑘</m:t>
                                          </m:r>
                                        </m:e>
                                      </m:d>
                                    </m:sup>
                                  </m:sSup>
                                </m:e>
                              </m:d>
                            </m:e>
                            <m:sup>
                              <m:r>
                                <a:rPr lang="en-US" altLang="zh-CN" b="0" i="1" smtClean="0">
                                  <a:latin typeface="Cambria Math" panose="02040503050406030204" pitchFamily="18" charset="0"/>
                                  <a:ea typeface="Cambria Math" panose="02040503050406030204" pitchFamily="18" charset="0"/>
                                </a:rPr>
                                <m:t>2</m:t>
                              </m:r>
                            </m:sup>
                          </m:sSup>
                        </m:e>
                      </m:nary>
                    </m:oMath>
                  </m:oMathPara>
                </a14:m>
                <a:endParaRPr lang="en-US" altLang="zh-CN" dirty="0">
                  <a:ea typeface="Cambria Math" panose="02040503050406030204" pitchFamily="18" charset="0"/>
                </a:endParaRPr>
              </a:p>
              <a:p>
                <a:endParaRPr lang="en-US" altLang="zh-CN" dirty="0">
                  <a:ea typeface="Cambria Math" panose="02040503050406030204" pitchFamily="18" charset="0"/>
                </a:endParaRPr>
              </a:p>
            </p:txBody>
          </p:sp>
        </mc:Choice>
        <mc:Fallback>
          <p:sp>
            <p:nvSpPr>
              <p:cNvPr id="83" name="Rectangle 82">
                <a:extLst>
                  <a:ext uri="{FF2B5EF4-FFF2-40B4-BE49-F238E27FC236}">
                    <a16:creationId xmlns:a16="http://schemas.microsoft.com/office/drawing/2014/main" id="{59738120-FFC0-BA45-9B30-686EAF972065}"/>
                  </a:ext>
                </a:extLst>
              </p:cNvPr>
              <p:cNvSpPr>
                <a:spLocks noRot="1" noChangeAspect="1" noMove="1" noResize="1" noEditPoints="1" noAdjustHandles="1" noChangeArrowheads="1" noChangeShapeType="1" noTextEdit="1"/>
              </p:cNvSpPr>
              <p:nvPr/>
            </p:nvSpPr>
            <p:spPr>
              <a:xfrm>
                <a:off x="4947132" y="5076551"/>
                <a:ext cx="7014718" cy="1072858"/>
              </a:xfrm>
              <a:prstGeom prst="rect">
                <a:avLst/>
              </a:prstGeom>
              <a:blipFill>
                <a:blip r:embed="rId6"/>
                <a:stretch>
                  <a:fillRect t="-85057" b="-89655"/>
                </a:stretch>
              </a:blipFill>
              <a:ln w="19050">
                <a:solidFill>
                  <a:schemeClr val="tx1"/>
                </a:solidFill>
              </a:ln>
            </p:spPr>
            <p:txBody>
              <a:bodyPr/>
              <a:lstStyle/>
              <a:p>
                <a:r>
                  <a:rPr lang="en-US">
                    <a:noFill/>
                  </a:rPr>
                  <a:t> </a:t>
                </a:r>
              </a:p>
            </p:txBody>
          </p:sp>
        </mc:Fallback>
      </mc:AlternateContent>
      <p:sp>
        <p:nvSpPr>
          <p:cNvPr id="89" name="Rectangle 88">
            <a:extLst>
              <a:ext uri="{FF2B5EF4-FFF2-40B4-BE49-F238E27FC236}">
                <a16:creationId xmlns:a16="http://schemas.microsoft.com/office/drawing/2014/main" id="{6EFEFCF2-5D0A-EC43-B6B9-EA934606AFC1}"/>
              </a:ext>
            </a:extLst>
          </p:cNvPr>
          <p:cNvSpPr/>
          <p:nvPr/>
        </p:nvSpPr>
        <p:spPr>
          <a:xfrm>
            <a:off x="172195" y="773727"/>
            <a:ext cx="2857385" cy="400110"/>
          </a:xfrm>
          <a:prstGeom prst="rect">
            <a:avLst/>
          </a:prstGeom>
        </p:spPr>
        <p:txBody>
          <a:bodyPr wrap="none">
            <a:spAutoFit/>
          </a:bodyPr>
          <a:lstStyle/>
          <a:p>
            <a:r>
              <a:rPr lang="en-US" sz="2000" b="1" dirty="0"/>
              <a:t>Inverse Problem (Simple)</a:t>
            </a:r>
          </a:p>
        </p:txBody>
      </p:sp>
      <mc:AlternateContent xmlns:mc="http://schemas.openxmlformats.org/markup-compatibility/2006" xmlns:a14="http://schemas.microsoft.com/office/drawing/2010/main">
        <mc:Choice Requires="a14">
          <p:sp>
            <p:nvSpPr>
              <p:cNvPr id="84" name="Rectangle 83">
                <a:extLst>
                  <a:ext uri="{FF2B5EF4-FFF2-40B4-BE49-F238E27FC236}">
                    <a16:creationId xmlns:a16="http://schemas.microsoft.com/office/drawing/2014/main" id="{FCB2D8F3-7D98-4C47-8519-CD883AFF5F49}"/>
                  </a:ext>
                </a:extLst>
              </p:cNvPr>
              <p:cNvSpPr/>
              <p:nvPr/>
            </p:nvSpPr>
            <p:spPr>
              <a:xfrm>
                <a:off x="355092" y="2864825"/>
                <a:ext cx="4027835" cy="768800"/>
              </a:xfrm>
              <a:prstGeom prst="rect">
                <a:avLst/>
              </a:prstGeom>
            </p:spPr>
            <p:txBody>
              <a:bodyPr wrap="square">
                <a:spAutoFit/>
              </a:bodyPr>
              <a:lstStyle/>
              <a:p>
                <a:r>
                  <a:rPr lang="en-US" altLang="zh-CN" sz="2000" dirty="0"/>
                  <a:t>Given </a:t>
                </a:r>
                <a:r>
                  <a:rPr lang="en-US" altLang="zh-CN" sz="2000" b="1" dirty="0">
                    <a:solidFill>
                      <a:srgbClr val="FF0000"/>
                    </a:solidFill>
                  </a:rPr>
                  <a:t>discrete observations </a:t>
                </a:r>
                <a:r>
                  <a:rPr lang="en-US" altLang="zh-CN" sz="2000" dirty="0"/>
                  <a:t>of </a:t>
                </a:r>
                <a14:m>
                  <m:oMath xmlns:m="http://schemas.openxmlformats.org/officeDocument/2006/math">
                    <m:r>
                      <a:rPr lang="en-US" altLang="zh-CN" sz="2000" i="1">
                        <a:latin typeface="Cambria Math" panose="02040503050406030204" pitchFamily="18" charset="0"/>
                        <a:ea typeface="Cambria Math" panose="02040503050406030204" pitchFamily="18" charset="0"/>
                      </a:rPr>
                      <m:t>𝑢</m:t>
                    </m:r>
                  </m:oMath>
                </a14:m>
                <a:r>
                  <a:rPr lang="en-US" altLang="zh-CN" sz="2000" dirty="0">
                    <a:ea typeface="Cambria Math" panose="02040503050406030204" pitchFamily="18" charset="0"/>
                  </a:rPr>
                  <a:t>:</a:t>
                </a:r>
              </a:p>
              <a:p>
                <a:pPr/>
                <a14:m>
                  <m:oMathPara xmlns:m="http://schemas.openxmlformats.org/officeDocument/2006/math">
                    <m:oMathParaPr>
                      <m:jc m:val="centerGroup"/>
                    </m:oMathParaPr>
                    <m:oMath xmlns:m="http://schemas.openxmlformats.org/officeDocument/2006/math">
                      <m:r>
                        <a:rPr lang="en-US" altLang="zh-CN" sz="2000" b="0" i="1" smtClean="0">
                          <a:latin typeface="Cambria Math" panose="02040503050406030204" pitchFamily="18" charset="0"/>
                          <a:ea typeface="Cambria Math" panose="02040503050406030204" pitchFamily="18" charset="0"/>
                        </a:rPr>
                        <m:t>𝑢</m:t>
                      </m:r>
                      <m:d>
                        <m:dPr>
                          <m:ctrlPr>
                            <a:rPr lang="en-US" altLang="zh-CN" sz="2000" b="0" i="1" smtClean="0">
                              <a:latin typeface="Cambria Math" panose="02040503050406030204" pitchFamily="18" charset="0"/>
                              <a:ea typeface="Cambria Math" panose="02040503050406030204" pitchFamily="18" charset="0"/>
                            </a:rPr>
                          </m:ctrlPr>
                        </m:dPr>
                        <m:e>
                          <m:sSup>
                            <m:sSupPr>
                              <m:ctrlPr>
                                <a:rPr lang="en-US" altLang="zh-CN" sz="2000" b="0" i="1" smtClean="0">
                                  <a:latin typeface="Cambria Math" panose="02040503050406030204" pitchFamily="18" charset="0"/>
                                  <a:ea typeface="Cambria Math" panose="02040503050406030204" pitchFamily="18" charset="0"/>
                                </a:rPr>
                              </m:ctrlPr>
                            </m:sSupPr>
                            <m:e>
                              <m:r>
                                <a:rPr lang="en-US" altLang="zh-CN" sz="2000" b="0" i="1" smtClean="0">
                                  <a:latin typeface="Cambria Math" panose="02040503050406030204" pitchFamily="18" charset="0"/>
                                  <a:ea typeface="Cambria Math" panose="02040503050406030204" pitchFamily="18" charset="0"/>
                                </a:rPr>
                                <m:t>𝑥</m:t>
                              </m:r>
                            </m:e>
                            <m:sup>
                              <m:d>
                                <m:dPr>
                                  <m:ctrlPr>
                                    <a:rPr lang="en-US" altLang="zh-CN" sz="2000" b="0" i="1" smtClean="0">
                                      <a:latin typeface="Cambria Math" panose="02040503050406030204" pitchFamily="18" charset="0"/>
                                      <a:ea typeface="Cambria Math" panose="02040503050406030204" pitchFamily="18" charset="0"/>
                                    </a:rPr>
                                  </m:ctrlPr>
                                </m:dPr>
                                <m:e>
                                  <m:r>
                                    <a:rPr lang="en-US" altLang="zh-CN" sz="2000" i="1">
                                      <a:latin typeface="Cambria Math" panose="02040503050406030204" pitchFamily="18" charset="0"/>
                                      <a:ea typeface="Cambria Math" panose="02040503050406030204" pitchFamily="18" charset="0"/>
                                    </a:rPr>
                                    <m:t>𝑘</m:t>
                                  </m:r>
                                </m:e>
                              </m:d>
                            </m:sup>
                          </m:sSup>
                          <m:r>
                            <a:rPr lang="en-US" altLang="zh-CN" sz="2000" b="0" i="1" smtClean="0">
                              <a:latin typeface="Cambria Math" panose="02040503050406030204" pitchFamily="18" charset="0"/>
                              <a:ea typeface="Cambria Math" panose="02040503050406030204" pitchFamily="18" charset="0"/>
                            </a:rPr>
                            <m:t>,</m:t>
                          </m:r>
                          <m:sSup>
                            <m:sSupPr>
                              <m:ctrlPr>
                                <a:rPr lang="en-US" altLang="zh-CN" sz="2000" i="1">
                                  <a:latin typeface="Cambria Math" panose="02040503050406030204" pitchFamily="18" charset="0"/>
                                  <a:ea typeface="Cambria Math" panose="02040503050406030204" pitchFamily="18" charset="0"/>
                                </a:rPr>
                              </m:ctrlPr>
                            </m:sSupPr>
                            <m:e>
                              <m:r>
                                <a:rPr lang="en-US" altLang="zh-CN" sz="2000" b="0" i="1" smtClean="0">
                                  <a:latin typeface="Cambria Math" panose="02040503050406030204" pitchFamily="18" charset="0"/>
                                  <a:ea typeface="Cambria Math" panose="02040503050406030204" pitchFamily="18" charset="0"/>
                                </a:rPr>
                                <m:t>𝑡</m:t>
                              </m:r>
                            </m:e>
                            <m:sup>
                              <m:d>
                                <m:dPr>
                                  <m:ctrlPr>
                                    <a:rPr lang="en-US" altLang="zh-CN" sz="2000" i="1">
                                      <a:latin typeface="Cambria Math" panose="02040503050406030204" pitchFamily="18" charset="0"/>
                                      <a:ea typeface="Cambria Math" panose="02040503050406030204" pitchFamily="18" charset="0"/>
                                    </a:rPr>
                                  </m:ctrlPr>
                                </m:dPr>
                                <m:e>
                                  <m:r>
                                    <a:rPr lang="en-US" altLang="zh-CN" sz="2000" i="1">
                                      <a:latin typeface="Cambria Math" panose="02040503050406030204" pitchFamily="18" charset="0"/>
                                      <a:ea typeface="Cambria Math" panose="02040503050406030204" pitchFamily="18" charset="0"/>
                                    </a:rPr>
                                    <m:t>𝑘</m:t>
                                  </m:r>
                                </m:e>
                              </m:d>
                            </m:sup>
                          </m:sSup>
                        </m:e>
                      </m:d>
                      <m:r>
                        <a:rPr lang="en-US" altLang="zh-CN" sz="2000" b="0" i="1" smtClean="0">
                          <a:latin typeface="Cambria Math" panose="02040503050406030204" pitchFamily="18" charset="0"/>
                          <a:ea typeface="Cambria Math" panose="02040503050406030204" pitchFamily="18" charset="0"/>
                        </a:rPr>
                        <m:t>=</m:t>
                      </m:r>
                      <m:sSup>
                        <m:sSupPr>
                          <m:ctrlPr>
                            <a:rPr lang="en-US" altLang="zh-CN" sz="2000" b="0" i="1" smtClean="0">
                              <a:latin typeface="Cambria Math" panose="02040503050406030204" pitchFamily="18" charset="0"/>
                              <a:ea typeface="Cambria Math" panose="02040503050406030204" pitchFamily="18" charset="0"/>
                            </a:rPr>
                          </m:ctrlPr>
                        </m:sSupPr>
                        <m:e>
                          <m:acc>
                            <m:accPr>
                              <m:chr m:val="̃"/>
                              <m:ctrlPr>
                                <a:rPr lang="en-US" altLang="zh-CN" sz="2000" b="0" i="1" smtClean="0">
                                  <a:latin typeface="Cambria Math" panose="02040503050406030204" pitchFamily="18" charset="0"/>
                                  <a:ea typeface="Cambria Math" panose="02040503050406030204" pitchFamily="18" charset="0"/>
                                </a:rPr>
                              </m:ctrlPr>
                            </m:accPr>
                            <m:e>
                              <m:r>
                                <a:rPr lang="en-US" altLang="zh-CN" sz="2000" b="0" i="1" smtClean="0">
                                  <a:latin typeface="Cambria Math" panose="02040503050406030204" pitchFamily="18" charset="0"/>
                                  <a:ea typeface="Cambria Math" panose="02040503050406030204" pitchFamily="18" charset="0"/>
                                </a:rPr>
                                <m:t>𝑢</m:t>
                              </m:r>
                            </m:e>
                          </m:acc>
                        </m:e>
                        <m:sup>
                          <m:d>
                            <m:dPr>
                              <m:ctrlPr>
                                <a:rPr lang="en-US" altLang="zh-CN" sz="2000" b="0" i="1" smtClean="0">
                                  <a:latin typeface="Cambria Math" panose="02040503050406030204" pitchFamily="18" charset="0"/>
                                  <a:ea typeface="Cambria Math" panose="02040503050406030204" pitchFamily="18" charset="0"/>
                                </a:rPr>
                              </m:ctrlPr>
                            </m:dPr>
                            <m:e>
                              <m:r>
                                <a:rPr lang="en-US" altLang="zh-CN" sz="2000" i="1">
                                  <a:latin typeface="Cambria Math" panose="02040503050406030204" pitchFamily="18" charset="0"/>
                                  <a:ea typeface="Cambria Math" panose="02040503050406030204" pitchFamily="18" charset="0"/>
                                </a:rPr>
                                <m:t>𝑘</m:t>
                              </m:r>
                            </m:e>
                          </m:d>
                        </m:sup>
                      </m:sSup>
                    </m:oMath>
                  </m:oMathPara>
                </a14:m>
                <a:endParaRPr lang="en-US" altLang="zh-CN" sz="2000" dirty="0">
                  <a:ea typeface="Cambria Math" panose="02040503050406030204" pitchFamily="18" charset="0"/>
                </a:endParaRPr>
              </a:p>
            </p:txBody>
          </p:sp>
        </mc:Choice>
        <mc:Fallback xmlns="">
          <p:sp>
            <p:nvSpPr>
              <p:cNvPr id="84" name="Rectangle 83">
                <a:extLst>
                  <a:ext uri="{FF2B5EF4-FFF2-40B4-BE49-F238E27FC236}">
                    <a16:creationId xmlns:a16="http://schemas.microsoft.com/office/drawing/2014/main" id="{FCB2D8F3-7D98-4C47-8519-CD883AFF5F49}"/>
                  </a:ext>
                </a:extLst>
              </p:cNvPr>
              <p:cNvSpPr>
                <a:spLocks noRot="1" noChangeAspect="1" noMove="1" noResize="1" noEditPoints="1" noAdjustHandles="1" noChangeArrowheads="1" noChangeShapeType="1" noTextEdit="1"/>
              </p:cNvSpPr>
              <p:nvPr/>
            </p:nvSpPr>
            <p:spPr>
              <a:xfrm>
                <a:off x="355092" y="2864825"/>
                <a:ext cx="4027835" cy="768800"/>
              </a:xfrm>
              <a:prstGeom prst="rect">
                <a:avLst/>
              </a:prstGeom>
              <a:blipFill>
                <a:blip r:embed="rId7"/>
                <a:stretch>
                  <a:fillRect l="-1258" t="-491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5" name="Oval 84">
                <a:extLst>
                  <a:ext uri="{FF2B5EF4-FFF2-40B4-BE49-F238E27FC236}">
                    <a16:creationId xmlns:a16="http://schemas.microsoft.com/office/drawing/2014/main" id="{301B9498-663D-624C-B4F5-438DFB0B30D9}"/>
                  </a:ext>
                </a:extLst>
              </p:cNvPr>
              <p:cNvSpPr/>
              <p:nvPr/>
            </p:nvSpPr>
            <p:spPr>
              <a:xfrm>
                <a:off x="4332500" y="1837534"/>
                <a:ext cx="365760" cy="36576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𝑥</m:t>
                      </m:r>
                    </m:oMath>
                  </m:oMathPara>
                </a14:m>
                <a:endParaRPr lang="en-US" dirty="0"/>
              </a:p>
            </p:txBody>
          </p:sp>
        </mc:Choice>
        <mc:Fallback xmlns="">
          <p:sp>
            <p:nvSpPr>
              <p:cNvPr id="85" name="Oval 84">
                <a:extLst>
                  <a:ext uri="{FF2B5EF4-FFF2-40B4-BE49-F238E27FC236}">
                    <a16:creationId xmlns:a16="http://schemas.microsoft.com/office/drawing/2014/main" id="{301B9498-663D-624C-B4F5-438DFB0B30D9}"/>
                  </a:ext>
                </a:extLst>
              </p:cNvPr>
              <p:cNvSpPr>
                <a:spLocks noRot="1" noChangeAspect="1" noMove="1" noResize="1" noEditPoints="1" noAdjustHandles="1" noChangeArrowheads="1" noChangeShapeType="1" noTextEdit="1"/>
              </p:cNvSpPr>
              <p:nvPr/>
            </p:nvSpPr>
            <p:spPr>
              <a:xfrm>
                <a:off x="4332500" y="1837534"/>
                <a:ext cx="365760" cy="365760"/>
              </a:xfrm>
              <a:prstGeom prst="ellipse">
                <a:avLst/>
              </a:prstGeom>
              <a:blipFill>
                <a:blip r:embed="rId8"/>
                <a:stretch>
                  <a:fillRect/>
                </a:stretch>
              </a:blipFill>
            </p:spPr>
            <p:txBody>
              <a:bodyPr/>
              <a:lstStyle/>
              <a:p>
                <a:r>
                  <a:rPr lang="en-US">
                    <a:noFill/>
                  </a:rPr>
                  <a:t> </a:t>
                </a:r>
              </a:p>
            </p:txBody>
          </p:sp>
        </mc:Fallback>
      </mc:AlternateContent>
      <p:sp>
        <p:nvSpPr>
          <p:cNvPr id="86" name="Oval 85">
            <a:extLst>
              <a:ext uri="{FF2B5EF4-FFF2-40B4-BE49-F238E27FC236}">
                <a16:creationId xmlns:a16="http://schemas.microsoft.com/office/drawing/2014/main" id="{FDE0896A-F94D-FF42-BBD2-49C34494CBCD}"/>
              </a:ext>
            </a:extLst>
          </p:cNvPr>
          <p:cNvSpPr/>
          <p:nvPr/>
        </p:nvSpPr>
        <p:spPr>
          <a:xfrm>
            <a:off x="6406944" y="1766808"/>
            <a:ext cx="248575" cy="248575"/>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l-GR" dirty="0">
                <a:effectLst/>
              </a:rPr>
              <a:t>σ</a:t>
            </a:r>
            <a:endParaRPr lang="en-US" dirty="0"/>
          </a:p>
        </p:txBody>
      </p:sp>
      <p:sp>
        <p:nvSpPr>
          <p:cNvPr id="87" name="Oval 86">
            <a:extLst>
              <a:ext uri="{FF2B5EF4-FFF2-40B4-BE49-F238E27FC236}">
                <a16:creationId xmlns:a16="http://schemas.microsoft.com/office/drawing/2014/main" id="{7399E6CE-7E4A-AA48-A457-8459157B01E3}"/>
              </a:ext>
            </a:extLst>
          </p:cNvPr>
          <p:cNvSpPr/>
          <p:nvPr/>
        </p:nvSpPr>
        <p:spPr>
          <a:xfrm>
            <a:off x="6406944" y="2203294"/>
            <a:ext cx="248575" cy="248575"/>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l-GR" dirty="0">
                <a:effectLst/>
              </a:rPr>
              <a:t>σ</a:t>
            </a:r>
            <a:endParaRPr lang="en-US" dirty="0"/>
          </a:p>
        </p:txBody>
      </p:sp>
      <p:sp>
        <p:nvSpPr>
          <p:cNvPr id="88" name="Oval 87">
            <a:extLst>
              <a:ext uri="{FF2B5EF4-FFF2-40B4-BE49-F238E27FC236}">
                <a16:creationId xmlns:a16="http://schemas.microsoft.com/office/drawing/2014/main" id="{12983138-EF08-2045-8A30-79695875EC5C}"/>
              </a:ext>
            </a:extLst>
          </p:cNvPr>
          <p:cNvSpPr/>
          <p:nvPr/>
        </p:nvSpPr>
        <p:spPr>
          <a:xfrm>
            <a:off x="6406944" y="2639780"/>
            <a:ext cx="248575" cy="248575"/>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l-GR" dirty="0">
                <a:effectLst/>
              </a:rPr>
              <a:t>σ</a:t>
            </a:r>
            <a:endParaRPr lang="en-US" dirty="0"/>
          </a:p>
        </p:txBody>
      </p:sp>
      <p:sp>
        <p:nvSpPr>
          <p:cNvPr id="90" name="Oval 89">
            <a:extLst>
              <a:ext uri="{FF2B5EF4-FFF2-40B4-BE49-F238E27FC236}">
                <a16:creationId xmlns:a16="http://schemas.microsoft.com/office/drawing/2014/main" id="{4A93D959-ACDB-5F49-9EA1-91802374695C}"/>
              </a:ext>
            </a:extLst>
          </p:cNvPr>
          <p:cNvSpPr/>
          <p:nvPr/>
        </p:nvSpPr>
        <p:spPr>
          <a:xfrm>
            <a:off x="6406944" y="3076265"/>
            <a:ext cx="248575" cy="248575"/>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l-GR" dirty="0">
                <a:effectLst/>
              </a:rPr>
              <a:t>σ</a:t>
            </a:r>
            <a:endParaRPr lang="en-US" dirty="0"/>
          </a:p>
        </p:txBody>
      </p:sp>
      <p:cxnSp>
        <p:nvCxnSpPr>
          <p:cNvPr id="91" name="Straight Arrow Connector 90">
            <a:extLst>
              <a:ext uri="{FF2B5EF4-FFF2-40B4-BE49-F238E27FC236}">
                <a16:creationId xmlns:a16="http://schemas.microsoft.com/office/drawing/2014/main" id="{7FFEB2EB-FDF3-574E-9CBC-6F8F7F9F873C}"/>
              </a:ext>
            </a:extLst>
          </p:cNvPr>
          <p:cNvCxnSpPr>
            <a:cxnSpLocks/>
            <a:stCxn id="85" idx="6"/>
            <a:endCxn id="86" idx="2"/>
          </p:cNvCxnSpPr>
          <p:nvPr/>
        </p:nvCxnSpPr>
        <p:spPr>
          <a:xfrm flipV="1">
            <a:off x="4698260" y="1891096"/>
            <a:ext cx="1708684" cy="12931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92" name="Straight Arrow Connector 91">
            <a:extLst>
              <a:ext uri="{FF2B5EF4-FFF2-40B4-BE49-F238E27FC236}">
                <a16:creationId xmlns:a16="http://schemas.microsoft.com/office/drawing/2014/main" id="{4AF1BA8E-5A05-2E4C-8DA3-E59BC92AF620}"/>
              </a:ext>
            </a:extLst>
          </p:cNvPr>
          <p:cNvCxnSpPr>
            <a:cxnSpLocks/>
            <a:stCxn id="85" idx="6"/>
            <a:endCxn id="87" idx="2"/>
          </p:cNvCxnSpPr>
          <p:nvPr/>
        </p:nvCxnSpPr>
        <p:spPr>
          <a:xfrm>
            <a:off x="4698260" y="2020414"/>
            <a:ext cx="1708684" cy="30716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93" name="Straight Arrow Connector 92">
            <a:extLst>
              <a:ext uri="{FF2B5EF4-FFF2-40B4-BE49-F238E27FC236}">
                <a16:creationId xmlns:a16="http://schemas.microsoft.com/office/drawing/2014/main" id="{C4279B54-0028-2F41-8ED4-7C81D96692E7}"/>
              </a:ext>
            </a:extLst>
          </p:cNvPr>
          <p:cNvCxnSpPr>
            <a:cxnSpLocks/>
            <a:stCxn id="85" idx="6"/>
            <a:endCxn id="88" idx="2"/>
          </p:cNvCxnSpPr>
          <p:nvPr/>
        </p:nvCxnSpPr>
        <p:spPr>
          <a:xfrm>
            <a:off x="4698260" y="2020414"/>
            <a:ext cx="1708684" cy="74365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94" name="Straight Arrow Connector 93">
            <a:extLst>
              <a:ext uri="{FF2B5EF4-FFF2-40B4-BE49-F238E27FC236}">
                <a16:creationId xmlns:a16="http://schemas.microsoft.com/office/drawing/2014/main" id="{DAA0F155-2527-7542-ABEA-3FA4F15FFB41}"/>
              </a:ext>
            </a:extLst>
          </p:cNvPr>
          <p:cNvCxnSpPr>
            <a:cxnSpLocks/>
            <a:stCxn id="85" idx="6"/>
            <a:endCxn id="90" idx="2"/>
          </p:cNvCxnSpPr>
          <p:nvPr/>
        </p:nvCxnSpPr>
        <p:spPr>
          <a:xfrm>
            <a:off x="4698260" y="2020414"/>
            <a:ext cx="1708684" cy="118013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95" name="Oval 94">
            <a:extLst>
              <a:ext uri="{FF2B5EF4-FFF2-40B4-BE49-F238E27FC236}">
                <a16:creationId xmlns:a16="http://schemas.microsoft.com/office/drawing/2014/main" id="{C4604B5D-B2A1-0446-BC2D-19EF6B3E9BAF}"/>
              </a:ext>
            </a:extLst>
          </p:cNvPr>
          <p:cNvSpPr/>
          <p:nvPr/>
        </p:nvSpPr>
        <p:spPr>
          <a:xfrm>
            <a:off x="7092002" y="1766808"/>
            <a:ext cx="248575" cy="248575"/>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l-GR" dirty="0">
                <a:effectLst/>
              </a:rPr>
              <a:t>σ</a:t>
            </a:r>
            <a:endParaRPr lang="en-US" dirty="0"/>
          </a:p>
        </p:txBody>
      </p:sp>
      <p:sp>
        <p:nvSpPr>
          <p:cNvPr id="96" name="Oval 95">
            <a:extLst>
              <a:ext uri="{FF2B5EF4-FFF2-40B4-BE49-F238E27FC236}">
                <a16:creationId xmlns:a16="http://schemas.microsoft.com/office/drawing/2014/main" id="{F242261A-51FA-9242-927A-1198825658D5}"/>
              </a:ext>
            </a:extLst>
          </p:cNvPr>
          <p:cNvSpPr/>
          <p:nvPr/>
        </p:nvSpPr>
        <p:spPr>
          <a:xfrm>
            <a:off x="7092002" y="2203294"/>
            <a:ext cx="248575" cy="248575"/>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l-GR" dirty="0">
                <a:effectLst/>
              </a:rPr>
              <a:t>σ</a:t>
            </a:r>
            <a:endParaRPr lang="en-US" dirty="0"/>
          </a:p>
        </p:txBody>
      </p:sp>
      <p:sp>
        <p:nvSpPr>
          <p:cNvPr id="97" name="Oval 96">
            <a:extLst>
              <a:ext uri="{FF2B5EF4-FFF2-40B4-BE49-F238E27FC236}">
                <a16:creationId xmlns:a16="http://schemas.microsoft.com/office/drawing/2014/main" id="{B57FAE36-C558-8A41-8BAF-63A17A20C810}"/>
              </a:ext>
            </a:extLst>
          </p:cNvPr>
          <p:cNvSpPr/>
          <p:nvPr/>
        </p:nvSpPr>
        <p:spPr>
          <a:xfrm>
            <a:off x="7092002" y="2639780"/>
            <a:ext cx="248575" cy="248575"/>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l-GR" dirty="0">
                <a:effectLst/>
              </a:rPr>
              <a:t>σ</a:t>
            </a:r>
            <a:endParaRPr lang="en-US" dirty="0"/>
          </a:p>
        </p:txBody>
      </p:sp>
      <p:sp>
        <p:nvSpPr>
          <p:cNvPr id="98" name="Oval 97">
            <a:extLst>
              <a:ext uri="{FF2B5EF4-FFF2-40B4-BE49-F238E27FC236}">
                <a16:creationId xmlns:a16="http://schemas.microsoft.com/office/drawing/2014/main" id="{6D9C828B-F55C-FD44-AFD1-C33A08774C87}"/>
              </a:ext>
            </a:extLst>
          </p:cNvPr>
          <p:cNvSpPr/>
          <p:nvPr/>
        </p:nvSpPr>
        <p:spPr>
          <a:xfrm>
            <a:off x="7092002" y="3076265"/>
            <a:ext cx="248575" cy="248575"/>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l-GR" dirty="0">
                <a:effectLst/>
              </a:rPr>
              <a:t>σ</a:t>
            </a:r>
            <a:endParaRPr lang="en-US" dirty="0"/>
          </a:p>
        </p:txBody>
      </p:sp>
      <p:cxnSp>
        <p:nvCxnSpPr>
          <p:cNvPr id="99" name="Straight Arrow Connector 98">
            <a:extLst>
              <a:ext uri="{FF2B5EF4-FFF2-40B4-BE49-F238E27FC236}">
                <a16:creationId xmlns:a16="http://schemas.microsoft.com/office/drawing/2014/main" id="{8CF535F4-C2F5-704F-BDD1-A7B69F841CDE}"/>
              </a:ext>
            </a:extLst>
          </p:cNvPr>
          <p:cNvCxnSpPr>
            <a:stCxn id="86" idx="6"/>
            <a:endCxn id="98" idx="2"/>
          </p:cNvCxnSpPr>
          <p:nvPr/>
        </p:nvCxnSpPr>
        <p:spPr>
          <a:xfrm>
            <a:off x="6655519" y="1891096"/>
            <a:ext cx="436483" cy="130945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0" name="Straight Arrow Connector 99">
            <a:extLst>
              <a:ext uri="{FF2B5EF4-FFF2-40B4-BE49-F238E27FC236}">
                <a16:creationId xmlns:a16="http://schemas.microsoft.com/office/drawing/2014/main" id="{C3E66989-80BF-7443-8121-CFD14765B3F2}"/>
              </a:ext>
            </a:extLst>
          </p:cNvPr>
          <p:cNvCxnSpPr>
            <a:stCxn id="86" idx="6"/>
            <a:endCxn id="95" idx="2"/>
          </p:cNvCxnSpPr>
          <p:nvPr/>
        </p:nvCxnSpPr>
        <p:spPr>
          <a:xfrm>
            <a:off x="6655519" y="1891096"/>
            <a:ext cx="43648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1" name="Straight Arrow Connector 100">
            <a:extLst>
              <a:ext uri="{FF2B5EF4-FFF2-40B4-BE49-F238E27FC236}">
                <a16:creationId xmlns:a16="http://schemas.microsoft.com/office/drawing/2014/main" id="{93B17B90-51FC-1F4E-B14E-7DD006D1344F}"/>
              </a:ext>
            </a:extLst>
          </p:cNvPr>
          <p:cNvCxnSpPr>
            <a:stCxn id="86" idx="6"/>
            <a:endCxn id="96" idx="2"/>
          </p:cNvCxnSpPr>
          <p:nvPr/>
        </p:nvCxnSpPr>
        <p:spPr>
          <a:xfrm>
            <a:off x="6655519" y="1891096"/>
            <a:ext cx="436483" cy="43648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2" name="Straight Arrow Connector 101">
            <a:extLst>
              <a:ext uri="{FF2B5EF4-FFF2-40B4-BE49-F238E27FC236}">
                <a16:creationId xmlns:a16="http://schemas.microsoft.com/office/drawing/2014/main" id="{756C13D3-5BA3-C74F-B74F-0B4A46654475}"/>
              </a:ext>
            </a:extLst>
          </p:cNvPr>
          <p:cNvCxnSpPr>
            <a:stCxn id="86" idx="6"/>
            <a:endCxn id="97" idx="2"/>
          </p:cNvCxnSpPr>
          <p:nvPr/>
        </p:nvCxnSpPr>
        <p:spPr>
          <a:xfrm>
            <a:off x="6655519" y="1891096"/>
            <a:ext cx="436483" cy="87297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3" name="Straight Arrow Connector 102">
            <a:extLst>
              <a:ext uri="{FF2B5EF4-FFF2-40B4-BE49-F238E27FC236}">
                <a16:creationId xmlns:a16="http://schemas.microsoft.com/office/drawing/2014/main" id="{A5A35E15-F0D6-CE4D-BE08-5B8F0BF0E894}"/>
              </a:ext>
            </a:extLst>
          </p:cNvPr>
          <p:cNvCxnSpPr>
            <a:stCxn id="87" idx="6"/>
            <a:endCxn id="95" idx="2"/>
          </p:cNvCxnSpPr>
          <p:nvPr/>
        </p:nvCxnSpPr>
        <p:spPr>
          <a:xfrm flipV="1">
            <a:off x="6655519" y="1891096"/>
            <a:ext cx="436483" cy="43648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4" name="Straight Arrow Connector 103">
            <a:extLst>
              <a:ext uri="{FF2B5EF4-FFF2-40B4-BE49-F238E27FC236}">
                <a16:creationId xmlns:a16="http://schemas.microsoft.com/office/drawing/2014/main" id="{53F9122E-799D-9E42-AABE-EABDE1E74844}"/>
              </a:ext>
            </a:extLst>
          </p:cNvPr>
          <p:cNvCxnSpPr>
            <a:stCxn id="87" idx="6"/>
            <a:endCxn id="96" idx="2"/>
          </p:cNvCxnSpPr>
          <p:nvPr/>
        </p:nvCxnSpPr>
        <p:spPr>
          <a:xfrm>
            <a:off x="6655519" y="2327582"/>
            <a:ext cx="43648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5" name="Straight Arrow Connector 104">
            <a:extLst>
              <a:ext uri="{FF2B5EF4-FFF2-40B4-BE49-F238E27FC236}">
                <a16:creationId xmlns:a16="http://schemas.microsoft.com/office/drawing/2014/main" id="{C8B1A125-B4A8-5F4B-A4B1-C495052CF2AA}"/>
              </a:ext>
            </a:extLst>
          </p:cNvPr>
          <p:cNvCxnSpPr>
            <a:cxnSpLocks/>
            <a:stCxn id="87" idx="6"/>
            <a:endCxn id="97" idx="2"/>
          </p:cNvCxnSpPr>
          <p:nvPr/>
        </p:nvCxnSpPr>
        <p:spPr>
          <a:xfrm>
            <a:off x="6655519" y="2327582"/>
            <a:ext cx="436483" cy="43648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6" name="Straight Arrow Connector 105">
            <a:extLst>
              <a:ext uri="{FF2B5EF4-FFF2-40B4-BE49-F238E27FC236}">
                <a16:creationId xmlns:a16="http://schemas.microsoft.com/office/drawing/2014/main" id="{D71C92A1-5BEA-BE4D-A860-9055ADED6CC7}"/>
              </a:ext>
            </a:extLst>
          </p:cNvPr>
          <p:cNvCxnSpPr>
            <a:stCxn id="87" idx="6"/>
            <a:endCxn id="98" idx="2"/>
          </p:cNvCxnSpPr>
          <p:nvPr/>
        </p:nvCxnSpPr>
        <p:spPr>
          <a:xfrm>
            <a:off x="6655519" y="2327582"/>
            <a:ext cx="436483" cy="87297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7" name="Straight Arrow Connector 106">
            <a:extLst>
              <a:ext uri="{FF2B5EF4-FFF2-40B4-BE49-F238E27FC236}">
                <a16:creationId xmlns:a16="http://schemas.microsoft.com/office/drawing/2014/main" id="{00077360-D21E-5B4A-8033-A2970B66A096}"/>
              </a:ext>
            </a:extLst>
          </p:cNvPr>
          <p:cNvCxnSpPr>
            <a:stCxn id="88" idx="6"/>
            <a:endCxn id="95" idx="2"/>
          </p:cNvCxnSpPr>
          <p:nvPr/>
        </p:nvCxnSpPr>
        <p:spPr>
          <a:xfrm flipV="1">
            <a:off x="6655519" y="1891096"/>
            <a:ext cx="436483" cy="87297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8" name="Straight Arrow Connector 107">
            <a:extLst>
              <a:ext uri="{FF2B5EF4-FFF2-40B4-BE49-F238E27FC236}">
                <a16:creationId xmlns:a16="http://schemas.microsoft.com/office/drawing/2014/main" id="{39CAA4FD-C9BE-FF44-A492-BE4295D0F1C2}"/>
              </a:ext>
            </a:extLst>
          </p:cNvPr>
          <p:cNvCxnSpPr>
            <a:stCxn id="88" idx="6"/>
            <a:endCxn id="96" idx="2"/>
          </p:cNvCxnSpPr>
          <p:nvPr/>
        </p:nvCxnSpPr>
        <p:spPr>
          <a:xfrm flipV="1">
            <a:off x="6655519" y="2327582"/>
            <a:ext cx="436483" cy="43648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9" name="Straight Arrow Connector 108">
            <a:extLst>
              <a:ext uri="{FF2B5EF4-FFF2-40B4-BE49-F238E27FC236}">
                <a16:creationId xmlns:a16="http://schemas.microsoft.com/office/drawing/2014/main" id="{E2183C7A-8245-F349-B383-DE83302D285F}"/>
              </a:ext>
            </a:extLst>
          </p:cNvPr>
          <p:cNvCxnSpPr>
            <a:stCxn id="88" idx="6"/>
            <a:endCxn id="97" idx="2"/>
          </p:cNvCxnSpPr>
          <p:nvPr/>
        </p:nvCxnSpPr>
        <p:spPr>
          <a:xfrm>
            <a:off x="6655519" y="2764068"/>
            <a:ext cx="43648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0" name="Straight Arrow Connector 109">
            <a:extLst>
              <a:ext uri="{FF2B5EF4-FFF2-40B4-BE49-F238E27FC236}">
                <a16:creationId xmlns:a16="http://schemas.microsoft.com/office/drawing/2014/main" id="{9CCCDA22-5F93-2442-8792-D0DD88BB7568}"/>
              </a:ext>
            </a:extLst>
          </p:cNvPr>
          <p:cNvCxnSpPr>
            <a:stCxn id="88" idx="6"/>
            <a:endCxn id="98" idx="2"/>
          </p:cNvCxnSpPr>
          <p:nvPr/>
        </p:nvCxnSpPr>
        <p:spPr>
          <a:xfrm>
            <a:off x="6655519" y="2764068"/>
            <a:ext cx="436483" cy="43648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1" name="Straight Arrow Connector 110">
            <a:extLst>
              <a:ext uri="{FF2B5EF4-FFF2-40B4-BE49-F238E27FC236}">
                <a16:creationId xmlns:a16="http://schemas.microsoft.com/office/drawing/2014/main" id="{21DD6E70-06EA-5843-929E-4947A039368A}"/>
              </a:ext>
            </a:extLst>
          </p:cNvPr>
          <p:cNvCxnSpPr>
            <a:stCxn id="90" idx="6"/>
            <a:endCxn id="95" idx="2"/>
          </p:cNvCxnSpPr>
          <p:nvPr/>
        </p:nvCxnSpPr>
        <p:spPr>
          <a:xfrm flipV="1">
            <a:off x="6655519" y="1891096"/>
            <a:ext cx="436483" cy="130945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2" name="Straight Arrow Connector 111">
            <a:extLst>
              <a:ext uri="{FF2B5EF4-FFF2-40B4-BE49-F238E27FC236}">
                <a16:creationId xmlns:a16="http://schemas.microsoft.com/office/drawing/2014/main" id="{425797F3-D95E-C740-8EE7-37CE39FBB709}"/>
              </a:ext>
            </a:extLst>
          </p:cNvPr>
          <p:cNvCxnSpPr>
            <a:stCxn id="90" idx="6"/>
            <a:endCxn id="96" idx="2"/>
          </p:cNvCxnSpPr>
          <p:nvPr/>
        </p:nvCxnSpPr>
        <p:spPr>
          <a:xfrm flipV="1">
            <a:off x="6655519" y="2327582"/>
            <a:ext cx="436483" cy="87297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3" name="Straight Arrow Connector 112">
            <a:extLst>
              <a:ext uri="{FF2B5EF4-FFF2-40B4-BE49-F238E27FC236}">
                <a16:creationId xmlns:a16="http://schemas.microsoft.com/office/drawing/2014/main" id="{F85D1AE7-0215-DE48-B75B-56870E889390}"/>
              </a:ext>
            </a:extLst>
          </p:cNvPr>
          <p:cNvCxnSpPr>
            <a:stCxn id="90" idx="6"/>
            <a:endCxn id="97" idx="2"/>
          </p:cNvCxnSpPr>
          <p:nvPr/>
        </p:nvCxnSpPr>
        <p:spPr>
          <a:xfrm flipV="1">
            <a:off x="6655519" y="2764068"/>
            <a:ext cx="436483" cy="43648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4" name="Straight Arrow Connector 113">
            <a:extLst>
              <a:ext uri="{FF2B5EF4-FFF2-40B4-BE49-F238E27FC236}">
                <a16:creationId xmlns:a16="http://schemas.microsoft.com/office/drawing/2014/main" id="{617B9D85-C52D-3249-9B41-C6BFC0637B57}"/>
              </a:ext>
            </a:extLst>
          </p:cNvPr>
          <p:cNvCxnSpPr>
            <a:stCxn id="90" idx="6"/>
            <a:endCxn id="98" idx="2"/>
          </p:cNvCxnSpPr>
          <p:nvPr/>
        </p:nvCxnSpPr>
        <p:spPr>
          <a:xfrm>
            <a:off x="6655519" y="3200553"/>
            <a:ext cx="43648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15" name="Rectangle 114">
            <a:extLst>
              <a:ext uri="{FF2B5EF4-FFF2-40B4-BE49-F238E27FC236}">
                <a16:creationId xmlns:a16="http://schemas.microsoft.com/office/drawing/2014/main" id="{8FDC8C06-614C-0E45-9CDF-F33E4ED7BBA3}"/>
              </a:ext>
            </a:extLst>
          </p:cNvPr>
          <p:cNvSpPr/>
          <p:nvPr/>
        </p:nvSpPr>
        <p:spPr>
          <a:xfrm>
            <a:off x="6173274" y="1317857"/>
            <a:ext cx="1706942" cy="369332"/>
          </a:xfrm>
          <a:prstGeom prst="rect">
            <a:avLst/>
          </a:prstGeom>
        </p:spPr>
        <p:txBody>
          <a:bodyPr wrap="none">
            <a:spAutoFit/>
          </a:bodyPr>
          <a:lstStyle/>
          <a:p>
            <a:r>
              <a:rPr lang="en-US" b="1" u="sng" dirty="0"/>
              <a:t>Neural Network</a:t>
            </a:r>
          </a:p>
        </p:txBody>
      </p:sp>
      <mc:AlternateContent xmlns:mc="http://schemas.openxmlformats.org/markup-compatibility/2006" xmlns:a14="http://schemas.microsoft.com/office/drawing/2010/main">
        <mc:Choice Requires="a14">
          <p:sp>
            <p:nvSpPr>
              <p:cNvPr id="116" name="Oval 115">
                <a:extLst>
                  <a:ext uri="{FF2B5EF4-FFF2-40B4-BE49-F238E27FC236}">
                    <a16:creationId xmlns:a16="http://schemas.microsoft.com/office/drawing/2014/main" id="{2469884C-6F31-674D-9CAB-6C953BBBBC7D}"/>
                  </a:ext>
                </a:extLst>
              </p:cNvPr>
              <p:cNvSpPr/>
              <p:nvPr/>
            </p:nvSpPr>
            <p:spPr>
              <a:xfrm>
                <a:off x="8846759" y="1954073"/>
                <a:ext cx="621892" cy="62189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r>
                            <a:rPr lang="en-US" i="1">
                              <a:latin typeface="Cambria Math" panose="02040503050406030204" pitchFamily="18" charset="0"/>
                            </a:rPr>
                            <m:t>𝜕</m:t>
                          </m:r>
                          <m:r>
                            <a:rPr lang="en-US" b="0" i="1" smtClean="0">
                              <a:latin typeface="Cambria Math" panose="02040503050406030204" pitchFamily="18" charset="0"/>
                            </a:rPr>
                            <m:t>𝑢</m:t>
                          </m:r>
                        </m:num>
                        <m:den>
                          <m:r>
                            <a:rPr lang="en-US" i="1">
                              <a:latin typeface="Cambria Math" panose="02040503050406030204" pitchFamily="18" charset="0"/>
                            </a:rPr>
                            <m:t>𝜕</m:t>
                          </m:r>
                          <m:r>
                            <a:rPr lang="en-US" b="0" i="1" smtClean="0">
                              <a:latin typeface="Cambria Math" panose="02040503050406030204" pitchFamily="18" charset="0"/>
                            </a:rPr>
                            <m:t>𝑥</m:t>
                          </m:r>
                        </m:den>
                      </m:f>
                    </m:oMath>
                  </m:oMathPara>
                </a14:m>
                <a:endParaRPr lang="en-US" dirty="0"/>
              </a:p>
            </p:txBody>
          </p:sp>
        </mc:Choice>
        <mc:Fallback xmlns="">
          <p:sp>
            <p:nvSpPr>
              <p:cNvPr id="116" name="Oval 115">
                <a:extLst>
                  <a:ext uri="{FF2B5EF4-FFF2-40B4-BE49-F238E27FC236}">
                    <a16:creationId xmlns:a16="http://schemas.microsoft.com/office/drawing/2014/main" id="{2469884C-6F31-674D-9CAB-6C953BBBBC7D}"/>
                  </a:ext>
                </a:extLst>
              </p:cNvPr>
              <p:cNvSpPr>
                <a:spLocks noRot="1" noChangeAspect="1" noMove="1" noResize="1" noEditPoints="1" noAdjustHandles="1" noChangeArrowheads="1" noChangeShapeType="1" noTextEdit="1"/>
              </p:cNvSpPr>
              <p:nvPr/>
            </p:nvSpPr>
            <p:spPr>
              <a:xfrm>
                <a:off x="8846759" y="1954073"/>
                <a:ext cx="621892" cy="621892"/>
              </a:xfrm>
              <a:prstGeom prst="ellipse">
                <a:avLst/>
              </a:prstGeom>
              <a:blipFill>
                <a:blip r:embed="rId9"/>
                <a:stretch>
                  <a:fillRect b="-196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7" name="Oval 116">
                <a:extLst>
                  <a:ext uri="{FF2B5EF4-FFF2-40B4-BE49-F238E27FC236}">
                    <a16:creationId xmlns:a16="http://schemas.microsoft.com/office/drawing/2014/main" id="{1ED05F70-9A2B-0244-9DA7-164EA5CA9930}"/>
                  </a:ext>
                </a:extLst>
              </p:cNvPr>
              <p:cNvSpPr/>
              <p:nvPr/>
            </p:nvSpPr>
            <p:spPr>
              <a:xfrm>
                <a:off x="8846758" y="2639780"/>
                <a:ext cx="621893" cy="621893"/>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r>
                            <a:rPr lang="en-US" i="1">
                              <a:latin typeface="Cambria Math" panose="02040503050406030204" pitchFamily="18" charset="0"/>
                            </a:rPr>
                            <m:t>𝜕</m:t>
                          </m:r>
                          <m:r>
                            <a:rPr lang="en-US" b="0" i="1" smtClean="0">
                              <a:latin typeface="Cambria Math" panose="02040503050406030204" pitchFamily="18" charset="0"/>
                            </a:rPr>
                            <m:t>𝑢</m:t>
                          </m:r>
                        </m:num>
                        <m:den>
                          <m:r>
                            <a:rPr lang="en-US" i="1" smtClean="0">
                              <a:latin typeface="Cambria Math" panose="02040503050406030204" pitchFamily="18" charset="0"/>
                            </a:rPr>
                            <m:t>𝜕</m:t>
                          </m:r>
                          <m:r>
                            <a:rPr lang="en-US" b="0" i="1" smtClean="0">
                              <a:latin typeface="Cambria Math" panose="02040503050406030204" pitchFamily="18" charset="0"/>
                            </a:rPr>
                            <m:t>𝑡</m:t>
                          </m:r>
                        </m:den>
                      </m:f>
                    </m:oMath>
                  </m:oMathPara>
                </a14:m>
                <a:endParaRPr lang="en-US" dirty="0"/>
              </a:p>
            </p:txBody>
          </p:sp>
        </mc:Choice>
        <mc:Fallback xmlns="">
          <p:sp>
            <p:nvSpPr>
              <p:cNvPr id="117" name="Oval 116">
                <a:extLst>
                  <a:ext uri="{FF2B5EF4-FFF2-40B4-BE49-F238E27FC236}">
                    <a16:creationId xmlns:a16="http://schemas.microsoft.com/office/drawing/2014/main" id="{1ED05F70-9A2B-0244-9DA7-164EA5CA9930}"/>
                  </a:ext>
                </a:extLst>
              </p:cNvPr>
              <p:cNvSpPr>
                <a:spLocks noRot="1" noChangeAspect="1" noMove="1" noResize="1" noEditPoints="1" noAdjustHandles="1" noChangeArrowheads="1" noChangeShapeType="1" noTextEdit="1"/>
              </p:cNvSpPr>
              <p:nvPr/>
            </p:nvSpPr>
            <p:spPr>
              <a:xfrm>
                <a:off x="8846758" y="2639780"/>
                <a:ext cx="621893" cy="621893"/>
              </a:xfrm>
              <a:prstGeom prst="ellipse">
                <a:avLst/>
              </a:prstGeom>
              <a:blipFill>
                <a:blip r:embed="rId10"/>
                <a:stretch>
                  <a:fillRect b="-196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8" name="Oval 117">
                <a:extLst>
                  <a:ext uri="{FF2B5EF4-FFF2-40B4-BE49-F238E27FC236}">
                    <a16:creationId xmlns:a16="http://schemas.microsoft.com/office/drawing/2014/main" id="{215CCCE8-5A16-F745-ADEB-8ACF29CA653E}"/>
                  </a:ext>
                </a:extLst>
              </p:cNvPr>
              <p:cNvSpPr/>
              <p:nvPr/>
            </p:nvSpPr>
            <p:spPr>
              <a:xfrm>
                <a:off x="4332338" y="2373200"/>
                <a:ext cx="365760" cy="36576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𝑡</m:t>
                      </m:r>
                    </m:oMath>
                  </m:oMathPara>
                </a14:m>
                <a:endParaRPr lang="en-US" dirty="0"/>
              </a:p>
            </p:txBody>
          </p:sp>
        </mc:Choice>
        <mc:Fallback xmlns="">
          <p:sp>
            <p:nvSpPr>
              <p:cNvPr id="118" name="Oval 117">
                <a:extLst>
                  <a:ext uri="{FF2B5EF4-FFF2-40B4-BE49-F238E27FC236}">
                    <a16:creationId xmlns:a16="http://schemas.microsoft.com/office/drawing/2014/main" id="{215CCCE8-5A16-F745-ADEB-8ACF29CA653E}"/>
                  </a:ext>
                </a:extLst>
              </p:cNvPr>
              <p:cNvSpPr>
                <a:spLocks noRot="1" noChangeAspect="1" noMove="1" noResize="1" noEditPoints="1" noAdjustHandles="1" noChangeArrowheads="1" noChangeShapeType="1" noTextEdit="1"/>
              </p:cNvSpPr>
              <p:nvPr/>
            </p:nvSpPr>
            <p:spPr>
              <a:xfrm>
                <a:off x="4332338" y="2373200"/>
                <a:ext cx="365760" cy="365760"/>
              </a:xfrm>
              <a:prstGeom prst="ellipse">
                <a:avLst/>
              </a:prstGeom>
              <a:blipFill>
                <a:blip r:embed="rId11"/>
                <a:stretch>
                  <a:fillRect/>
                </a:stretch>
              </a:blipFill>
            </p:spPr>
            <p:txBody>
              <a:bodyPr/>
              <a:lstStyle/>
              <a:p>
                <a:r>
                  <a:rPr lang="en-US">
                    <a:noFill/>
                  </a:rPr>
                  <a:t> </a:t>
                </a:r>
              </a:p>
            </p:txBody>
          </p:sp>
        </mc:Fallback>
      </mc:AlternateContent>
      <p:cxnSp>
        <p:nvCxnSpPr>
          <p:cNvPr id="119" name="Straight Arrow Connector 118">
            <a:extLst>
              <a:ext uri="{FF2B5EF4-FFF2-40B4-BE49-F238E27FC236}">
                <a16:creationId xmlns:a16="http://schemas.microsoft.com/office/drawing/2014/main" id="{1C55CC2F-63DE-A148-BA4F-568BCD2CAA64}"/>
              </a:ext>
            </a:extLst>
          </p:cNvPr>
          <p:cNvCxnSpPr>
            <a:stCxn id="118" idx="6"/>
            <a:endCxn id="86" idx="2"/>
          </p:cNvCxnSpPr>
          <p:nvPr/>
        </p:nvCxnSpPr>
        <p:spPr>
          <a:xfrm flipV="1">
            <a:off x="4698098" y="1891096"/>
            <a:ext cx="1708846" cy="66498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0" name="Straight Arrow Connector 119">
            <a:extLst>
              <a:ext uri="{FF2B5EF4-FFF2-40B4-BE49-F238E27FC236}">
                <a16:creationId xmlns:a16="http://schemas.microsoft.com/office/drawing/2014/main" id="{BB354BC7-20A2-894C-BA4D-93925BBFB21C}"/>
              </a:ext>
            </a:extLst>
          </p:cNvPr>
          <p:cNvCxnSpPr>
            <a:stCxn id="118" idx="6"/>
            <a:endCxn id="87" idx="2"/>
          </p:cNvCxnSpPr>
          <p:nvPr/>
        </p:nvCxnSpPr>
        <p:spPr>
          <a:xfrm flipV="1">
            <a:off x="4698098" y="2327582"/>
            <a:ext cx="1708846" cy="22849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1" name="Straight Arrow Connector 120">
            <a:extLst>
              <a:ext uri="{FF2B5EF4-FFF2-40B4-BE49-F238E27FC236}">
                <a16:creationId xmlns:a16="http://schemas.microsoft.com/office/drawing/2014/main" id="{E1E63D75-F7D5-4741-8B7D-4B7B11366DD8}"/>
              </a:ext>
            </a:extLst>
          </p:cNvPr>
          <p:cNvCxnSpPr>
            <a:stCxn id="118" idx="6"/>
            <a:endCxn id="88" idx="2"/>
          </p:cNvCxnSpPr>
          <p:nvPr/>
        </p:nvCxnSpPr>
        <p:spPr>
          <a:xfrm>
            <a:off x="4698098" y="2556080"/>
            <a:ext cx="1708846" cy="20798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2" name="Straight Arrow Connector 121">
            <a:extLst>
              <a:ext uri="{FF2B5EF4-FFF2-40B4-BE49-F238E27FC236}">
                <a16:creationId xmlns:a16="http://schemas.microsoft.com/office/drawing/2014/main" id="{6FDCCB37-9455-6C45-894C-DE0EA2F0EBD5}"/>
              </a:ext>
            </a:extLst>
          </p:cNvPr>
          <p:cNvCxnSpPr>
            <a:stCxn id="118" idx="6"/>
            <a:endCxn id="90" idx="2"/>
          </p:cNvCxnSpPr>
          <p:nvPr/>
        </p:nvCxnSpPr>
        <p:spPr>
          <a:xfrm>
            <a:off x="4698098" y="2556080"/>
            <a:ext cx="1708846" cy="64447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23" name="Rectangle 122">
            <a:extLst>
              <a:ext uri="{FF2B5EF4-FFF2-40B4-BE49-F238E27FC236}">
                <a16:creationId xmlns:a16="http://schemas.microsoft.com/office/drawing/2014/main" id="{FD83E575-26B5-6F46-9FAB-3B38EE7FAAF4}"/>
              </a:ext>
            </a:extLst>
          </p:cNvPr>
          <p:cNvSpPr/>
          <p:nvPr/>
        </p:nvSpPr>
        <p:spPr>
          <a:xfrm>
            <a:off x="10793067" y="906636"/>
            <a:ext cx="566181" cy="369332"/>
          </a:xfrm>
          <a:prstGeom prst="rect">
            <a:avLst/>
          </a:prstGeom>
        </p:spPr>
        <p:txBody>
          <a:bodyPr wrap="none">
            <a:spAutoFit/>
          </a:bodyPr>
          <a:lstStyle/>
          <a:p>
            <a:r>
              <a:rPr lang="en-US" b="1" u="sng" dirty="0">
                <a:solidFill>
                  <a:schemeClr val="bg1">
                    <a:lumMod val="50000"/>
                  </a:schemeClr>
                </a:solidFill>
              </a:rPr>
              <a:t>PDE</a:t>
            </a:r>
          </a:p>
        </p:txBody>
      </p:sp>
      <p:sp>
        <p:nvSpPr>
          <p:cNvPr id="124" name="Oval 123">
            <a:extLst>
              <a:ext uri="{FF2B5EF4-FFF2-40B4-BE49-F238E27FC236}">
                <a16:creationId xmlns:a16="http://schemas.microsoft.com/office/drawing/2014/main" id="{A3506897-2440-B446-BE82-B0F26950033C}"/>
              </a:ext>
            </a:extLst>
          </p:cNvPr>
          <p:cNvSpPr/>
          <p:nvPr/>
        </p:nvSpPr>
        <p:spPr>
          <a:xfrm>
            <a:off x="8741172" y="4257833"/>
            <a:ext cx="833063" cy="364730"/>
          </a:xfrm>
          <a:prstGeom prst="ellipse">
            <a:avLst/>
          </a:prstGeom>
          <a:solidFill>
            <a:srgbClr val="FF0000"/>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a:t>Loss</a:t>
            </a:r>
          </a:p>
        </p:txBody>
      </p:sp>
      <p:sp>
        <p:nvSpPr>
          <p:cNvPr id="125" name="Rectangle: Rounded Corners 170">
            <a:extLst>
              <a:ext uri="{FF2B5EF4-FFF2-40B4-BE49-F238E27FC236}">
                <a16:creationId xmlns:a16="http://schemas.microsoft.com/office/drawing/2014/main" id="{E9AC69BB-6057-964D-BCBF-8F3B17916389}"/>
              </a:ext>
            </a:extLst>
          </p:cNvPr>
          <p:cNvSpPr/>
          <p:nvPr/>
        </p:nvSpPr>
        <p:spPr>
          <a:xfrm>
            <a:off x="7589153" y="1256328"/>
            <a:ext cx="4341791" cy="2843835"/>
          </a:xfrm>
          <a:prstGeom prst="roundRect">
            <a:avLst/>
          </a:prstGeom>
          <a:noFill/>
          <a:ln w="19050">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26" name="Rectangle: Rounded Corners 171">
                <a:extLst>
                  <a:ext uri="{FF2B5EF4-FFF2-40B4-BE49-F238E27FC236}">
                    <a16:creationId xmlns:a16="http://schemas.microsoft.com/office/drawing/2014/main" id="{71C7A142-78C6-8C46-A996-812DD9F708E7}"/>
                  </a:ext>
                </a:extLst>
              </p:cNvPr>
              <p:cNvSpPr/>
              <p:nvPr/>
            </p:nvSpPr>
            <p:spPr>
              <a:xfrm>
                <a:off x="9906596" y="2237596"/>
                <a:ext cx="1532642" cy="674702"/>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14:m>
                  <m:oMathPara xmlns:m="http://schemas.openxmlformats.org/officeDocument/2006/math">
                    <m:oMathParaPr>
                      <m:jc m:val="left"/>
                    </m:oMathParaPr>
                    <m:oMath xmlns:m="http://schemas.openxmlformats.org/officeDocument/2006/math">
                      <m:r>
                        <a:rPr lang="en-US" b="0" i="1" smtClean="0">
                          <a:latin typeface="Cambria Math" panose="02040503050406030204" pitchFamily="18" charset="0"/>
                        </a:rPr>
                        <m:t>𝑓</m:t>
                      </m:r>
                      <m:r>
                        <a:rPr lang="en-US" b="0" i="1" smtClean="0">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m:t>
                          </m:r>
                          <m:r>
                            <a:rPr lang="en-US" b="0" i="1" smtClean="0">
                              <a:latin typeface="Cambria Math" panose="02040503050406030204" pitchFamily="18" charset="0"/>
                            </a:rPr>
                            <m:t>𝑢</m:t>
                          </m:r>
                        </m:num>
                        <m:den>
                          <m:r>
                            <a:rPr lang="en-US" i="1">
                              <a:latin typeface="Cambria Math" panose="02040503050406030204" pitchFamily="18" charset="0"/>
                            </a:rPr>
                            <m:t>𝜕</m:t>
                          </m:r>
                          <m:r>
                            <a:rPr lang="en-US" b="0" i="1" smtClean="0">
                              <a:latin typeface="Cambria Math" panose="02040503050406030204" pitchFamily="18" charset="0"/>
                            </a:rPr>
                            <m:t>𝑥</m:t>
                          </m:r>
                        </m:den>
                      </m:f>
                      <m:r>
                        <a:rPr lang="en-US" b="0" i="1" smtClean="0">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m:t>
                          </m:r>
                          <m:r>
                            <a:rPr lang="en-US" b="0" i="1" smtClean="0">
                              <a:latin typeface="Cambria Math" panose="02040503050406030204" pitchFamily="18" charset="0"/>
                            </a:rPr>
                            <m:t>𝑢</m:t>
                          </m:r>
                        </m:num>
                        <m:den>
                          <m:r>
                            <a:rPr lang="en-US" i="1">
                              <a:latin typeface="Cambria Math" panose="02040503050406030204" pitchFamily="18" charset="0"/>
                            </a:rPr>
                            <m:t>𝜕</m:t>
                          </m:r>
                          <m:r>
                            <a:rPr lang="en-US" b="0" i="1" smtClean="0">
                              <a:latin typeface="Cambria Math" panose="02040503050406030204" pitchFamily="18" charset="0"/>
                            </a:rPr>
                            <m:t>𝑡</m:t>
                          </m:r>
                        </m:den>
                      </m:f>
                    </m:oMath>
                  </m:oMathPara>
                </a14:m>
                <a:endParaRPr lang="en-US" dirty="0"/>
              </a:p>
            </p:txBody>
          </p:sp>
        </mc:Choice>
        <mc:Fallback xmlns="">
          <p:sp>
            <p:nvSpPr>
              <p:cNvPr id="126" name="Rectangle: Rounded Corners 171">
                <a:extLst>
                  <a:ext uri="{FF2B5EF4-FFF2-40B4-BE49-F238E27FC236}">
                    <a16:creationId xmlns:a16="http://schemas.microsoft.com/office/drawing/2014/main" id="{71C7A142-78C6-8C46-A996-812DD9F708E7}"/>
                  </a:ext>
                </a:extLst>
              </p:cNvPr>
              <p:cNvSpPr>
                <a:spLocks noRot="1" noChangeAspect="1" noMove="1" noResize="1" noEditPoints="1" noAdjustHandles="1" noChangeArrowheads="1" noChangeShapeType="1" noTextEdit="1"/>
              </p:cNvSpPr>
              <p:nvPr/>
            </p:nvSpPr>
            <p:spPr>
              <a:xfrm>
                <a:off x="9906596" y="2237596"/>
                <a:ext cx="1532642" cy="674702"/>
              </a:xfrm>
              <a:prstGeom prst="round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7" name="Diamond 126">
                <a:extLst>
                  <a:ext uri="{FF2B5EF4-FFF2-40B4-BE49-F238E27FC236}">
                    <a16:creationId xmlns:a16="http://schemas.microsoft.com/office/drawing/2014/main" id="{0E3503BA-91F7-0548-B68B-C8353DBB896C}"/>
                  </a:ext>
                </a:extLst>
              </p:cNvPr>
              <p:cNvSpPr/>
              <p:nvPr/>
            </p:nvSpPr>
            <p:spPr>
              <a:xfrm>
                <a:off x="6933310" y="4204646"/>
                <a:ext cx="935190" cy="471104"/>
              </a:xfrm>
              <a:prstGeom prst="diamond">
                <a:avLst/>
              </a:prstGeom>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&lt;</m:t>
                      </m:r>
                      <m:r>
                        <a:rPr lang="en-US" b="0" i="1" smtClean="0">
                          <a:latin typeface="Cambria Math" panose="02040503050406030204" pitchFamily="18" charset="0"/>
                          <a:ea typeface="Cambria Math" panose="02040503050406030204" pitchFamily="18" charset="0"/>
                        </a:rPr>
                        <m:t>𝜖</m:t>
                      </m:r>
                      <m:r>
                        <a:rPr lang="en-US" b="0" i="1" smtClean="0">
                          <a:latin typeface="Cambria Math" panose="02040503050406030204" pitchFamily="18" charset="0"/>
                          <a:ea typeface="Cambria Math" panose="02040503050406030204" pitchFamily="18" charset="0"/>
                        </a:rPr>
                        <m:t>?</m:t>
                      </m:r>
                    </m:oMath>
                  </m:oMathPara>
                </a14:m>
                <a:endParaRPr lang="en-US" dirty="0"/>
              </a:p>
            </p:txBody>
          </p:sp>
        </mc:Choice>
        <mc:Fallback xmlns="">
          <p:sp>
            <p:nvSpPr>
              <p:cNvPr id="127" name="Diamond 126">
                <a:extLst>
                  <a:ext uri="{FF2B5EF4-FFF2-40B4-BE49-F238E27FC236}">
                    <a16:creationId xmlns:a16="http://schemas.microsoft.com/office/drawing/2014/main" id="{0E3503BA-91F7-0548-B68B-C8353DBB896C}"/>
                  </a:ext>
                </a:extLst>
              </p:cNvPr>
              <p:cNvSpPr>
                <a:spLocks noRot="1" noChangeAspect="1" noMove="1" noResize="1" noEditPoints="1" noAdjustHandles="1" noChangeArrowheads="1" noChangeShapeType="1" noTextEdit="1"/>
              </p:cNvSpPr>
              <p:nvPr/>
            </p:nvSpPr>
            <p:spPr>
              <a:xfrm>
                <a:off x="6933310" y="4204646"/>
                <a:ext cx="935190" cy="471104"/>
              </a:xfrm>
              <a:prstGeom prst="diamond">
                <a:avLst/>
              </a:prstGeom>
              <a:blipFill>
                <a:blip r:embed="rId13"/>
                <a:stretch>
                  <a:fillRect/>
                </a:stretch>
              </a:blipFill>
            </p:spPr>
            <p:txBody>
              <a:bodyPr/>
              <a:lstStyle/>
              <a:p>
                <a:r>
                  <a:rPr lang="en-US">
                    <a:noFill/>
                  </a:rPr>
                  <a:t> </a:t>
                </a:r>
              </a:p>
            </p:txBody>
          </p:sp>
        </mc:Fallback>
      </mc:AlternateContent>
      <p:pic>
        <p:nvPicPr>
          <p:cNvPr id="128" name="Picture 127">
            <a:extLst>
              <a:ext uri="{FF2B5EF4-FFF2-40B4-BE49-F238E27FC236}">
                <a16:creationId xmlns:a16="http://schemas.microsoft.com/office/drawing/2014/main" id="{D151467D-ACA6-E14E-96F6-0312FA77E313}"/>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5786739" y="3745043"/>
            <a:ext cx="718954" cy="785457"/>
          </a:xfrm>
          <a:prstGeom prst="rect">
            <a:avLst/>
          </a:prstGeom>
        </p:spPr>
      </p:pic>
      <p:cxnSp>
        <p:nvCxnSpPr>
          <p:cNvPr id="129" name="Connector: Curved 231">
            <a:extLst>
              <a:ext uri="{FF2B5EF4-FFF2-40B4-BE49-F238E27FC236}">
                <a16:creationId xmlns:a16="http://schemas.microsoft.com/office/drawing/2014/main" id="{3148F817-A9B4-9149-BDC4-17B6695A5329}"/>
              </a:ext>
            </a:extLst>
          </p:cNvPr>
          <p:cNvCxnSpPr>
            <a:cxnSpLocks/>
            <a:stCxn id="137" idx="4"/>
            <a:endCxn id="124" idx="1"/>
          </p:cNvCxnSpPr>
          <p:nvPr/>
        </p:nvCxnSpPr>
        <p:spPr>
          <a:xfrm rot="16200000" flipH="1">
            <a:off x="7588013" y="3036088"/>
            <a:ext cx="1593520" cy="956795"/>
          </a:xfrm>
          <a:prstGeom prst="curved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130" name="Straight Arrow Connector 129">
            <a:extLst>
              <a:ext uri="{FF2B5EF4-FFF2-40B4-BE49-F238E27FC236}">
                <a16:creationId xmlns:a16="http://schemas.microsoft.com/office/drawing/2014/main" id="{4F558C80-5656-624C-94A6-D160A9C82549}"/>
              </a:ext>
            </a:extLst>
          </p:cNvPr>
          <p:cNvCxnSpPr>
            <a:stCxn id="124" idx="2"/>
            <a:endCxn id="127" idx="3"/>
          </p:cNvCxnSpPr>
          <p:nvPr/>
        </p:nvCxnSpPr>
        <p:spPr>
          <a:xfrm flipH="1">
            <a:off x="7868500" y="4440198"/>
            <a:ext cx="87267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31" name="TextBox 130">
            <a:extLst>
              <a:ext uri="{FF2B5EF4-FFF2-40B4-BE49-F238E27FC236}">
                <a16:creationId xmlns:a16="http://schemas.microsoft.com/office/drawing/2014/main" id="{4CB4FD7C-1943-D142-BC62-FA09445D17B6}"/>
              </a:ext>
            </a:extLst>
          </p:cNvPr>
          <p:cNvSpPr txBox="1"/>
          <p:nvPr/>
        </p:nvSpPr>
        <p:spPr>
          <a:xfrm>
            <a:off x="7333213" y="4627967"/>
            <a:ext cx="296876" cy="369332"/>
          </a:xfrm>
          <a:prstGeom prst="rect">
            <a:avLst/>
          </a:prstGeom>
          <a:noFill/>
        </p:spPr>
        <p:txBody>
          <a:bodyPr wrap="none" rtlCol="0">
            <a:spAutoFit/>
          </a:bodyPr>
          <a:lstStyle/>
          <a:p>
            <a:r>
              <a:rPr lang="en-US" dirty="0"/>
              <a:t>Y</a:t>
            </a:r>
          </a:p>
        </p:txBody>
      </p:sp>
      <p:sp>
        <p:nvSpPr>
          <p:cNvPr id="132" name="TextBox 131">
            <a:extLst>
              <a:ext uri="{FF2B5EF4-FFF2-40B4-BE49-F238E27FC236}">
                <a16:creationId xmlns:a16="http://schemas.microsoft.com/office/drawing/2014/main" id="{0C2F43F0-3475-FD45-90C5-6BB379C1FEE3}"/>
              </a:ext>
            </a:extLst>
          </p:cNvPr>
          <p:cNvSpPr txBox="1"/>
          <p:nvPr/>
        </p:nvSpPr>
        <p:spPr>
          <a:xfrm>
            <a:off x="5705463" y="4622563"/>
            <a:ext cx="744114" cy="369332"/>
          </a:xfrm>
          <a:prstGeom prst="rect">
            <a:avLst/>
          </a:prstGeom>
          <a:noFill/>
        </p:spPr>
        <p:txBody>
          <a:bodyPr wrap="none" rtlCol="0">
            <a:spAutoFit/>
          </a:bodyPr>
          <a:lstStyle/>
          <a:p>
            <a:r>
              <a:rPr lang="en-US" dirty="0"/>
              <a:t>Done.</a:t>
            </a:r>
          </a:p>
        </p:txBody>
      </p:sp>
      <p:sp>
        <p:nvSpPr>
          <p:cNvPr id="133" name="TextBox 132">
            <a:extLst>
              <a:ext uri="{FF2B5EF4-FFF2-40B4-BE49-F238E27FC236}">
                <a16:creationId xmlns:a16="http://schemas.microsoft.com/office/drawing/2014/main" id="{30BA58DE-60D8-B34B-B471-30D96BECE2D3}"/>
              </a:ext>
            </a:extLst>
          </p:cNvPr>
          <p:cNvSpPr txBox="1"/>
          <p:nvPr/>
        </p:nvSpPr>
        <p:spPr>
          <a:xfrm>
            <a:off x="7333213" y="3871961"/>
            <a:ext cx="333746" cy="369332"/>
          </a:xfrm>
          <a:prstGeom prst="rect">
            <a:avLst/>
          </a:prstGeom>
          <a:noFill/>
        </p:spPr>
        <p:txBody>
          <a:bodyPr wrap="none" rtlCol="0">
            <a:spAutoFit/>
          </a:bodyPr>
          <a:lstStyle/>
          <a:p>
            <a:r>
              <a:rPr lang="en-US" dirty="0"/>
              <a:t>N</a:t>
            </a:r>
          </a:p>
        </p:txBody>
      </p:sp>
      <p:cxnSp>
        <p:nvCxnSpPr>
          <p:cNvPr id="134" name="Connector: Elbow 2">
            <a:extLst>
              <a:ext uri="{FF2B5EF4-FFF2-40B4-BE49-F238E27FC236}">
                <a16:creationId xmlns:a16="http://schemas.microsoft.com/office/drawing/2014/main" id="{D4D14415-C5F7-5349-AADF-B64C41FC5AC3}"/>
              </a:ext>
            </a:extLst>
          </p:cNvPr>
          <p:cNvCxnSpPr>
            <a:cxnSpLocks/>
          </p:cNvCxnSpPr>
          <p:nvPr/>
        </p:nvCxnSpPr>
        <p:spPr>
          <a:xfrm rot="16200000" flipV="1">
            <a:off x="6871091" y="3673430"/>
            <a:ext cx="157177" cy="905256"/>
          </a:xfrm>
          <a:prstGeom prst="bent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135" name="Connector: Elbow 17">
            <a:extLst>
              <a:ext uri="{FF2B5EF4-FFF2-40B4-BE49-F238E27FC236}">
                <a16:creationId xmlns:a16="http://schemas.microsoft.com/office/drawing/2014/main" id="{E226B644-1F9F-BB4B-909C-134D579FC0AA}"/>
              </a:ext>
            </a:extLst>
          </p:cNvPr>
          <p:cNvCxnSpPr>
            <a:cxnSpLocks/>
          </p:cNvCxnSpPr>
          <p:nvPr/>
        </p:nvCxnSpPr>
        <p:spPr>
          <a:xfrm rot="5400000">
            <a:off x="6871254" y="4301547"/>
            <a:ext cx="155448" cy="903854"/>
          </a:xfrm>
          <a:prstGeom prst="bent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136" name="Connector: Curved 225">
            <a:extLst>
              <a:ext uri="{FF2B5EF4-FFF2-40B4-BE49-F238E27FC236}">
                <a16:creationId xmlns:a16="http://schemas.microsoft.com/office/drawing/2014/main" id="{122D441E-D17A-6E4F-96FD-EDAF04BF59AE}"/>
              </a:ext>
            </a:extLst>
          </p:cNvPr>
          <p:cNvCxnSpPr>
            <a:cxnSpLocks/>
            <a:stCxn id="128" idx="1"/>
            <a:endCxn id="118" idx="4"/>
          </p:cNvCxnSpPr>
          <p:nvPr/>
        </p:nvCxnSpPr>
        <p:spPr>
          <a:xfrm rot="10800000">
            <a:off x="4515219" y="2738960"/>
            <a:ext cx="1271521" cy="1398812"/>
          </a:xfrm>
          <a:prstGeom prst="curvedConnector2">
            <a:avLst/>
          </a:prstGeom>
          <a:ln>
            <a:prstDash val="dash"/>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37" name="Oval 136">
                <a:extLst>
                  <a:ext uri="{FF2B5EF4-FFF2-40B4-BE49-F238E27FC236}">
                    <a16:creationId xmlns:a16="http://schemas.microsoft.com/office/drawing/2014/main" id="{94870DBC-4F16-0041-9985-41B2EC004E49}"/>
                  </a:ext>
                </a:extLst>
              </p:cNvPr>
              <p:cNvSpPr/>
              <p:nvPr/>
            </p:nvSpPr>
            <p:spPr>
              <a:xfrm>
                <a:off x="7723496" y="2351966"/>
                <a:ext cx="365760" cy="365760"/>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𝑢</m:t>
                      </m:r>
                    </m:oMath>
                  </m:oMathPara>
                </a14:m>
                <a:endParaRPr lang="en-US" dirty="0"/>
              </a:p>
            </p:txBody>
          </p:sp>
        </mc:Choice>
        <mc:Fallback xmlns="">
          <p:sp>
            <p:nvSpPr>
              <p:cNvPr id="137" name="Oval 136">
                <a:extLst>
                  <a:ext uri="{FF2B5EF4-FFF2-40B4-BE49-F238E27FC236}">
                    <a16:creationId xmlns:a16="http://schemas.microsoft.com/office/drawing/2014/main" id="{94870DBC-4F16-0041-9985-41B2EC004E49}"/>
                  </a:ext>
                </a:extLst>
              </p:cNvPr>
              <p:cNvSpPr>
                <a:spLocks noRot="1" noChangeAspect="1" noMove="1" noResize="1" noEditPoints="1" noAdjustHandles="1" noChangeArrowheads="1" noChangeShapeType="1" noTextEdit="1"/>
              </p:cNvSpPr>
              <p:nvPr/>
            </p:nvSpPr>
            <p:spPr>
              <a:xfrm>
                <a:off x="7723496" y="2351966"/>
                <a:ext cx="365760" cy="365760"/>
              </a:xfrm>
              <a:prstGeom prst="ellipse">
                <a:avLst/>
              </a:prstGeom>
              <a:blipFill>
                <a:blip r:embed="rId15"/>
                <a:stretch>
                  <a:fillRect/>
                </a:stretch>
              </a:blipFill>
            </p:spPr>
            <p:txBody>
              <a:bodyPr/>
              <a:lstStyle/>
              <a:p>
                <a:r>
                  <a:rPr lang="en-US">
                    <a:noFill/>
                  </a:rPr>
                  <a:t> </a:t>
                </a:r>
              </a:p>
            </p:txBody>
          </p:sp>
        </mc:Fallback>
      </mc:AlternateContent>
      <p:cxnSp>
        <p:nvCxnSpPr>
          <p:cNvPr id="138" name="Straight Arrow Connector 137">
            <a:extLst>
              <a:ext uri="{FF2B5EF4-FFF2-40B4-BE49-F238E27FC236}">
                <a16:creationId xmlns:a16="http://schemas.microsoft.com/office/drawing/2014/main" id="{9F5E0DCF-BE90-3C4A-B385-F2B71FED0976}"/>
              </a:ext>
            </a:extLst>
          </p:cNvPr>
          <p:cNvCxnSpPr>
            <a:cxnSpLocks/>
            <a:stCxn id="95" idx="6"/>
            <a:endCxn id="137" idx="2"/>
          </p:cNvCxnSpPr>
          <p:nvPr/>
        </p:nvCxnSpPr>
        <p:spPr>
          <a:xfrm>
            <a:off x="7340577" y="1891096"/>
            <a:ext cx="382919" cy="64375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9" name="Straight Arrow Connector 138">
            <a:extLst>
              <a:ext uri="{FF2B5EF4-FFF2-40B4-BE49-F238E27FC236}">
                <a16:creationId xmlns:a16="http://schemas.microsoft.com/office/drawing/2014/main" id="{AD66C105-97A9-2C42-8F6A-F233127C7A6E}"/>
              </a:ext>
            </a:extLst>
          </p:cNvPr>
          <p:cNvCxnSpPr>
            <a:cxnSpLocks/>
            <a:stCxn id="96" idx="6"/>
            <a:endCxn id="137" idx="2"/>
          </p:cNvCxnSpPr>
          <p:nvPr/>
        </p:nvCxnSpPr>
        <p:spPr>
          <a:xfrm>
            <a:off x="7340577" y="2327582"/>
            <a:ext cx="382919" cy="20726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0" name="Straight Arrow Connector 139">
            <a:extLst>
              <a:ext uri="{FF2B5EF4-FFF2-40B4-BE49-F238E27FC236}">
                <a16:creationId xmlns:a16="http://schemas.microsoft.com/office/drawing/2014/main" id="{2D0AFBBA-4147-D94C-A52B-F0FC7505949A}"/>
              </a:ext>
            </a:extLst>
          </p:cNvPr>
          <p:cNvCxnSpPr>
            <a:cxnSpLocks/>
            <a:stCxn id="97" idx="6"/>
            <a:endCxn id="137" idx="2"/>
          </p:cNvCxnSpPr>
          <p:nvPr/>
        </p:nvCxnSpPr>
        <p:spPr>
          <a:xfrm flipV="1">
            <a:off x="7340577" y="2534846"/>
            <a:ext cx="382919" cy="22922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1" name="Straight Arrow Connector 140">
            <a:extLst>
              <a:ext uri="{FF2B5EF4-FFF2-40B4-BE49-F238E27FC236}">
                <a16:creationId xmlns:a16="http://schemas.microsoft.com/office/drawing/2014/main" id="{3ECFCA91-54B0-C548-A8A8-50517562BE0E}"/>
              </a:ext>
            </a:extLst>
          </p:cNvPr>
          <p:cNvCxnSpPr>
            <a:cxnSpLocks/>
            <a:stCxn id="98" idx="6"/>
            <a:endCxn id="137" idx="2"/>
          </p:cNvCxnSpPr>
          <p:nvPr/>
        </p:nvCxnSpPr>
        <p:spPr>
          <a:xfrm flipV="1">
            <a:off x="7340577" y="2534846"/>
            <a:ext cx="382919" cy="66570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2" name="Straight Arrow Connector 141">
            <a:extLst>
              <a:ext uri="{FF2B5EF4-FFF2-40B4-BE49-F238E27FC236}">
                <a16:creationId xmlns:a16="http://schemas.microsoft.com/office/drawing/2014/main" id="{0A2D30D2-B9D2-BE4C-BBAF-9C623E626F36}"/>
              </a:ext>
            </a:extLst>
          </p:cNvPr>
          <p:cNvCxnSpPr>
            <a:cxnSpLocks/>
            <a:stCxn id="137" idx="6"/>
            <a:endCxn id="117" idx="2"/>
          </p:cNvCxnSpPr>
          <p:nvPr/>
        </p:nvCxnSpPr>
        <p:spPr>
          <a:xfrm>
            <a:off x="8089256" y="2534846"/>
            <a:ext cx="757502" cy="4158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3" name="Straight Arrow Connector 142">
            <a:extLst>
              <a:ext uri="{FF2B5EF4-FFF2-40B4-BE49-F238E27FC236}">
                <a16:creationId xmlns:a16="http://schemas.microsoft.com/office/drawing/2014/main" id="{943CD6F7-701E-EC49-8520-02A4F084529C}"/>
              </a:ext>
            </a:extLst>
          </p:cNvPr>
          <p:cNvCxnSpPr>
            <a:cxnSpLocks/>
            <a:stCxn id="137" idx="6"/>
            <a:endCxn id="116" idx="2"/>
          </p:cNvCxnSpPr>
          <p:nvPr/>
        </p:nvCxnSpPr>
        <p:spPr>
          <a:xfrm flipV="1">
            <a:off x="8089256" y="2265019"/>
            <a:ext cx="757503" cy="26982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4" name="Straight Arrow Connector 143">
            <a:extLst>
              <a:ext uri="{FF2B5EF4-FFF2-40B4-BE49-F238E27FC236}">
                <a16:creationId xmlns:a16="http://schemas.microsoft.com/office/drawing/2014/main" id="{C4F63216-0294-D94B-84DA-6B96F7FD4A24}"/>
              </a:ext>
            </a:extLst>
          </p:cNvPr>
          <p:cNvCxnSpPr>
            <a:cxnSpLocks/>
            <a:stCxn id="116" idx="6"/>
            <a:endCxn id="126" idx="1"/>
          </p:cNvCxnSpPr>
          <p:nvPr/>
        </p:nvCxnSpPr>
        <p:spPr>
          <a:xfrm>
            <a:off x="9468651" y="2265019"/>
            <a:ext cx="437945" cy="30992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5" name="Straight Arrow Connector 144">
            <a:extLst>
              <a:ext uri="{FF2B5EF4-FFF2-40B4-BE49-F238E27FC236}">
                <a16:creationId xmlns:a16="http://schemas.microsoft.com/office/drawing/2014/main" id="{4ED5CB71-D9CD-6544-9860-0BE474D1926D}"/>
              </a:ext>
            </a:extLst>
          </p:cNvPr>
          <p:cNvCxnSpPr>
            <a:cxnSpLocks/>
            <a:stCxn id="117" idx="6"/>
            <a:endCxn id="126" idx="1"/>
          </p:cNvCxnSpPr>
          <p:nvPr/>
        </p:nvCxnSpPr>
        <p:spPr>
          <a:xfrm flipV="1">
            <a:off x="9468651" y="2574947"/>
            <a:ext cx="437945" cy="3757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6" name="Connector: Curved 161">
            <a:extLst>
              <a:ext uri="{FF2B5EF4-FFF2-40B4-BE49-F238E27FC236}">
                <a16:creationId xmlns:a16="http://schemas.microsoft.com/office/drawing/2014/main" id="{5BAC0FD2-CDC9-3A4C-8526-ECED9CD4F991}"/>
              </a:ext>
            </a:extLst>
          </p:cNvPr>
          <p:cNvCxnSpPr>
            <a:cxnSpLocks/>
            <a:stCxn id="126" idx="3"/>
            <a:endCxn id="124" idx="6"/>
          </p:cNvCxnSpPr>
          <p:nvPr/>
        </p:nvCxnSpPr>
        <p:spPr>
          <a:xfrm flipH="1">
            <a:off x="9574235" y="2574947"/>
            <a:ext cx="1865003" cy="1865251"/>
          </a:xfrm>
          <a:prstGeom prst="curvedConnector3">
            <a:avLst>
              <a:gd name="adj1" fmla="val -12257"/>
            </a:avLst>
          </a:prstGeom>
          <a:ln>
            <a:tailEnd type="triangle"/>
          </a:ln>
        </p:spPr>
        <p:style>
          <a:lnRef idx="1">
            <a:schemeClr val="dk1"/>
          </a:lnRef>
          <a:fillRef idx="0">
            <a:schemeClr val="dk1"/>
          </a:fillRef>
          <a:effectRef idx="0">
            <a:schemeClr val="dk1"/>
          </a:effectRef>
          <a:fontRef idx="minor">
            <a:schemeClr val="tx1"/>
          </a:fontRef>
        </p:style>
      </p:cxnSp>
      <p:sp>
        <p:nvSpPr>
          <p:cNvPr id="147" name="TextBox 146">
            <a:extLst>
              <a:ext uri="{FF2B5EF4-FFF2-40B4-BE49-F238E27FC236}">
                <a16:creationId xmlns:a16="http://schemas.microsoft.com/office/drawing/2014/main" id="{D3860B69-A179-A54F-9C6E-9994AFDFED6A}"/>
              </a:ext>
            </a:extLst>
          </p:cNvPr>
          <p:cNvSpPr txBox="1"/>
          <p:nvPr/>
        </p:nvSpPr>
        <p:spPr>
          <a:xfrm>
            <a:off x="8589898" y="3550231"/>
            <a:ext cx="1225893" cy="369332"/>
          </a:xfrm>
          <a:prstGeom prst="rect">
            <a:avLst/>
          </a:prstGeom>
          <a:noFill/>
        </p:spPr>
        <p:txBody>
          <a:bodyPr wrap="square" rtlCol="0">
            <a:spAutoFit/>
          </a:bodyPr>
          <a:lstStyle/>
          <a:p>
            <a:pPr algn="ctr"/>
            <a:r>
              <a:rPr lang="en-US" sz="900" b="1" dirty="0"/>
              <a:t>Boundary Condition &amp; Observations</a:t>
            </a:r>
          </a:p>
        </p:txBody>
      </p:sp>
      <p:sp>
        <p:nvSpPr>
          <p:cNvPr id="148" name="TextBox 147">
            <a:extLst>
              <a:ext uri="{FF2B5EF4-FFF2-40B4-BE49-F238E27FC236}">
                <a16:creationId xmlns:a16="http://schemas.microsoft.com/office/drawing/2014/main" id="{F7D3ABA7-4F0D-8D4D-9EBE-93A31CB82E04}"/>
              </a:ext>
            </a:extLst>
          </p:cNvPr>
          <p:cNvSpPr txBox="1"/>
          <p:nvPr/>
        </p:nvSpPr>
        <p:spPr>
          <a:xfrm>
            <a:off x="9574234" y="4403000"/>
            <a:ext cx="762700" cy="230832"/>
          </a:xfrm>
          <a:prstGeom prst="rect">
            <a:avLst/>
          </a:prstGeom>
          <a:noFill/>
        </p:spPr>
        <p:txBody>
          <a:bodyPr wrap="square" rtlCol="0">
            <a:spAutoFit/>
          </a:bodyPr>
          <a:lstStyle/>
          <a:p>
            <a:r>
              <a:rPr lang="en-US" sz="900" b="1" dirty="0"/>
              <a:t>PDE</a:t>
            </a:r>
          </a:p>
        </p:txBody>
      </p:sp>
      <mc:AlternateContent xmlns:mc="http://schemas.openxmlformats.org/markup-compatibility/2006" xmlns:a14="http://schemas.microsoft.com/office/drawing/2010/main">
        <mc:Choice Requires="a14">
          <p:sp>
            <p:nvSpPr>
              <p:cNvPr id="149" name="Oval 148">
                <a:extLst>
                  <a:ext uri="{FF2B5EF4-FFF2-40B4-BE49-F238E27FC236}">
                    <a16:creationId xmlns:a16="http://schemas.microsoft.com/office/drawing/2014/main" id="{92DDEE4E-7313-794F-8981-BC747D6393C4}"/>
                  </a:ext>
                </a:extLst>
              </p:cNvPr>
              <p:cNvSpPr/>
              <p:nvPr/>
            </p:nvSpPr>
            <p:spPr>
              <a:xfrm>
                <a:off x="8454491" y="755655"/>
                <a:ext cx="365760" cy="365760"/>
              </a:xfrm>
              <a:prstGeom prst="ellipse">
                <a:avLst/>
              </a:prstGeom>
              <a:solidFill>
                <a:schemeClr val="accent3"/>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oMath>
                  </m:oMathPara>
                </a14:m>
                <a:endParaRPr lang="en-US" dirty="0"/>
              </a:p>
            </p:txBody>
          </p:sp>
        </mc:Choice>
        <mc:Fallback xmlns="">
          <p:sp>
            <p:nvSpPr>
              <p:cNvPr id="149" name="Oval 148">
                <a:extLst>
                  <a:ext uri="{FF2B5EF4-FFF2-40B4-BE49-F238E27FC236}">
                    <a16:creationId xmlns:a16="http://schemas.microsoft.com/office/drawing/2014/main" id="{92DDEE4E-7313-794F-8981-BC747D6393C4}"/>
                  </a:ext>
                </a:extLst>
              </p:cNvPr>
              <p:cNvSpPr>
                <a:spLocks noRot="1" noChangeAspect="1" noMove="1" noResize="1" noEditPoints="1" noAdjustHandles="1" noChangeArrowheads="1" noChangeShapeType="1" noTextEdit="1"/>
              </p:cNvSpPr>
              <p:nvPr/>
            </p:nvSpPr>
            <p:spPr>
              <a:xfrm>
                <a:off x="8454491" y="755655"/>
                <a:ext cx="365760" cy="365760"/>
              </a:xfrm>
              <a:prstGeom prst="ellipse">
                <a:avLst/>
              </a:prstGeom>
              <a:blipFill>
                <a:blip r:embed="rId16"/>
                <a:stretch>
                  <a:fillRect/>
                </a:stretch>
              </a:blipFill>
            </p:spPr>
            <p:txBody>
              <a:bodyPr/>
              <a:lstStyle/>
              <a:p>
                <a:r>
                  <a:rPr lang="en-US">
                    <a:noFill/>
                  </a:rPr>
                  <a:t> </a:t>
                </a:r>
              </a:p>
            </p:txBody>
          </p:sp>
        </mc:Fallback>
      </mc:AlternateContent>
      <p:cxnSp>
        <p:nvCxnSpPr>
          <p:cNvPr id="150" name="Straight Arrow Connector 149">
            <a:extLst>
              <a:ext uri="{FF2B5EF4-FFF2-40B4-BE49-F238E27FC236}">
                <a16:creationId xmlns:a16="http://schemas.microsoft.com/office/drawing/2014/main" id="{2D2BCA4A-C7EE-CB4D-A4CF-8280353819D6}"/>
              </a:ext>
            </a:extLst>
          </p:cNvPr>
          <p:cNvCxnSpPr>
            <a:cxnSpLocks/>
            <a:stCxn id="149" idx="5"/>
            <a:endCxn id="126" idx="1"/>
          </p:cNvCxnSpPr>
          <p:nvPr/>
        </p:nvCxnSpPr>
        <p:spPr>
          <a:xfrm>
            <a:off x="8766687" y="1067851"/>
            <a:ext cx="1139909" cy="150709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51" name="Rectangle: Rounded Corners 113">
            <a:extLst>
              <a:ext uri="{FF2B5EF4-FFF2-40B4-BE49-F238E27FC236}">
                <a16:creationId xmlns:a16="http://schemas.microsoft.com/office/drawing/2014/main" id="{0838F656-67D1-704A-BA22-B037DD5709F2}"/>
              </a:ext>
            </a:extLst>
          </p:cNvPr>
          <p:cNvSpPr/>
          <p:nvPr/>
        </p:nvSpPr>
        <p:spPr>
          <a:xfrm>
            <a:off x="5661945" y="1656622"/>
            <a:ext cx="2693107" cy="1847020"/>
          </a:xfrm>
          <a:prstGeom prst="roundRect">
            <a:avLst>
              <a:gd name="adj" fmla="val 50000"/>
            </a:avLst>
          </a:prstGeom>
          <a:no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Rectangle 77">
            <a:extLst>
              <a:ext uri="{FF2B5EF4-FFF2-40B4-BE49-F238E27FC236}">
                <a16:creationId xmlns:a16="http://schemas.microsoft.com/office/drawing/2014/main" id="{AB0B4718-04E8-6441-850F-3ED1FDCF4F67}"/>
              </a:ext>
            </a:extLst>
          </p:cNvPr>
          <p:cNvSpPr/>
          <p:nvPr/>
        </p:nvSpPr>
        <p:spPr>
          <a:xfrm>
            <a:off x="5150979" y="6138140"/>
            <a:ext cx="7014718" cy="338554"/>
          </a:xfrm>
          <a:prstGeom prst="rect">
            <a:avLst/>
          </a:prstGeom>
        </p:spPr>
        <p:txBody>
          <a:bodyPr wrap="square">
            <a:spAutoFit/>
          </a:bodyPr>
          <a:lstStyle/>
          <a:p>
            <a:r>
              <a:rPr lang="en-US" altLang="zh-CN" sz="1600" dirty="0"/>
              <a:t>Training data comes from PDE, boundary conditions, and the </a:t>
            </a:r>
            <a:r>
              <a:rPr lang="en-US" altLang="zh-CN" sz="1600" b="1" dirty="0">
                <a:solidFill>
                  <a:srgbClr val="FF0000"/>
                </a:solidFill>
              </a:rPr>
              <a:t>finite element solver</a:t>
            </a:r>
            <a:endParaRPr lang="en-US" altLang="zh-CN" sz="1600" b="1" dirty="0">
              <a:solidFill>
                <a:srgbClr val="FF0000"/>
              </a:solidFill>
              <a:ea typeface="Cambria Math" panose="02040503050406030204" pitchFamily="18" charset="0"/>
            </a:endParaRPr>
          </a:p>
        </p:txBody>
      </p:sp>
      <p:sp>
        <p:nvSpPr>
          <p:cNvPr id="79" name="Rectangle 78">
            <a:extLst>
              <a:ext uri="{FF2B5EF4-FFF2-40B4-BE49-F238E27FC236}">
                <a16:creationId xmlns:a16="http://schemas.microsoft.com/office/drawing/2014/main" id="{C87DB10E-42B5-EA4F-93D5-376104249B0A}"/>
              </a:ext>
            </a:extLst>
          </p:cNvPr>
          <p:cNvSpPr/>
          <p:nvPr/>
        </p:nvSpPr>
        <p:spPr>
          <a:xfrm>
            <a:off x="6005004" y="5737807"/>
            <a:ext cx="1222322" cy="338554"/>
          </a:xfrm>
          <a:prstGeom prst="rect">
            <a:avLst/>
          </a:prstGeom>
        </p:spPr>
        <p:txBody>
          <a:bodyPr wrap="none">
            <a:spAutoFit/>
          </a:bodyPr>
          <a:lstStyle/>
          <a:p>
            <a:r>
              <a:rPr lang="en-US" altLang="zh-CN" sz="1600" dirty="0">
                <a:ea typeface="Cambria Math" panose="02040503050406030204" pitchFamily="18" charset="0"/>
              </a:rPr>
              <a:t>PDE residual</a:t>
            </a:r>
            <a:endParaRPr lang="en-US" sz="1600" dirty="0"/>
          </a:p>
        </p:txBody>
      </p:sp>
      <p:sp>
        <p:nvSpPr>
          <p:cNvPr id="80" name="Rectangle 79">
            <a:extLst>
              <a:ext uri="{FF2B5EF4-FFF2-40B4-BE49-F238E27FC236}">
                <a16:creationId xmlns:a16="http://schemas.microsoft.com/office/drawing/2014/main" id="{0EE05663-9AB8-2C43-A806-00D0C606B93A}"/>
              </a:ext>
            </a:extLst>
          </p:cNvPr>
          <p:cNvSpPr/>
          <p:nvPr/>
        </p:nvSpPr>
        <p:spPr>
          <a:xfrm>
            <a:off x="8097661" y="5744225"/>
            <a:ext cx="1110112" cy="338554"/>
          </a:xfrm>
          <a:prstGeom prst="rect">
            <a:avLst/>
          </a:prstGeom>
        </p:spPr>
        <p:txBody>
          <a:bodyPr wrap="none">
            <a:spAutoFit/>
          </a:bodyPr>
          <a:lstStyle/>
          <a:p>
            <a:r>
              <a:rPr lang="en-US" altLang="zh-CN" sz="1600" dirty="0">
                <a:ea typeface="Cambria Math" panose="02040503050406030204" pitchFamily="18" charset="0"/>
              </a:rPr>
              <a:t>BC residual</a:t>
            </a:r>
            <a:endParaRPr lang="en-US" sz="1600" dirty="0"/>
          </a:p>
        </p:txBody>
      </p:sp>
      <p:sp>
        <p:nvSpPr>
          <p:cNvPr id="152" name="Rectangle 151">
            <a:extLst>
              <a:ext uri="{FF2B5EF4-FFF2-40B4-BE49-F238E27FC236}">
                <a16:creationId xmlns:a16="http://schemas.microsoft.com/office/drawing/2014/main" id="{BB51987F-902D-FE4A-A074-28C3E1C8ECCC}"/>
              </a:ext>
            </a:extLst>
          </p:cNvPr>
          <p:cNvSpPr/>
          <p:nvPr/>
        </p:nvSpPr>
        <p:spPr>
          <a:xfrm>
            <a:off x="10052708" y="5751152"/>
            <a:ext cx="1472391" cy="338554"/>
          </a:xfrm>
          <a:prstGeom prst="rect">
            <a:avLst/>
          </a:prstGeom>
        </p:spPr>
        <p:txBody>
          <a:bodyPr wrap="none">
            <a:spAutoFit/>
          </a:bodyPr>
          <a:lstStyle/>
          <a:p>
            <a:r>
              <a:rPr lang="en-US" sz="1600" dirty="0">
                <a:ea typeface="Cambria Math" panose="02040503050406030204" pitchFamily="18" charset="0"/>
              </a:rPr>
              <a:t>Error </a:t>
            </a:r>
            <a:r>
              <a:rPr lang="en-US" sz="1600" dirty="0" err="1">
                <a:ea typeface="Cambria Math" panose="02040503050406030204" pitchFamily="18" charset="0"/>
              </a:rPr>
              <a:t>w.r.t.</a:t>
            </a:r>
            <a:r>
              <a:rPr lang="en-US" sz="1600" dirty="0">
                <a:ea typeface="Cambria Math" panose="02040503050406030204" pitchFamily="18" charset="0"/>
              </a:rPr>
              <a:t> data</a:t>
            </a:r>
            <a:endParaRPr lang="en-US" sz="1600" dirty="0"/>
          </a:p>
        </p:txBody>
      </p:sp>
    </p:spTree>
    <p:extLst>
      <p:ext uri="{BB962C8B-B14F-4D97-AF65-F5344CB8AC3E}">
        <p14:creationId xmlns:p14="http://schemas.microsoft.com/office/powerpoint/2010/main" val="20320940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3" presetClass="entr" presetSubtype="0" fill="hold" grpId="0" nodeType="clickEffect">
                                  <p:stCondLst>
                                    <p:cond delay="0"/>
                                  </p:stCondLst>
                                  <p:childTnLst>
                                    <p:set>
                                      <p:cBhvr>
                                        <p:cTn id="6" dur="1" fill="hold">
                                          <p:stCondLst>
                                            <p:cond delay="0"/>
                                          </p:stCondLst>
                                        </p:cTn>
                                        <p:tgtEl>
                                          <p:spTgt spid="149"/>
                                        </p:tgtEl>
                                        <p:attrNameLst>
                                          <p:attrName>style.visibility</p:attrName>
                                        </p:attrNameLst>
                                      </p:cBhvr>
                                      <p:to>
                                        <p:strVal val="visible"/>
                                      </p:to>
                                    </p:set>
                                    <p:animEffect transition="in" filter="fade">
                                      <p:cBhvr>
                                        <p:cTn id="7" dur="100"/>
                                        <p:tgtEl>
                                          <p:spTgt spid="149"/>
                                        </p:tgtEl>
                                      </p:cBhvr>
                                    </p:animEffect>
                                    <p:anim calcmode="lin" valueType="num">
                                      <p:cBhvr>
                                        <p:cTn id="8" dur="400" fill="hold"/>
                                        <p:tgtEl>
                                          <p:spTgt spid="149"/>
                                        </p:tgtEl>
                                        <p:attrNameLst>
                                          <p:attrName>ppt_x</p:attrName>
                                        </p:attrNameLst>
                                      </p:cBhvr>
                                      <p:tavLst>
                                        <p:tav tm="0">
                                          <p:val>
                                            <p:strVal val="#ppt_x"/>
                                          </p:val>
                                        </p:tav>
                                        <p:tav tm="100000">
                                          <p:val>
                                            <p:strVal val="#ppt_x"/>
                                          </p:val>
                                        </p:tav>
                                      </p:tavLst>
                                    </p:anim>
                                    <p:anim calcmode="lin" valueType="num">
                                      <p:cBhvr>
                                        <p:cTn id="9" dur="400" fill="hold"/>
                                        <p:tgtEl>
                                          <p:spTgt spid="149"/>
                                        </p:tgtEl>
                                        <p:attrNameLst>
                                          <p:attrName>ppt_y</p:attrName>
                                        </p:attrNameLst>
                                      </p:cBhvr>
                                      <p:tavLst>
                                        <p:tav tm="0">
                                          <p:val>
                                            <p:strVal val="#ppt_y+0.31"/>
                                          </p:val>
                                        </p:tav>
                                        <p:tav tm="100000">
                                          <p:val>
                                            <p:strVal val="#ppt_y+0.31"/>
                                          </p:val>
                                        </p:tav>
                                      </p:tavLst>
                                    </p:anim>
                                    <p:anim calcmode="lin" valueType="num">
                                      <p:cBhvr>
                                        <p:cTn id="10" dur="600" decel="50000" fill="hold">
                                          <p:stCondLst>
                                            <p:cond delay="400"/>
                                          </p:stCondLst>
                                        </p:cTn>
                                        <p:tgtEl>
                                          <p:spTgt spid="149"/>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p:cTn id="11" dur="600" decel="50000" fill="hold">
                                          <p:stCondLst>
                                            <p:cond delay="400"/>
                                          </p:stCondLst>
                                        </p:cTn>
                                        <p:tgtEl>
                                          <p:spTgt spid="149"/>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9"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7BB2207-E319-4C68-89F5-BABE56735956}"/>
              </a:ext>
            </a:extLst>
          </p:cNvPr>
          <p:cNvSpPr/>
          <p:nvPr/>
        </p:nvSpPr>
        <p:spPr>
          <a:xfrm>
            <a:off x="0" y="0"/>
            <a:ext cx="12192000" cy="5762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t>Methodology</a:t>
            </a:r>
          </a:p>
        </p:txBody>
      </p:sp>
      <p:sp>
        <p:nvSpPr>
          <p:cNvPr id="4" name="Date Placeholder 3">
            <a:extLst>
              <a:ext uri="{FF2B5EF4-FFF2-40B4-BE49-F238E27FC236}">
                <a16:creationId xmlns:a16="http://schemas.microsoft.com/office/drawing/2014/main" id="{C56C5B1D-BAE5-444D-BE0A-8DFE8943F71A}"/>
              </a:ext>
            </a:extLst>
          </p:cNvPr>
          <p:cNvSpPr>
            <a:spLocks noGrp="1"/>
          </p:cNvSpPr>
          <p:nvPr>
            <p:ph type="dt" sz="half" idx="10"/>
          </p:nvPr>
        </p:nvSpPr>
        <p:spPr/>
        <p:txBody>
          <a:bodyPr/>
          <a:lstStyle/>
          <a:p>
            <a:fld id="{DF1A2BDE-45B9-4338-A5B4-A4B361F8291C}" type="datetime1">
              <a:rPr lang="en-US" smtClean="0"/>
              <a:t>12/12/19</a:t>
            </a:fld>
            <a:endParaRPr lang="en-US" dirty="0"/>
          </a:p>
        </p:txBody>
      </p:sp>
      <p:sp>
        <p:nvSpPr>
          <p:cNvPr id="6" name="Slide Number Placeholder 5">
            <a:extLst>
              <a:ext uri="{FF2B5EF4-FFF2-40B4-BE49-F238E27FC236}">
                <a16:creationId xmlns:a16="http://schemas.microsoft.com/office/drawing/2014/main" id="{6018303F-834B-4DF5-9449-DE2539D3C3BF}"/>
              </a:ext>
            </a:extLst>
          </p:cNvPr>
          <p:cNvSpPr>
            <a:spLocks noGrp="1"/>
          </p:cNvSpPr>
          <p:nvPr>
            <p:ph type="sldNum" sz="quarter" idx="12"/>
          </p:nvPr>
        </p:nvSpPr>
        <p:spPr/>
        <p:txBody>
          <a:bodyPr/>
          <a:lstStyle/>
          <a:p>
            <a:fld id="{8EFFDE9E-9997-42E5-95F8-776DC6BFAD10}" type="slidenum">
              <a:rPr lang="en-US" smtClean="0"/>
              <a:t>5</a:t>
            </a:fld>
            <a:endParaRPr lang="en-US" dirty="0"/>
          </a:p>
        </p:txBody>
      </p:sp>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74DFEF03-11E9-C24E-A750-54C57B15515A}"/>
                  </a:ext>
                </a:extLst>
              </p:cNvPr>
              <p:cNvSpPr/>
              <p:nvPr/>
            </p:nvSpPr>
            <p:spPr>
              <a:xfrm>
                <a:off x="292245" y="1523941"/>
                <a:ext cx="3847202" cy="1539780"/>
              </a:xfrm>
              <a:prstGeom prst="rect">
                <a:avLst/>
              </a:prstGeom>
            </p:spPr>
            <p:txBody>
              <a:bodyPr wrap="square">
                <a:spAutoFit/>
              </a:bodyPr>
              <a:lstStyle/>
              <a:p>
                <a:r>
                  <a:rPr lang="en-US" altLang="zh-CN" sz="2000" dirty="0"/>
                  <a:t>Infer the unknown parameter field:</a:t>
                </a:r>
              </a:p>
              <a:p>
                <a:pPr/>
                <a14:m>
                  <m:oMathPara xmlns:m="http://schemas.openxmlformats.org/officeDocument/2006/math">
                    <m:oMathParaPr>
                      <m:jc m:val="centerGroup"/>
                    </m:oMathParaPr>
                    <m:oMath xmlns:m="http://schemas.openxmlformats.org/officeDocument/2006/math">
                      <m:d>
                        <m:dPr>
                          <m:begChr m:val="{"/>
                          <m:endChr m:val=""/>
                          <m:ctrlPr>
                            <a:rPr lang="en-US" altLang="zh-CN" sz="2000" i="1" smtClean="0">
                              <a:latin typeface="Cambria Math" panose="02040503050406030204" pitchFamily="18" charset="0"/>
                              <a:ea typeface="Cambria Math" panose="02040503050406030204" pitchFamily="18" charset="0"/>
                            </a:rPr>
                          </m:ctrlPr>
                        </m:dPr>
                        <m:e>
                          <m:eqArr>
                            <m:eqArrPr>
                              <m:ctrlPr>
                                <a:rPr lang="en-US" altLang="zh-CN" sz="2000" i="1" smtClean="0">
                                  <a:latin typeface="Cambria Math" panose="02040503050406030204" pitchFamily="18" charset="0"/>
                                  <a:ea typeface="Cambria Math" panose="02040503050406030204" pitchFamily="18" charset="0"/>
                                </a:rPr>
                              </m:ctrlPr>
                            </m:eqArrPr>
                            <m:e>
                              <m:f>
                                <m:fPr>
                                  <m:ctrlPr>
                                    <a:rPr lang="en-US" altLang="zh-CN" sz="2000" b="0" i="1" smtClean="0">
                                      <a:latin typeface="Cambria Math" panose="02040503050406030204" pitchFamily="18" charset="0"/>
                                      <a:ea typeface="Cambria Math" panose="02040503050406030204" pitchFamily="18" charset="0"/>
                                    </a:rPr>
                                  </m:ctrlPr>
                                </m:fPr>
                                <m:num>
                                  <m:r>
                                    <a:rPr lang="en-US" altLang="zh-CN" sz="2000" b="0" i="1" smtClean="0">
                                      <a:latin typeface="Cambria Math" panose="02040503050406030204" pitchFamily="18" charset="0"/>
                                      <a:ea typeface="Cambria Math" panose="02040503050406030204" pitchFamily="18" charset="0"/>
                                    </a:rPr>
                                    <m:t>𝜕</m:t>
                                  </m:r>
                                  <m:r>
                                    <a:rPr lang="en-US" altLang="zh-CN" sz="2000" b="0" i="1" smtClean="0">
                                      <a:latin typeface="Cambria Math" panose="02040503050406030204" pitchFamily="18" charset="0"/>
                                      <a:ea typeface="Cambria Math" panose="02040503050406030204" pitchFamily="18" charset="0"/>
                                    </a:rPr>
                                    <m:t>𝑢</m:t>
                                  </m:r>
                                </m:num>
                                <m:den>
                                  <m:r>
                                    <a:rPr lang="en-US" altLang="zh-CN" sz="2000" b="0" i="1" smtClean="0">
                                      <a:latin typeface="Cambria Math" panose="02040503050406030204" pitchFamily="18" charset="0"/>
                                      <a:ea typeface="Cambria Math" panose="02040503050406030204" pitchFamily="18" charset="0"/>
                                    </a:rPr>
                                    <m:t>𝜕</m:t>
                                  </m:r>
                                  <m:r>
                                    <a:rPr lang="en-US" altLang="zh-CN" sz="2000" b="0" i="1" smtClean="0">
                                      <a:latin typeface="Cambria Math" panose="02040503050406030204" pitchFamily="18" charset="0"/>
                                      <a:ea typeface="Cambria Math" panose="02040503050406030204" pitchFamily="18" charset="0"/>
                                    </a:rPr>
                                    <m:t>𝑥</m:t>
                                  </m:r>
                                </m:den>
                              </m:f>
                              <m:r>
                                <a:rPr lang="en-US" altLang="zh-CN" sz="2000" b="0" i="1" smtClean="0">
                                  <a:latin typeface="Cambria Math" panose="02040503050406030204" pitchFamily="18" charset="0"/>
                                  <a:ea typeface="Cambria Math" panose="02040503050406030204" pitchFamily="18" charset="0"/>
                                </a:rPr>
                                <m:t>+</m:t>
                              </m:r>
                              <m:r>
                                <a:rPr lang="en-US" altLang="zh-CN" sz="2000" b="0" i="1" smtClean="0">
                                  <a:solidFill>
                                    <a:srgbClr val="FF0000"/>
                                  </a:solidFill>
                                  <a:latin typeface="Cambria Math" panose="02040503050406030204" pitchFamily="18" charset="0"/>
                                  <a:ea typeface="Cambria Math" panose="02040503050406030204" pitchFamily="18" charset="0"/>
                                </a:rPr>
                                <m:t>𝜆</m:t>
                              </m:r>
                              <m:r>
                                <a:rPr lang="en-US" altLang="zh-CN" sz="2000" b="0" i="1" smtClean="0">
                                  <a:solidFill>
                                    <a:srgbClr val="FF0000"/>
                                  </a:solidFill>
                                  <a:latin typeface="Cambria Math" panose="02040503050406030204" pitchFamily="18" charset="0"/>
                                  <a:ea typeface="Cambria Math" panose="02040503050406030204" pitchFamily="18" charset="0"/>
                                </a:rPr>
                                <m:t>(</m:t>
                              </m:r>
                              <m:r>
                                <a:rPr lang="en-US" altLang="zh-CN" sz="2000" b="0" i="1" smtClean="0">
                                  <a:solidFill>
                                    <a:srgbClr val="FF0000"/>
                                  </a:solidFill>
                                  <a:latin typeface="Cambria Math" panose="02040503050406030204" pitchFamily="18" charset="0"/>
                                  <a:ea typeface="Cambria Math" panose="02040503050406030204" pitchFamily="18" charset="0"/>
                                </a:rPr>
                                <m:t>𝑥</m:t>
                              </m:r>
                              <m:r>
                                <a:rPr lang="en-US" altLang="zh-CN" sz="2000" b="0" i="1" smtClean="0">
                                  <a:solidFill>
                                    <a:srgbClr val="FF0000"/>
                                  </a:solidFill>
                                  <a:latin typeface="Cambria Math" panose="02040503050406030204" pitchFamily="18" charset="0"/>
                                  <a:ea typeface="Cambria Math" panose="02040503050406030204" pitchFamily="18" charset="0"/>
                                </a:rPr>
                                <m:t>,</m:t>
                              </m:r>
                              <m:r>
                                <a:rPr lang="en-US" altLang="zh-CN" sz="2000" b="0" i="1" smtClean="0">
                                  <a:solidFill>
                                    <a:srgbClr val="FF0000"/>
                                  </a:solidFill>
                                  <a:latin typeface="Cambria Math" panose="02040503050406030204" pitchFamily="18" charset="0"/>
                                  <a:ea typeface="Cambria Math" panose="02040503050406030204" pitchFamily="18" charset="0"/>
                                </a:rPr>
                                <m:t>𝑡</m:t>
                              </m:r>
                              <m:r>
                                <a:rPr lang="en-US" altLang="zh-CN" sz="2000" b="0" i="1" smtClean="0">
                                  <a:solidFill>
                                    <a:srgbClr val="FF0000"/>
                                  </a:solidFill>
                                  <a:latin typeface="Cambria Math" panose="02040503050406030204" pitchFamily="18" charset="0"/>
                                  <a:ea typeface="Cambria Math" panose="02040503050406030204" pitchFamily="18" charset="0"/>
                                </a:rPr>
                                <m:t>)</m:t>
                              </m:r>
                              <m:f>
                                <m:fPr>
                                  <m:ctrlPr>
                                    <a:rPr lang="en-US" altLang="zh-CN" sz="2000" i="1">
                                      <a:latin typeface="Cambria Math" panose="02040503050406030204" pitchFamily="18" charset="0"/>
                                      <a:ea typeface="Cambria Math" panose="02040503050406030204" pitchFamily="18" charset="0"/>
                                    </a:rPr>
                                  </m:ctrlPr>
                                </m:fPr>
                                <m:num>
                                  <m:r>
                                    <a:rPr lang="en-US" altLang="zh-CN" sz="2000" i="1">
                                      <a:latin typeface="Cambria Math" panose="02040503050406030204" pitchFamily="18" charset="0"/>
                                      <a:ea typeface="Cambria Math" panose="02040503050406030204" pitchFamily="18" charset="0"/>
                                    </a:rPr>
                                    <m:t>𝜕</m:t>
                                  </m:r>
                                  <m:r>
                                    <a:rPr lang="en-US" altLang="zh-CN" sz="2000" i="1">
                                      <a:latin typeface="Cambria Math" panose="02040503050406030204" pitchFamily="18" charset="0"/>
                                      <a:ea typeface="Cambria Math" panose="02040503050406030204" pitchFamily="18" charset="0"/>
                                    </a:rPr>
                                    <m:t>𝑢</m:t>
                                  </m:r>
                                </m:num>
                                <m:den>
                                  <m:r>
                                    <a:rPr lang="en-US" altLang="zh-CN" sz="2000" i="1">
                                      <a:latin typeface="Cambria Math" panose="02040503050406030204" pitchFamily="18" charset="0"/>
                                      <a:ea typeface="Cambria Math" panose="02040503050406030204" pitchFamily="18" charset="0"/>
                                    </a:rPr>
                                    <m:t>𝜕</m:t>
                                  </m:r>
                                  <m:r>
                                    <a:rPr lang="en-US" altLang="zh-CN" sz="2000" b="0" i="1" smtClean="0">
                                      <a:latin typeface="Cambria Math" panose="02040503050406030204" pitchFamily="18" charset="0"/>
                                      <a:ea typeface="Cambria Math" panose="02040503050406030204" pitchFamily="18" charset="0"/>
                                    </a:rPr>
                                    <m:t>𝑡</m:t>
                                  </m:r>
                                </m:den>
                              </m:f>
                              <m:r>
                                <a:rPr lang="en-US" altLang="zh-CN" sz="2000" b="0" i="1" smtClean="0">
                                  <a:latin typeface="Cambria Math" panose="02040503050406030204" pitchFamily="18" charset="0"/>
                                  <a:ea typeface="Cambria Math" panose="02040503050406030204" pitchFamily="18" charset="0"/>
                                </a:rPr>
                                <m:t>=0, </m:t>
                              </m:r>
                              <m:r>
                                <a:rPr lang="en-US" altLang="zh-CN" sz="2000" b="0" i="1" smtClean="0">
                                  <a:latin typeface="Cambria Math" panose="02040503050406030204" pitchFamily="18" charset="0"/>
                                  <a:ea typeface="Cambria Math" panose="02040503050406030204" pitchFamily="18" charset="0"/>
                                </a:rPr>
                                <m:t>𝑥</m:t>
                              </m:r>
                              <m:r>
                                <a:rPr lang="en-US" altLang="zh-CN" sz="2000" b="0" i="1" smtClean="0">
                                  <a:latin typeface="Cambria Math" panose="02040503050406030204" pitchFamily="18" charset="0"/>
                                  <a:ea typeface="Cambria Math" panose="02040503050406030204" pitchFamily="18" charset="0"/>
                                </a:rPr>
                                <m:t>∈</m:t>
                              </m:r>
                              <m:r>
                                <a:rPr lang="en-US" altLang="zh-CN" sz="2000" b="0" i="1" smtClean="0">
                                  <a:latin typeface="Cambria Math" panose="02040503050406030204" pitchFamily="18" charset="0"/>
                                  <a:ea typeface="Cambria Math" panose="02040503050406030204" pitchFamily="18" charset="0"/>
                                </a:rPr>
                                <m:t>ℝ</m:t>
                              </m:r>
                              <m:r>
                                <a:rPr lang="en-US" altLang="zh-CN" sz="2000" b="0" i="1" smtClean="0">
                                  <a:latin typeface="Cambria Math" panose="02040503050406030204" pitchFamily="18" charset="0"/>
                                  <a:ea typeface="Cambria Math" panose="02040503050406030204" pitchFamily="18" charset="0"/>
                                </a:rPr>
                                <m:t>,</m:t>
                              </m:r>
                              <m:r>
                                <a:rPr lang="en-US" altLang="zh-CN" sz="2000" b="0" i="1" smtClean="0">
                                  <a:latin typeface="Cambria Math" panose="02040503050406030204" pitchFamily="18" charset="0"/>
                                  <a:ea typeface="Cambria Math" panose="02040503050406030204" pitchFamily="18" charset="0"/>
                                </a:rPr>
                                <m:t>𝑡</m:t>
                              </m:r>
                              <m:r>
                                <a:rPr lang="en-US" altLang="zh-CN" sz="2000" b="0" i="1" smtClean="0">
                                  <a:latin typeface="Cambria Math" panose="02040503050406030204" pitchFamily="18" charset="0"/>
                                  <a:ea typeface="Cambria Math" panose="02040503050406030204" pitchFamily="18" charset="0"/>
                                </a:rPr>
                                <m:t>&gt;0</m:t>
                              </m:r>
                            </m:e>
                            <m:e>
                              <m:r>
                                <a:rPr lang="en-US" altLang="zh-CN" sz="2000" b="0" i="1" smtClean="0">
                                  <a:latin typeface="Cambria Math" panose="02040503050406030204" pitchFamily="18" charset="0"/>
                                  <a:ea typeface="Cambria Math" panose="02040503050406030204" pitchFamily="18" charset="0"/>
                                </a:rPr>
                                <m:t>𝑢</m:t>
                              </m:r>
                              <m:d>
                                <m:dPr>
                                  <m:ctrlPr>
                                    <a:rPr lang="en-US" altLang="zh-CN" sz="2000" b="0" i="1" smtClean="0">
                                      <a:latin typeface="Cambria Math" panose="02040503050406030204" pitchFamily="18" charset="0"/>
                                      <a:ea typeface="Cambria Math" panose="02040503050406030204" pitchFamily="18" charset="0"/>
                                    </a:rPr>
                                  </m:ctrlPr>
                                </m:dPr>
                                <m:e>
                                  <m:r>
                                    <a:rPr lang="en-US" altLang="zh-CN" sz="2000" b="0" i="1" smtClean="0">
                                      <a:latin typeface="Cambria Math" panose="02040503050406030204" pitchFamily="18" charset="0"/>
                                      <a:ea typeface="Cambria Math" panose="02040503050406030204" pitchFamily="18" charset="0"/>
                                    </a:rPr>
                                    <m:t>𝑥</m:t>
                                  </m:r>
                                  <m:r>
                                    <a:rPr lang="en-US" altLang="zh-CN" sz="2000" b="0" i="1" smtClean="0">
                                      <a:latin typeface="Cambria Math" panose="02040503050406030204" pitchFamily="18" charset="0"/>
                                      <a:ea typeface="Cambria Math" panose="02040503050406030204" pitchFamily="18" charset="0"/>
                                    </a:rPr>
                                    <m:t>,0</m:t>
                                  </m:r>
                                </m:e>
                              </m:d>
                              <m:r>
                                <a:rPr lang="en-US" altLang="zh-CN" sz="2000" b="0" i="1" smtClean="0">
                                  <a:latin typeface="Cambria Math" panose="02040503050406030204" pitchFamily="18" charset="0"/>
                                  <a:ea typeface="Cambria Math" panose="02040503050406030204" pitchFamily="18" charset="0"/>
                                </a:rPr>
                                <m:t>=</m:t>
                              </m:r>
                              <m:func>
                                <m:funcPr>
                                  <m:ctrlPr>
                                    <a:rPr lang="en-US" altLang="zh-CN" sz="2000" b="0" i="1" smtClean="0">
                                      <a:latin typeface="Cambria Math" panose="02040503050406030204" pitchFamily="18" charset="0"/>
                                      <a:ea typeface="Cambria Math" panose="02040503050406030204" pitchFamily="18" charset="0"/>
                                    </a:rPr>
                                  </m:ctrlPr>
                                </m:funcPr>
                                <m:fName>
                                  <m:r>
                                    <m:rPr>
                                      <m:sty m:val="p"/>
                                    </m:rPr>
                                    <a:rPr lang="en-US" altLang="zh-CN" sz="2000" b="0" i="0" smtClean="0">
                                      <a:latin typeface="Cambria Math" panose="02040503050406030204" pitchFamily="18" charset="0"/>
                                      <a:ea typeface="Cambria Math" panose="02040503050406030204" pitchFamily="18" charset="0"/>
                                    </a:rPr>
                                    <m:t>sin</m:t>
                                  </m:r>
                                </m:fName>
                                <m:e>
                                  <m:r>
                                    <a:rPr lang="en-US" altLang="zh-CN" sz="2000" b="0" i="1" smtClean="0">
                                      <a:latin typeface="Cambria Math" panose="02040503050406030204" pitchFamily="18" charset="0"/>
                                      <a:ea typeface="Cambria Math" panose="02040503050406030204" pitchFamily="18" charset="0"/>
                                    </a:rPr>
                                    <m:t>3</m:t>
                                  </m:r>
                                  <m:r>
                                    <a:rPr lang="en-US" altLang="zh-CN" sz="2000" b="0" i="1" smtClean="0">
                                      <a:latin typeface="Cambria Math" panose="02040503050406030204" pitchFamily="18" charset="0"/>
                                      <a:ea typeface="Cambria Math" panose="02040503050406030204" pitchFamily="18" charset="0"/>
                                    </a:rPr>
                                    <m:t>𝑥</m:t>
                                  </m:r>
                                </m:e>
                              </m:func>
                            </m:e>
                          </m:eqArr>
                        </m:e>
                      </m:d>
                    </m:oMath>
                  </m:oMathPara>
                </a14:m>
                <a:endParaRPr lang="en-US" altLang="zh-CN" sz="2000" i="1" dirty="0">
                  <a:ea typeface="Cambria Math" panose="02040503050406030204" pitchFamily="18" charset="0"/>
                </a:endParaRPr>
              </a:p>
            </p:txBody>
          </p:sp>
        </mc:Choice>
        <mc:Fallback xmlns="">
          <p:sp>
            <p:nvSpPr>
              <p:cNvPr id="2" name="Rectangle 1">
                <a:extLst>
                  <a:ext uri="{FF2B5EF4-FFF2-40B4-BE49-F238E27FC236}">
                    <a16:creationId xmlns:a16="http://schemas.microsoft.com/office/drawing/2014/main" id="{74DFEF03-11E9-C24E-A750-54C57B15515A}"/>
                  </a:ext>
                </a:extLst>
              </p:cNvPr>
              <p:cNvSpPr>
                <a:spLocks noRot="1" noChangeAspect="1" noMove="1" noResize="1" noEditPoints="1" noAdjustHandles="1" noChangeArrowheads="1" noChangeShapeType="1" noTextEdit="1"/>
              </p:cNvSpPr>
              <p:nvPr/>
            </p:nvSpPr>
            <p:spPr>
              <a:xfrm>
                <a:off x="292245" y="1523941"/>
                <a:ext cx="3847202" cy="1539780"/>
              </a:xfrm>
              <a:prstGeom prst="rect">
                <a:avLst/>
              </a:prstGeom>
              <a:blipFill>
                <a:blip r:embed="rId3"/>
                <a:stretch>
                  <a:fillRect l="-53947" t="-152066" r="-658" b="-244628"/>
                </a:stretch>
              </a:blipFill>
            </p:spPr>
            <p:txBody>
              <a:bodyPr/>
              <a:lstStyle/>
              <a:p>
                <a:r>
                  <a:rPr lang="en-US">
                    <a:noFill/>
                  </a:rPr>
                  <a:t> </a:t>
                </a:r>
              </a:p>
            </p:txBody>
          </p:sp>
        </mc:Fallback>
      </mc:AlternateContent>
      <p:sp>
        <p:nvSpPr>
          <p:cNvPr id="10" name="Footer Placeholder 6">
            <a:extLst>
              <a:ext uri="{FF2B5EF4-FFF2-40B4-BE49-F238E27FC236}">
                <a16:creationId xmlns:a16="http://schemas.microsoft.com/office/drawing/2014/main" id="{A70489C8-E060-7149-B6D3-1FD304A0777F}"/>
              </a:ext>
            </a:extLst>
          </p:cNvPr>
          <p:cNvSpPr>
            <a:spLocks noGrp="1"/>
          </p:cNvSpPr>
          <p:nvPr>
            <p:ph type="ftr" sz="quarter" idx="11"/>
          </p:nvPr>
        </p:nvSpPr>
        <p:spPr>
          <a:xfrm>
            <a:off x="4038600" y="6356350"/>
            <a:ext cx="4114800" cy="365125"/>
          </a:xfrm>
        </p:spPr>
        <p:txBody>
          <a:bodyPr/>
          <a:lstStyle/>
          <a:p>
            <a:r>
              <a:rPr lang="en-US" dirty="0"/>
              <a:t>2019 Deep Learning Final Presentation</a:t>
            </a:r>
          </a:p>
        </p:txBody>
      </p:sp>
      <mc:AlternateContent xmlns:mc="http://schemas.openxmlformats.org/markup-compatibility/2006" xmlns:a14="http://schemas.microsoft.com/office/drawing/2010/main">
        <mc:Choice Requires="a14">
          <p:sp>
            <p:nvSpPr>
              <p:cNvPr id="81" name="Rectangle 80">
                <a:extLst>
                  <a:ext uri="{FF2B5EF4-FFF2-40B4-BE49-F238E27FC236}">
                    <a16:creationId xmlns:a16="http://schemas.microsoft.com/office/drawing/2014/main" id="{52A7DFEF-6EAE-0D48-B54A-B61F5398912B}"/>
                  </a:ext>
                </a:extLst>
              </p:cNvPr>
              <p:cNvSpPr/>
              <p:nvPr/>
            </p:nvSpPr>
            <p:spPr>
              <a:xfrm>
                <a:off x="336724" y="4585670"/>
                <a:ext cx="4291213" cy="1323439"/>
              </a:xfrm>
              <a:prstGeom prst="rect">
                <a:avLst/>
              </a:prstGeom>
            </p:spPr>
            <p:txBody>
              <a:bodyPr wrap="square">
                <a:spAutoFit/>
              </a:bodyPr>
              <a:lstStyle/>
              <a:p>
                <a:pPr marL="342900" indent="-342900">
                  <a:buFont typeface="Arial" panose="020B0604020202020204" pitchFamily="34" charset="0"/>
                  <a:buChar char="•"/>
                </a:pPr>
                <a:r>
                  <a:rPr lang="en-US" altLang="zh-CN" sz="2000" dirty="0"/>
                  <a:t>Use one </a:t>
                </a:r>
                <a:r>
                  <a:rPr lang="en-US" altLang="zh-CN" sz="2000" b="1" u="sng" dirty="0"/>
                  <a:t>neural network</a:t>
                </a:r>
                <a:r>
                  <a:rPr lang="en-US" altLang="zh-CN" sz="2000" dirty="0"/>
                  <a:t> to approximate the solution </a:t>
                </a:r>
                <a14:m>
                  <m:oMath xmlns:m="http://schemas.openxmlformats.org/officeDocument/2006/math">
                    <m:r>
                      <a:rPr lang="en-US" altLang="zh-CN" sz="2000" i="1">
                        <a:latin typeface="Cambria Math" panose="02040503050406030204" pitchFamily="18" charset="0"/>
                        <a:ea typeface="Cambria Math" panose="02040503050406030204" pitchFamily="18" charset="0"/>
                      </a:rPr>
                      <m:t>𝑢</m:t>
                    </m:r>
                    <m:d>
                      <m:dPr>
                        <m:ctrlPr>
                          <a:rPr lang="en-US" altLang="zh-CN" sz="2000" i="1">
                            <a:latin typeface="Cambria Math" panose="02040503050406030204" pitchFamily="18" charset="0"/>
                            <a:ea typeface="Cambria Math" panose="02040503050406030204" pitchFamily="18" charset="0"/>
                          </a:rPr>
                        </m:ctrlPr>
                      </m:dPr>
                      <m:e>
                        <m:r>
                          <a:rPr lang="en-US" altLang="zh-CN" sz="2000" i="1">
                            <a:latin typeface="Cambria Math" panose="02040503050406030204" pitchFamily="18" charset="0"/>
                            <a:ea typeface="Cambria Math" panose="02040503050406030204" pitchFamily="18" charset="0"/>
                          </a:rPr>
                          <m:t>𝑥</m:t>
                        </m:r>
                        <m:r>
                          <a:rPr lang="en-US" altLang="zh-CN" sz="2000" i="1">
                            <a:latin typeface="Cambria Math" panose="02040503050406030204" pitchFamily="18" charset="0"/>
                            <a:ea typeface="Cambria Math" panose="02040503050406030204" pitchFamily="18" charset="0"/>
                          </a:rPr>
                          <m:t>,</m:t>
                        </m:r>
                        <m:r>
                          <a:rPr lang="en-US" altLang="zh-CN" sz="2000" i="1">
                            <a:latin typeface="Cambria Math" panose="02040503050406030204" pitchFamily="18" charset="0"/>
                            <a:ea typeface="Cambria Math" panose="02040503050406030204" pitchFamily="18" charset="0"/>
                          </a:rPr>
                          <m:t>𝑡</m:t>
                        </m:r>
                      </m:e>
                    </m:d>
                  </m:oMath>
                </a14:m>
                <a:endParaRPr lang="en-US" altLang="zh-CN" sz="2000" dirty="0">
                  <a:ea typeface="Cambria Math" panose="02040503050406030204" pitchFamily="18" charset="0"/>
                </a:endParaRPr>
              </a:p>
              <a:p>
                <a:pPr marL="342900" indent="-342900">
                  <a:buFont typeface="Arial" panose="020B0604020202020204" pitchFamily="34" charset="0"/>
                  <a:buChar char="•"/>
                </a:pPr>
                <a:r>
                  <a:rPr lang="en-US" altLang="zh-CN" sz="2000" dirty="0">
                    <a:solidFill>
                      <a:srgbClr val="FF0000"/>
                    </a:solidFill>
                  </a:rPr>
                  <a:t>Use another </a:t>
                </a:r>
                <a:r>
                  <a:rPr lang="en-US" altLang="zh-CN" sz="2000" b="1" u="sng" dirty="0">
                    <a:solidFill>
                      <a:srgbClr val="FF0000"/>
                    </a:solidFill>
                  </a:rPr>
                  <a:t>neural network</a:t>
                </a:r>
                <a:r>
                  <a:rPr lang="en-US" altLang="zh-CN" sz="2000" dirty="0">
                    <a:solidFill>
                      <a:srgbClr val="FF0000"/>
                    </a:solidFill>
                  </a:rPr>
                  <a:t> to approximate the parameter </a:t>
                </a:r>
                <a14:m>
                  <m:oMath xmlns:m="http://schemas.openxmlformats.org/officeDocument/2006/math">
                    <m:r>
                      <a:rPr lang="en-US" altLang="zh-CN" sz="2000" b="0" i="1" smtClean="0">
                        <a:solidFill>
                          <a:srgbClr val="FF0000"/>
                        </a:solidFill>
                        <a:latin typeface="Cambria Math" panose="02040503050406030204" pitchFamily="18" charset="0"/>
                        <a:ea typeface="Cambria Math" panose="02040503050406030204" pitchFamily="18" charset="0"/>
                      </a:rPr>
                      <m:t>𝜆</m:t>
                    </m:r>
                    <m:d>
                      <m:dPr>
                        <m:ctrlPr>
                          <a:rPr lang="en-US" altLang="zh-CN" sz="2000" i="1">
                            <a:solidFill>
                              <a:srgbClr val="FF0000"/>
                            </a:solidFill>
                            <a:latin typeface="Cambria Math" panose="02040503050406030204" pitchFamily="18" charset="0"/>
                            <a:ea typeface="Cambria Math" panose="02040503050406030204" pitchFamily="18" charset="0"/>
                          </a:rPr>
                        </m:ctrlPr>
                      </m:dPr>
                      <m:e>
                        <m:r>
                          <a:rPr lang="en-US" altLang="zh-CN" sz="2000" i="1">
                            <a:solidFill>
                              <a:srgbClr val="FF0000"/>
                            </a:solidFill>
                            <a:latin typeface="Cambria Math" panose="02040503050406030204" pitchFamily="18" charset="0"/>
                            <a:ea typeface="Cambria Math" panose="02040503050406030204" pitchFamily="18" charset="0"/>
                          </a:rPr>
                          <m:t>𝑥</m:t>
                        </m:r>
                        <m:r>
                          <a:rPr lang="en-US" altLang="zh-CN" sz="2000" i="1">
                            <a:solidFill>
                              <a:srgbClr val="FF0000"/>
                            </a:solidFill>
                            <a:latin typeface="Cambria Math" panose="02040503050406030204" pitchFamily="18" charset="0"/>
                            <a:ea typeface="Cambria Math" panose="02040503050406030204" pitchFamily="18" charset="0"/>
                          </a:rPr>
                          <m:t>,</m:t>
                        </m:r>
                        <m:r>
                          <a:rPr lang="en-US" altLang="zh-CN" sz="2000" i="1">
                            <a:solidFill>
                              <a:srgbClr val="FF0000"/>
                            </a:solidFill>
                            <a:latin typeface="Cambria Math" panose="02040503050406030204" pitchFamily="18" charset="0"/>
                            <a:ea typeface="Cambria Math" panose="02040503050406030204" pitchFamily="18" charset="0"/>
                          </a:rPr>
                          <m:t>𝑡</m:t>
                        </m:r>
                      </m:e>
                    </m:d>
                  </m:oMath>
                </a14:m>
                <a:endParaRPr lang="en-US" altLang="zh-CN" sz="2000" dirty="0">
                  <a:ea typeface="Cambria Math" panose="02040503050406030204" pitchFamily="18" charset="0"/>
                </a:endParaRPr>
              </a:p>
            </p:txBody>
          </p:sp>
        </mc:Choice>
        <mc:Fallback xmlns="">
          <p:sp>
            <p:nvSpPr>
              <p:cNvPr id="81" name="Rectangle 80">
                <a:extLst>
                  <a:ext uri="{FF2B5EF4-FFF2-40B4-BE49-F238E27FC236}">
                    <a16:creationId xmlns:a16="http://schemas.microsoft.com/office/drawing/2014/main" id="{52A7DFEF-6EAE-0D48-B54A-B61F5398912B}"/>
                  </a:ext>
                </a:extLst>
              </p:cNvPr>
              <p:cNvSpPr>
                <a:spLocks noRot="1" noChangeAspect="1" noMove="1" noResize="1" noEditPoints="1" noAdjustHandles="1" noChangeArrowheads="1" noChangeShapeType="1" noTextEdit="1"/>
              </p:cNvSpPr>
              <p:nvPr/>
            </p:nvSpPr>
            <p:spPr>
              <a:xfrm>
                <a:off x="336724" y="4585670"/>
                <a:ext cx="4291213" cy="1323439"/>
              </a:xfrm>
              <a:prstGeom prst="rect">
                <a:avLst/>
              </a:prstGeom>
              <a:blipFill>
                <a:blip r:embed="rId4"/>
                <a:stretch>
                  <a:fillRect l="-1183" t="-1905" b="-6667"/>
                </a:stretch>
              </a:blipFill>
            </p:spPr>
            <p:txBody>
              <a:bodyPr/>
              <a:lstStyle/>
              <a:p>
                <a:r>
                  <a:rPr lang="en-US">
                    <a:noFill/>
                  </a:rPr>
                  <a:t> </a:t>
                </a:r>
              </a:p>
            </p:txBody>
          </p:sp>
        </mc:Fallback>
      </mc:AlternateContent>
      <p:sp>
        <p:nvSpPr>
          <p:cNvPr id="89" name="Rectangle 88">
            <a:extLst>
              <a:ext uri="{FF2B5EF4-FFF2-40B4-BE49-F238E27FC236}">
                <a16:creationId xmlns:a16="http://schemas.microsoft.com/office/drawing/2014/main" id="{6EFEFCF2-5D0A-EC43-B6B9-EA934606AFC1}"/>
              </a:ext>
            </a:extLst>
          </p:cNvPr>
          <p:cNvSpPr/>
          <p:nvPr/>
        </p:nvSpPr>
        <p:spPr>
          <a:xfrm>
            <a:off x="172195" y="773727"/>
            <a:ext cx="3061736" cy="400110"/>
          </a:xfrm>
          <a:prstGeom prst="rect">
            <a:avLst/>
          </a:prstGeom>
        </p:spPr>
        <p:txBody>
          <a:bodyPr wrap="none">
            <a:spAutoFit/>
          </a:bodyPr>
          <a:lstStyle/>
          <a:p>
            <a:r>
              <a:rPr lang="en-US" sz="2000" b="1" dirty="0"/>
              <a:t>Inverse Problem (Complex)</a:t>
            </a:r>
          </a:p>
        </p:txBody>
      </p:sp>
      <mc:AlternateContent xmlns:mc="http://schemas.openxmlformats.org/markup-compatibility/2006" xmlns:a14="http://schemas.microsoft.com/office/drawing/2010/main">
        <mc:Choice Requires="a14">
          <p:sp>
            <p:nvSpPr>
              <p:cNvPr id="84" name="Rectangle 83">
                <a:extLst>
                  <a:ext uri="{FF2B5EF4-FFF2-40B4-BE49-F238E27FC236}">
                    <a16:creationId xmlns:a16="http://schemas.microsoft.com/office/drawing/2014/main" id="{FCB2D8F3-7D98-4C47-8519-CD883AFF5F49}"/>
                  </a:ext>
                </a:extLst>
              </p:cNvPr>
              <p:cNvSpPr/>
              <p:nvPr/>
            </p:nvSpPr>
            <p:spPr>
              <a:xfrm>
                <a:off x="319166" y="3409933"/>
                <a:ext cx="4027835" cy="768800"/>
              </a:xfrm>
              <a:prstGeom prst="rect">
                <a:avLst/>
              </a:prstGeom>
            </p:spPr>
            <p:txBody>
              <a:bodyPr wrap="square">
                <a:spAutoFit/>
              </a:bodyPr>
              <a:lstStyle/>
              <a:p>
                <a:r>
                  <a:rPr lang="en-US" altLang="zh-CN" sz="2000" dirty="0"/>
                  <a:t>Given </a:t>
                </a:r>
                <a:r>
                  <a:rPr lang="en-US" altLang="zh-CN" sz="2000" b="1" dirty="0">
                    <a:solidFill>
                      <a:srgbClr val="FF0000"/>
                    </a:solidFill>
                  </a:rPr>
                  <a:t>discrete observations </a:t>
                </a:r>
                <a:r>
                  <a:rPr lang="en-US" altLang="zh-CN" sz="2000" dirty="0"/>
                  <a:t>of </a:t>
                </a:r>
                <a14:m>
                  <m:oMath xmlns:m="http://schemas.openxmlformats.org/officeDocument/2006/math">
                    <m:r>
                      <a:rPr lang="en-US" altLang="zh-CN" sz="2000" i="1">
                        <a:latin typeface="Cambria Math" panose="02040503050406030204" pitchFamily="18" charset="0"/>
                        <a:ea typeface="Cambria Math" panose="02040503050406030204" pitchFamily="18" charset="0"/>
                      </a:rPr>
                      <m:t>𝑢</m:t>
                    </m:r>
                  </m:oMath>
                </a14:m>
                <a:r>
                  <a:rPr lang="en-US" altLang="zh-CN" sz="2000" dirty="0">
                    <a:ea typeface="Cambria Math" panose="02040503050406030204" pitchFamily="18" charset="0"/>
                  </a:rPr>
                  <a:t>:</a:t>
                </a:r>
              </a:p>
              <a:p>
                <a:pPr/>
                <a14:m>
                  <m:oMathPara xmlns:m="http://schemas.openxmlformats.org/officeDocument/2006/math">
                    <m:oMathParaPr>
                      <m:jc m:val="centerGroup"/>
                    </m:oMathParaPr>
                    <m:oMath xmlns:m="http://schemas.openxmlformats.org/officeDocument/2006/math">
                      <m:r>
                        <a:rPr lang="en-US" altLang="zh-CN" sz="2000" b="0" i="1" smtClean="0">
                          <a:latin typeface="Cambria Math" panose="02040503050406030204" pitchFamily="18" charset="0"/>
                          <a:ea typeface="Cambria Math" panose="02040503050406030204" pitchFamily="18" charset="0"/>
                        </a:rPr>
                        <m:t>𝑢</m:t>
                      </m:r>
                      <m:d>
                        <m:dPr>
                          <m:ctrlPr>
                            <a:rPr lang="en-US" altLang="zh-CN" sz="2000" b="0" i="1" smtClean="0">
                              <a:latin typeface="Cambria Math" panose="02040503050406030204" pitchFamily="18" charset="0"/>
                              <a:ea typeface="Cambria Math" panose="02040503050406030204" pitchFamily="18" charset="0"/>
                            </a:rPr>
                          </m:ctrlPr>
                        </m:dPr>
                        <m:e>
                          <m:sSup>
                            <m:sSupPr>
                              <m:ctrlPr>
                                <a:rPr lang="en-US" altLang="zh-CN" sz="2000" b="0" i="1" smtClean="0">
                                  <a:latin typeface="Cambria Math" panose="02040503050406030204" pitchFamily="18" charset="0"/>
                                  <a:ea typeface="Cambria Math" panose="02040503050406030204" pitchFamily="18" charset="0"/>
                                </a:rPr>
                              </m:ctrlPr>
                            </m:sSupPr>
                            <m:e>
                              <m:r>
                                <a:rPr lang="en-US" altLang="zh-CN" sz="2000" b="0" i="1" smtClean="0">
                                  <a:latin typeface="Cambria Math" panose="02040503050406030204" pitchFamily="18" charset="0"/>
                                  <a:ea typeface="Cambria Math" panose="02040503050406030204" pitchFamily="18" charset="0"/>
                                </a:rPr>
                                <m:t>𝑥</m:t>
                              </m:r>
                            </m:e>
                            <m:sup>
                              <m:d>
                                <m:dPr>
                                  <m:ctrlPr>
                                    <a:rPr lang="en-US" altLang="zh-CN" sz="2000" b="0" i="1" smtClean="0">
                                      <a:latin typeface="Cambria Math" panose="02040503050406030204" pitchFamily="18" charset="0"/>
                                      <a:ea typeface="Cambria Math" panose="02040503050406030204" pitchFamily="18" charset="0"/>
                                    </a:rPr>
                                  </m:ctrlPr>
                                </m:dPr>
                                <m:e>
                                  <m:r>
                                    <a:rPr lang="en-US" altLang="zh-CN" sz="2000" i="1">
                                      <a:latin typeface="Cambria Math" panose="02040503050406030204" pitchFamily="18" charset="0"/>
                                      <a:ea typeface="Cambria Math" panose="02040503050406030204" pitchFamily="18" charset="0"/>
                                    </a:rPr>
                                    <m:t>𝑘</m:t>
                                  </m:r>
                                </m:e>
                              </m:d>
                            </m:sup>
                          </m:sSup>
                          <m:r>
                            <a:rPr lang="en-US" altLang="zh-CN" sz="2000" b="0" i="1" smtClean="0">
                              <a:latin typeface="Cambria Math" panose="02040503050406030204" pitchFamily="18" charset="0"/>
                              <a:ea typeface="Cambria Math" panose="02040503050406030204" pitchFamily="18" charset="0"/>
                            </a:rPr>
                            <m:t>,</m:t>
                          </m:r>
                          <m:sSup>
                            <m:sSupPr>
                              <m:ctrlPr>
                                <a:rPr lang="en-US" altLang="zh-CN" sz="2000" i="1">
                                  <a:latin typeface="Cambria Math" panose="02040503050406030204" pitchFamily="18" charset="0"/>
                                  <a:ea typeface="Cambria Math" panose="02040503050406030204" pitchFamily="18" charset="0"/>
                                </a:rPr>
                              </m:ctrlPr>
                            </m:sSupPr>
                            <m:e>
                              <m:r>
                                <a:rPr lang="en-US" altLang="zh-CN" sz="2000" b="0" i="1" smtClean="0">
                                  <a:latin typeface="Cambria Math" panose="02040503050406030204" pitchFamily="18" charset="0"/>
                                  <a:ea typeface="Cambria Math" panose="02040503050406030204" pitchFamily="18" charset="0"/>
                                </a:rPr>
                                <m:t>𝑡</m:t>
                              </m:r>
                            </m:e>
                            <m:sup>
                              <m:d>
                                <m:dPr>
                                  <m:ctrlPr>
                                    <a:rPr lang="en-US" altLang="zh-CN" sz="2000" i="1">
                                      <a:latin typeface="Cambria Math" panose="02040503050406030204" pitchFamily="18" charset="0"/>
                                      <a:ea typeface="Cambria Math" panose="02040503050406030204" pitchFamily="18" charset="0"/>
                                    </a:rPr>
                                  </m:ctrlPr>
                                </m:dPr>
                                <m:e>
                                  <m:r>
                                    <a:rPr lang="en-US" altLang="zh-CN" sz="2000" i="1">
                                      <a:latin typeface="Cambria Math" panose="02040503050406030204" pitchFamily="18" charset="0"/>
                                      <a:ea typeface="Cambria Math" panose="02040503050406030204" pitchFamily="18" charset="0"/>
                                    </a:rPr>
                                    <m:t>𝑘</m:t>
                                  </m:r>
                                </m:e>
                              </m:d>
                            </m:sup>
                          </m:sSup>
                        </m:e>
                      </m:d>
                      <m:r>
                        <a:rPr lang="en-US" altLang="zh-CN" sz="2000" b="0" i="1" smtClean="0">
                          <a:latin typeface="Cambria Math" panose="02040503050406030204" pitchFamily="18" charset="0"/>
                          <a:ea typeface="Cambria Math" panose="02040503050406030204" pitchFamily="18" charset="0"/>
                        </a:rPr>
                        <m:t>=</m:t>
                      </m:r>
                      <m:sSup>
                        <m:sSupPr>
                          <m:ctrlPr>
                            <a:rPr lang="en-US" altLang="zh-CN" sz="2000" b="0" i="1" smtClean="0">
                              <a:latin typeface="Cambria Math" panose="02040503050406030204" pitchFamily="18" charset="0"/>
                              <a:ea typeface="Cambria Math" panose="02040503050406030204" pitchFamily="18" charset="0"/>
                            </a:rPr>
                          </m:ctrlPr>
                        </m:sSupPr>
                        <m:e>
                          <m:acc>
                            <m:accPr>
                              <m:chr m:val="̃"/>
                              <m:ctrlPr>
                                <a:rPr lang="en-US" altLang="zh-CN" sz="2000" b="0" i="1" smtClean="0">
                                  <a:latin typeface="Cambria Math" panose="02040503050406030204" pitchFamily="18" charset="0"/>
                                  <a:ea typeface="Cambria Math" panose="02040503050406030204" pitchFamily="18" charset="0"/>
                                </a:rPr>
                              </m:ctrlPr>
                            </m:accPr>
                            <m:e>
                              <m:r>
                                <a:rPr lang="en-US" altLang="zh-CN" sz="2000" b="0" i="1" smtClean="0">
                                  <a:latin typeface="Cambria Math" panose="02040503050406030204" pitchFamily="18" charset="0"/>
                                  <a:ea typeface="Cambria Math" panose="02040503050406030204" pitchFamily="18" charset="0"/>
                                </a:rPr>
                                <m:t>𝑢</m:t>
                              </m:r>
                            </m:e>
                          </m:acc>
                        </m:e>
                        <m:sup>
                          <m:d>
                            <m:dPr>
                              <m:ctrlPr>
                                <a:rPr lang="en-US" altLang="zh-CN" sz="2000" b="0" i="1" smtClean="0">
                                  <a:latin typeface="Cambria Math" panose="02040503050406030204" pitchFamily="18" charset="0"/>
                                  <a:ea typeface="Cambria Math" panose="02040503050406030204" pitchFamily="18" charset="0"/>
                                </a:rPr>
                              </m:ctrlPr>
                            </m:dPr>
                            <m:e>
                              <m:r>
                                <a:rPr lang="en-US" altLang="zh-CN" sz="2000" i="1">
                                  <a:latin typeface="Cambria Math" panose="02040503050406030204" pitchFamily="18" charset="0"/>
                                  <a:ea typeface="Cambria Math" panose="02040503050406030204" pitchFamily="18" charset="0"/>
                                </a:rPr>
                                <m:t>𝑘</m:t>
                              </m:r>
                            </m:e>
                          </m:d>
                        </m:sup>
                      </m:sSup>
                    </m:oMath>
                  </m:oMathPara>
                </a14:m>
                <a:endParaRPr lang="en-US" altLang="zh-CN" sz="2000" dirty="0">
                  <a:ea typeface="Cambria Math" panose="02040503050406030204" pitchFamily="18" charset="0"/>
                </a:endParaRPr>
              </a:p>
            </p:txBody>
          </p:sp>
        </mc:Choice>
        <mc:Fallback xmlns="">
          <p:sp>
            <p:nvSpPr>
              <p:cNvPr id="84" name="Rectangle 83">
                <a:extLst>
                  <a:ext uri="{FF2B5EF4-FFF2-40B4-BE49-F238E27FC236}">
                    <a16:creationId xmlns:a16="http://schemas.microsoft.com/office/drawing/2014/main" id="{FCB2D8F3-7D98-4C47-8519-CD883AFF5F49}"/>
                  </a:ext>
                </a:extLst>
              </p:cNvPr>
              <p:cNvSpPr>
                <a:spLocks noRot="1" noChangeAspect="1" noMove="1" noResize="1" noEditPoints="1" noAdjustHandles="1" noChangeArrowheads="1" noChangeShapeType="1" noTextEdit="1"/>
              </p:cNvSpPr>
              <p:nvPr/>
            </p:nvSpPr>
            <p:spPr>
              <a:xfrm>
                <a:off x="319166" y="3409933"/>
                <a:ext cx="4027835" cy="768800"/>
              </a:xfrm>
              <a:prstGeom prst="rect">
                <a:avLst/>
              </a:prstGeom>
              <a:blipFill>
                <a:blip r:embed="rId5"/>
                <a:stretch>
                  <a:fillRect l="-1258" t="-322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8" name="Oval 77">
                <a:extLst>
                  <a:ext uri="{FF2B5EF4-FFF2-40B4-BE49-F238E27FC236}">
                    <a16:creationId xmlns:a16="http://schemas.microsoft.com/office/drawing/2014/main" id="{6F5E9DB7-6E3F-4F48-A22B-360C0B5D0BEC}"/>
                  </a:ext>
                </a:extLst>
              </p:cNvPr>
              <p:cNvSpPr/>
              <p:nvPr/>
            </p:nvSpPr>
            <p:spPr>
              <a:xfrm>
                <a:off x="4301311" y="3065541"/>
                <a:ext cx="365760" cy="36576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𝑥</m:t>
                      </m:r>
                    </m:oMath>
                  </m:oMathPara>
                </a14:m>
                <a:endParaRPr lang="en-US" dirty="0"/>
              </a:p>
            </p:txBody>
          </p:sp>
        </mc:Choice>
        <mc:Fallback xmlns="">
          <p:sp>
            <p:nvSpPr>
              <p:cNvPr id="78" name="Oval 77">
                <a:extLst>
                  <a:ext uri="{FF2B5EF4-FFF2-40B4-BE49-F238E27FC236}">
                    <a16:creationId xmlns:a16="http://schemas.microsoft.com/office/drawing/2014/main" id="{6F5E9DB7-6E3F-4F48-A22B-360C0B5D0BEC}"/>
                  </a:ext>
                </a:extLst>
              </p:cNvPr>
              <p:cNvSpPr>
                <a:spLocks noRot="1" noChangeAspect="1" noMove="1" noResize="1" noEditPoints="1" noAdjustHandles="1" noChangeArrowheads="1" noChangeShapeType="1" noTextEdit="1"/>
              </p:cNvSpPr>
              <p:nvPr/>
            </p:nvSpPr>
            <p:spPr>
              <a:xfrm>
                <a:off x="4301311" y="3065541"/>
                <a:ext cx="365760" cy="365760"/>
              </a:xfrm>
              <a:prstGeom prst="ellipse">
                <a:avLst/>
              </a:prstGeom>
              <a:blipFill>
                <a:blip r:embed="rId7"/>
                <a:stretch>
                  <a:fillRect/>
                </a:stretch>
              </a:blipFill>
            </p:spPr>
            <p:txBody>
              <a:bodyPr/>
              <a:lstStyle/>
              <a:p>
                <a:r>
                  <a:rPr lang="en-US">
                    <a:noFill/>
                  </a:rPr>
                  <a:t> </a:t>
                </a:r>
              </a:p>
            </p:txBody>
          </p:sp>
        </mc:Fallback>
      </mc:AlternateContent>
      <p:sp>
        <p:nvSpPr>
          <p:cNvPr id="79" name="Oval 78">
            <a:extLst>
              <a:ext uri="{FF2B5EF4-FFF2-40B4-BE49-F238E27FC236}">
                <a16:creationId xmlns:a16="http://schemas.microsoft.com/office/drawing/2014/main" id="{A573870D-0C98-7541-A71E-2AD7E63E3B40}"/>
              </a:ext>
            </a:extLst>
          </p:cNvPr>
          <p:cNvSpPr/>
          <p:nvPr/>
        </p:nvSpPr>
        <p:spPr>
          <a:xfrm>
            <a:off x="6375755" y="2994815"/>
            <a:ext cx="248575" cy="248575"/>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l-GR" dirty="0">
                <a:effectLst/>
              </a:rPr>
              <a:t>σ</a:t>
            </a:r>
            <a:endParaRPr lang="en-US" dirty="0"/>
          </a:p>
        </p:txBody>
      </p:sp>
      <p:sp>
        <p:nvSpPr>
          <p:cNvPr id="80" name="Oval 79">
            <a:extLst>
              <a:ext uri="{FF2B5EF4-FFF2-40B4-BE49-F238E27FC236}">
                <a16:creationId xmlns:a16="http://schemas.microsoft.com/office/drawing/2014/main" id="{B16238C3-6262-DE4B-A156-EBAB13A691CB}"/>
              </a:ext>
            </a:extLst>
          </p:cNvPr>
          <p:cNvSpPr/>
          <p:nvPr/>
        </p:nvSpPr>
        <p:spPr>
          <a:xfrm>
            <a:off x="6375755" y="3431301"/>
            <a:ext cx="248575" cy="248575"/>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l-GR" dirty="0">
                <a:effectLst/>
              </a:rPr>
              <a:t>σ</a:t>
            </a:r>
            <a:endParaRPr lang="en-US" dirty="0"/>
          </a:p>
        </p:txBody>
      </p:sp>
      <p:sp>
        <p:nvSpPr>
          <p:cNvPr id="152" name="Oval 151">
            <a:extLst>
              <a:ext uri="{FF2B5EF4-FFF2-40B4-BE49-F238E27FC236}">
                <a16:creationId xmlns:a16="http://schemas.microsoft.com/office/drawing/2014/main" id="{A7BFC3E8-5A42-284C-A861-29FD7F203A12}"/>
              </a:ext>
            </a:extLst>
          </p:cNvPr>
          <p:cNvSpPr/>
          <p:nvPr/>
        </p:nvSpPr>
        <p:spPr>
          <a:xfrm>
            <a:off x="6375755" y="3867787"/>
            <a:ext cx="248575" cy="248575"/>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l-GR" dirty="0">
                <a:effectLst/>
              </a:rPr>
              <a:t>σ</a:t>
            </a:r>
            <a:endParaRPr lang="en-US" dirty="0"/>
          </a:p>
        </p:txBody>
      </p:sp>
      <p:sp>
        <p:nvSpPr>
          <p:cNvPr id="153" name="Oval 152">
            <a:extLst>
              <a:ext uri="{FF2B5EF4-FFF2-40B4-BE49-F238E27FC236}">
                <a16:creationId xmlns:a16="http://schemas.microsoft.com/office/drawing/2014/main" id="{6C95CBAE-0663-3F4D-A10F-518BAE81044D}"/>
              </a:ext>
            </a:extLst>
          </p:cNvPr>
          <p:cNvSpPr/>
          <p:nvPr/>
        </p:nvSpPr>
        <p:spPr>
          <a:xfrm>
            <a:off x="6375755" y="4304272"/>
            <a:ext cx="248575" cy="248575"/>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l-GR" dirty="0">
                <a:effectLst/>
              </a:rPr>
              <a:t>σ</a:t>
            </a:r>
            <a:endParaRPr lang="en-US" dirty="0"/>
          </a:p>
        </p:txBody>
      </p:sp>
      <p:cxnSp>
        <p:nvCxnSpPr>
          <p:cNvPr id="154" name="Straight Arrow Connector 153">
            <a:extLst>
              <a:ext uri="{FF2B5EF4-FFF2-40B4-BE49-F238E27FC236}">
                <a16:creationId xmlns:a16="http://schemas.microsoft.com/office/drawing/2014/main" id="{5CC38047-6B5B-8942-A4FB-C0550BC7C6C3}"/>
              </a:ext>
            </a:extLst>
          </p:cNvPr>
          <p:cNvCxnSpPr>
            <a:cxnSpLocks/>
            <a:stCxn id="78" idx="6"/>
            <a:endCxn id="79" idx="2"/>
          </p:cNvCxnSpPr>
          <p:nvPr/>
        </p:nvCxnSpPr>
        <p:spPr>
          <a:xfrm flipV="1">
            <a:off x="4667071" y="3119103"/>
            <a:ext cx="1708684" cy="12931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5" name="Straight Arrow Connector 154">
            <a:extLst>
              <a:ext uri="{FF2B5EF4-FFF2-40B4-BE49-F238E27FC236}">
                <a16:creationId xmlns:a16="http://schemas.microsoft.com/office/drawing/2014/main" id="{0CFF9949-DDEF-F34F-B542-55919784D284}"/>
              </a:ext>
            </a:extLst>
          </p:cNvPr>
          <p:cNvCxnSpPr>
            <a:cxnSpLocks/>
            <a:stCxn id="78" idx="6"/>
            <a:endCxn id="80" idx="2"/>
          </p:cNvCxnSpPr>
          <p:nvPr/>
        </p:nvCxnSpPr>
        <p:spPr>
          <a:xfrm>
            <a:off x="4667071" y="3248421"/>
            <a:ext cx="1708684" cy="30716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6" name="Straight Arrow Connector 155">
            <a:extLst>
              <a:ext uri="{FF2B5EF4-FFF2-40B4-BE49-F238E27FC236}">
                <a16:creationId xmlns:a16="http://schemas.microsoft.com/office/drawing/2014/main" id="{721A660A-E2DB-4F43-BBCD-B9455CE21F24}"/>
              </a:ext>
            </a:extLst>
          </p:cNvPr>
          <p:cNvCxnSpPr>
            <a:cxnSpLocks/>
            <a:stCxn id="78" idx="6"/>
            <a:endCxn id="152" idx="2"/>
          </p:cNvCxnSpPr>
          <p:nvPr/>
        </p:nvCxnSpPr>
        <p:spPr>
          <a:xfrm>
            <a:off x="4667071" y="3248421"/>
            <a:ext cx="1708684" cy="74365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7" name="Straight Arrow Connector 156">
            <a:extLst>
              <a:ext uri="{FF2B5EF4-FFF2-40B4-BE49-F238E27FC236}">
                <a16:creationId xmlns:a16="http://schemas.microsoft.com/office/drawing/2014/main" id="{786A23EE-06C4-A943-9E35-3956A6208D73}"/>
              </a:ext>
            </a:extLst>
          </p:cNvPr>
          <p:cNvCxnSpPr>
            <a:cxnSpLocks/>
            <a:stCxn id="78" idx="6"/>
            <a:endCxn id="153" idx="2"/>
          </p:cNvCxnSpPr>
          <p:nvPr/>
        </p:nvCxnSpPr>
        <p:spPr>
          <a:xfrm>
            <a:off x="4667071" y="3248421"/>
            <a:ext cx="1708684" cy="118013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58" name="Oval 157">
            <a:extLst>
              <a:ext uri="{FF2B5EF4-FFF2-40B4-BE49-F238E27FC236}">
                <a16:creationId xmlns:a16="http://schemas.microsoft.com/office/drawing/2014/main" id="{0990AEE7-5A40-7740-8369-554E5697BBD7}"/>
              </a:ext>
            </a:extLst>
          </p:cNvPr>
          <p:cNvSpPr/>
          <p:nvPr/>
        </p:nvSpPr>
        <p:spPr>
          <a:xfrm>
            <a:off x="7060813" y="2994815"/>
            <a:ext cx="248575" cy="248575"/>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l-GR" dirty="0">
                <a:effectLst/>
              </a:rPr>
              <a:t>σ</a:t>
            </a:r>
            <a:endParaRPr lang="en-US" dirty="0"/>
          </a:p>
        </p:txBody>
      </p:sp>
      <p:sp>
        <p:nvSpPr>
          <p:cNvPr id="159" name="Oval 158">
            <a:extLst>
              <a:ext uri="{FF2B5EF4-FFF2-40B4-BE49-F238E27FC236}">
                <a16:creationId xmlns:a16="http://schemas.microsoft.com/office/drawing/2014/main" id="{7E73C759-2769-EB41-A87D-38B4A25A3A5C}"/>
              </a:ext>
            </a:extLst>
          </p:cNvPr>
          <p:cNvSpPr/>
          <p:nvPr/>
        </p:nvSpPr>
        <p:spPr>
          <a:xfrm>
            <a:off x="7060813" y="3431301"/>
            <a:ext cx="248575" cy="248575"/>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l-GR" dirty="0">
                <a:effectLst/>
              </a:rPr>
              <a:t>σ</a:t>
            </a:r>
            <a:endParaRPr lang="en-US" dirty="0"/>
          </a:p>
        </p:txBody>
      </p:sp>
      <p:sp>
        <p:nvSpPr>
          <p:cNvPr id="160" name="Oval 159">
            <a:extLst>
              <a:ext uri="{FF2B5EF4-FFF2-40B4-BE49-F238E27FC236}">
                <a16:creationId xmlns:a16="http://schemas.microsoft.com/office/drawing/2014/main" id="{34822188-DEEB-2C4B-A278-E845ED2CA1A3}"/>
              </a:ext>
            </a:extLst>
          </p:cNvPr>
          <p:cNvSpPr/>
          <p:nvPr/>
        </p:nvSpPr>
        <p:spPr>
          <a:xfrm>
            <a:off x="7060813" y="3867787"/>
            <a:ext cx="248575" cy="248575"/>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l-GR" dirty="0">
                <a:effectLst/>
              </a:rPr>
              <a:t>σ</a:t>
            </a:r>
            <a:endParaRPr lang="en-US" dirty="0"/>
          </a:p>
        </p:txBody>
      </p:sp>
      <p:sp>
        <p:nvSpPr>
          <p:cNvPr id="161" name="Oval 160">
            <a:extLst>
              <a:ext uri="{FF2B5EF4-FFF2-40B4-BE49-F238E27FC236}">
                <a16:creationId xmlns:a16="http://schemas.microsoft.com/office/drawing/2014/main" id="{C46B2605-5FAB-964D-A7FD-0CBC982464FD}"/>
              </a:ext>
            </a:extLst>
          </p:cNvPr>
          <p:cNvSpPr/>
          <p:nvPr/>
        </p:nvSpPr>
        <p:spPr>
          <a:xfrm>
            <a:off x="7060813" y="4304272"/>
            <a:ext cx="248575" cy="248575"/>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l-GR" dirty="0">
                <a:effectLst/>
              </a:rPr>
              <a:t>σ</a:t>
            </a:r>
            <a:endParaRPr lang="en-US" dirty="0"/>
          </a:p>
        </p:txBody>
      </p:sp>
      <p:cxnSp>
        <p:nvCxnSpPr>
          <p:cNvPr id="162" name="Straight Arrow Connector 161">
            <a:extLst>
              <a:ext uri="{FF2B5EF4-FFF2-40B4-BE49-F238E27FC236}">
                <a16:creationId xmlns:a16="http://schemas.microsoft.com/office/drawing/2014/main" id="{70EA708A-BD20-2D42-8EDD-5FF1191374A6}"/>
              </a:ext>
            </a:extLst>
          </p:cNvPr>
          <p:cNvCxnSpPr>
            <a:stCxn id="79" idx="6"/>
            <a:endCxn id="161" idx="2"/>
          </p:cNvCxnSpPr>
          <p:nvPr/>
        </p:nvCxnSpPr>
        <p:spPr>
          <a:xfrm>
            <a:off x="6624330" y="3119103"/>
            <a:ext cx="436483" cy="130945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3" name="Straight Arrow Connector 162">
            <a:extLst>
              <a:ext uri="{FF2B5EF4-FFF2-40B4-BE49-F238E27FC236}">
                <a16:creationId xmlns:a16="http://schemas.microsoft.com/office/drawing/2014/main" id="{98FABD0E-265C-164D-BA19-CAA5B479C5B1}"/>
              </a:ext>
            </a:extLst>
          </p:cNvPr>
          <p:cNvCxnSpPr>
            <a:stCxn id="79" idx="6"/>
            <a:endCxn id="158" idx="2"/>
          </p:cNvCxnSpPr>
          <p:nvPr/>
        </p:nvCxnSpPr>
        <p:spPr>
          <a:xfrm>
            <a:off x="6624330" y="3119103"/>
            <a:ext cx="43648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4" name="Straight Arrow Connector 163">
            <a:extLst>
              <a:ext uri="{FF2B5EF4-FFF2-40B4-BE49-F238E27FC236}">
                <a16:creationId xmlns:a16="http://schemas.microsoft.com/office/drawing/2014/main" id="{C104D7D2-7A69-A04D-9EE2-D51EF6CC534D}"/>
              </a:ext>
            </a:extLst>
          </p:cNvPr>
          <p:cNvCxnSpPr>
            <a:stCxn id="79" idx="6"/>
            <a:endCxn id="159" idx="2"/>
          </p:cNvCxnSpPr>
          <p:nvPr/>
        </p:nvCxnSpPr>
        <p:spPr>
          <a:xfrm>
            <a:off x="6624330" y="3119103"/>
            <a:ext cx="436483" cy="43648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5" name="Straight Arrow Connector 164">
            <a:extLst>
              <a:ext uri="{FF2B5EF4-FFF2-40B4-BE49-F238E27FC236}">
                <a16:creationId xmlns:a16="http://schemas.microsoft.com/office/drawing/2014/main" id="{BB1CE38B-8534-1940-BA51-69B33ABE4D10}"/>
              </a:ext>
            </a:extLst>
          </p:cNvPr>
          <p:cNvCxnSpPr>
            <a:stCxn id="79" idx="6"/>
            <a:endCxn id="160" idx="2"/>
          </p:cNvCxnSpPr>
          <p:nvPr/>
        </p:nvCxnSpPr>
        <p:spPr>
          <a:xfrm>
            <a:off x="6624330" y="3119103"/>
            <a:ext cx="436483" cy="87297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6" name="Straight Arrow Connector 165">
            <a:extLst>
              <a:ext uri="{FF2B5EF4-FFF2-40B4-BE49-F238E27FC236}">
                <a16:creationId xmlns:a16="http://schemas.microsoft.com/office/drawing/2014/main" id="{A58E7EE1-EB56-654C-93BA-B19DF0F473D4}"/>
              </a:ext>
            </a:extLst>
          </p:cNvPr>
          <p:cNvCxnSpPr>
            <a:stCxn id="80" idx="6"/>
            <a:endCxn id="158" idx="2"/>
          </p:cNvCxnSpPr>
          <p:nvPr/>
        </p:nvCxnSpPr>
        <p:spPr>
          <a:xfrm flipV="1">
            <a:off x="6624330" y="3119103"/>
            <a:ext cx="436483" cy="43648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7" name="Straight Arrow Connector 166">
            <a:extLst>
              <a:ext uri="{FF2B5EF4-FFF2-40B4-BE49-F238E27FC236}">
                <a16:creationId xmlns:a16="http://schemas.microsoft.com/office/drawing/2014/main" id="{72C8E586-3718-8D4C-A7DC-1110E54E5EBE}"/>
              </a:ext>
            </a:extLst>
          </p:cNvPr>
          <p:cNvCxnSpPr>
            <a:stCxn id="80" idx="6"/>
            <a:endCxn id="159" idx="2"/>
          </p:cNvCxnSpPr>
          <p:nvPr/>
        </p:nvCxnSpPr>
        <p:spPr>
          <a:xfrm>
            <a:off x="6624330" y="3555589"/>
            <a:ext cx="43648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8" name="Straight Arrow Connector 167">
            <a:extLst>
              <a:ext uri="{FF2B5EF4-FFF2-40B4-BE49-F238E27FC236}">
                <a16:creationId xmlns:a16="http://schemas.microsoft.com/office/drawing/2014/main" id="{E31BE0D1-98B5-9345-AE8D-85A30BA182F2}"/>
              </a:ext>
            </a:extLst>
          </p:cNvPr>
          <p:cNvCxnSpPr>
            <a:cxnSpLocks/>
            <a:stCxn id="80" idx="6"/>
            <a:endCxn id="160" idx="2"/>
          </p:cNvCxnSpPr>
          <p:nvPr/>
        </p:nvCxnSpPr>
        <p:spPr>
          <a:xfrm>
            <a:off x="6624330" y="3555589"/>
            <a:ext cx="436483" cy="43648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9" name="Straight Arrow Connector 168">
            <a:extLst>
              <a:ext uri="{FF2B5EF4-FFF2-40B4-BE49-F238E27FC236}">
                <a16:creationId xmlns:a16="http://schemas.microsoft.com/office/drawing/2014/main" id="{981691C4-BAA1-8F41-A507-0663F4DD9585}"/>
              </a:ext>
            </a:extLst>
          </p:cNvPr>
          <p:cNvCxnSpPr>
            <a:stCxn id="80" idx="6"/>
            <a:endCxn id="161" idx="2"/>
          </p:cNvCxnSpPr>
          <p:nvPr/>
        </p:nvCxnSpPr>
        <p:spPr>
          <a:xfrm>
            <a:off x="6624330" y="3555589"/>
            <a:ext cx="436483" cy="87297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0" name="Straight Arrow Connector 169">
            <a:extLst>
              <a:ext uri="{FF2B5EF4-FFF2-40B4-BE49-F238E27FC236}">
                <a16:creationId xmlns:a16="http://schemas.microsoft.com/office/drawing/2014/main" id="{9A5742D6-B67D-0043-A692-8DC203E37EB2}"/>
              </a:ext>
            </a:extLst>
          </p:cNvPr>
          <p:cNvCxnSpPr>
            <a:stCxn id="152" idx="6"/>
            <a:endCxn id="158" idx="2"/>
          </p:cNvCxnSpPr>
          <p:nvPr/>
        </p:nvCxnSpPr>
        <p:spPr>
          <a:xfrm flipV="1">
            <a:off x="6624330" y="3119103"/>
            <a:ext cx="436483" cy="87297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1" name="Straight Arrow Connector 170">
            <a:extLst>
              <a:ext uri="{FF2B5EF4-FFF2-40B4-BE49-F238E27FC236}">
                <a16:creationId xmlns:a16="http://schemas.microsoft.com/office/drawing/2014/main" id="{B8714AC7-F4A4-A64B-B21F-5D6BC731FAD1}"/>
              </a:ext>
            </a:extLst>
          </p:cNvPr>
          <p:cNvCxnSpPr>
            <a:stCxn id="152" idx="6"/>
            <a:endCxn id="159" idx="2"/>
          </p:cNvCxnSpPr>
          <p:nvPr/>
        </p:nvCxnSpPr>
        <p:spPr>
          <a:xfrm flipV="1">
            <a:off x="6624330" y="3555589"/>
            <a:ext cx="436483" cy="43648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2" name="Straight Arrow Connector 171">
            <a:extLst>
              <a:ext uri="{FF2B5EF4-FFF2-40B4-BE49-F238E27FC236}">
                <a16:creationId xmlns:a16="http://schemas.microsoft.com/office/drawing/2014/main" id="{D21CFA70-082C-3A42-BF19-A6C282736E30}"/>
              </a:ext>
            </a:extLst>
          </p:cNvPr>
          <p:cNvCxnSpPr>
            <a:stCxn id="152" idx="6"/>
            <a:endCxn id="160" idx="2"/>
          </p:cNvCxnSpPr>
          <p:nvPr/>
        </p:nvCxnSpPr>
        <p:spPr>
          <a:xfrm>
            <a:off x="6624330" y="3992075"/>
            <a:ext cx="43648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3" name="Straight Arrow Connector 172">
            <a:extLst>
              <a:ext uri="{FF2B5EF4-FFF2-40B4-BE49-F238E27FC236}">
                <a16:creationId xmlns:a16="http://schemas.microsoft.com/office/drawing/2014/main" id="{AA1F2ED4-EA6D-A446-BB35-68CFD4CBCE2D}"/>
              </a:ext>
            </a:extLst>
          </p:cNvPr>
          <p:cNvCxnSpPr>
            <a:stCxn id="152" idx="6"/>
            <a:endCxn id="161" idx="2"/>
          </p:cNvCxnSpPr>
          <p:nvPr/>
        </p:nvCxnSpPr>
        <p:spPr>
          <a:xfrm>
            <a:off x="6624330" y="3992075"/>
            <a:ext cx="436483" cy="43648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4" name="Straight Arrow Connector 173">
            <a:extLst>
              <a:ext uri="{FF2B5EF4-FFF2-40B4-BE49-F238E27FC236}">
                <a16:creationId xmlns:a16="http://schemas.microsoft.com/office/drawing/2014/main" id="{C1D8112F-1D8E-7D4D-983E-7BE66B1DF6A1}"/>
              </a:ext>
            </a:extLst>
          </p:cNvPr>
          <p:cNvCxnSpPr>
            <a:stCxn id="153" idx="6"/>
            <a:endCxn id="158" idx="2"/>
          </p:cNvCxnSpPr>
          <p:nvPr/>
        </p:nvCxnSpPr>
        <p:spPr>
          <a:xfrm flipV="1">
            <a:off x="6624330" y="3119103"/>
            <a:ext cx="436483" cy="130945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5" name="Straight Arrow Connector 174">
            <a:extLst>
              <a:ext uri="{FF2B5EF4-FFF2-40B4-BE49-F238E27FC236}">
                <a16:creationId xmlns:a16="http://schemas.microsoft.com/office/drawing/2014/main" id="{CD29F88D-2609-6A43-BA27-C6B5F7001A7C}"/>
              </a:ext>
            </a:extLst>
          </p:cNvPr>
          <p:cNvCxnSpPr>
            <a:stCxn id="153" idx="6"/>
            <a:endCxn id="159" idx="2"/>
          </p:cNvCxnSpPr>
          <p:nvPr/>
        </p:nvCxnSpPr>
        <p:spPr>
          <a:xfrm flipV="1">
            <a:off x="6624330" y="3555589"/>
            <a:ext cx="436483" cy="87297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6" name="Straight Arrow Connector 175">
            <a:extLst>
              <a:ext uri="{FF2B5EF4-FFF2-40B4-BE49-F238E27FC236}">
                <a16:creationId xmlns:a16="http://schemas.microsoft.com/office/drawing/2014/main" id="{8CED3920-122A-B645-B497-2082B99F552B}"/>
              </a:ext>
            </a:extLst>
          </p:cNvPr>
          <p:cNvCxnSpPr>
            <a:stCxn id="153" idx="6"/>
            <a:endCxn id="160" idx="2"/>
          </p:cNvCxnSpPr>
          <p:nvPr/>
        </p:nvCxnSpPr>
        <p:spPr>
          <a:xfrm flipV="1">
            <a:off x="6624330" y="3992075"/>
            <a:ext cx="436483" cy="43648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7" name="Straight Arrow Connector 176">
            <a:extLst>
              <a:ext uri="{FF2B5EF4-FFF2-40B4-BE49-F238E27FC236}">
                <a16:creationId xmlns:a16="http://schemas.microsoft.com/office/drawing/2014/main" id="{C45DE437-BC87-544A-803C-6A6D3403502B}"/>
              </a:ext>
            </a:extLst>
          </p:cNvPr>
          <p:cNvCxnSpPr>
            <a:stCxn id="153" idx="6"/>
            <a:endCxn id="161" idx="2"/>
          </p:cNvCxnSpPr>
          <p:nvPr/>
        </p:nvCxnSpPr>
        <p:spPr>
          <a:xfrm>
            <a:off x="6624330" y="4428560"/>
            <a:ext cx="43648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78" name="Rectangle 177">
            <a:extLst>
              <a:ext uri="{FF2B5EF4-FFF2-40B4-BE49-F238E27FC236}">
                <a16:creationId xmlns:a16="http://schemas.microsoft.com/office/drawing/2014/main" id="{B8332CFC-A24E-D043-A768-651CFAF7E595}"/>
              </a:ext>
            </a:extLst>
          </p:cNvPr>
          <p:cNvSpPr/>
          <p:nvPr/>
        </p:nvSpPr>
        <p:spPr>
          <a:xfrm>
            <a:off x="6430843" y="2590866"/>
            <a:ext cx="2175339" cy="369332"/>
          </a:xfrm>
          <a:prstGeom prst="rect">
            <a:avLst/>
          </a:prstGeom>
        </p:spPr>
        <p:txBody>
          <a:bodyPr wrap="none">
            <a:spAutoFit/>
          </a:bodyPr>
          <a:lstStyle/>
          <a:p>
            <a:r>
              <a:rPr lang="en-US" b="1" u="sng" dirty="0"/>
              <a:t>NN for Solution Field</a:t>
            </a:r>
          </a:p>
        </p:txBody>
      </p:sp>
      <mc:AlternateContent xmlns:mc="http://schemas.openxmlformats.org/markup-compatibility/2006" xmlns:a14="http://schemas.microsoft.com/office/drawing/2010/main">
        <mc:Choice Requires="a14">
          <p:sp>
            <p:nvSpPr>
              <p:cNvPr id="179" name="Oval 178">
                <a:extLst>
                  <a:ext uri="{FF2B5EF4-FFF2-40B4-BE49-F238E27FC236}">
                    <a16:creationId xmlns:a16="http://schemas.microsoft.com/office/drawing/2014/main" id="{B2246DC0-7A62-A846-86DA-4373C9823E66}"/>
                  </a:ext>
                </a:extLst>
              </p:cNvPr>
              <p:cNvSpPr/>
              <p:nvPr/>
            </p:nvSpPr>
            <p:spPr>
              <a:xfrm>
                <a:off x="8815570" y="3182080"/>
                <a:ext cx="621892" cy="62189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r>
                            <a:rPr lang="en-US" i="1">
                              <a:latin typeface="Cambria Math" panose="02040503050406030204" pitchFamily="18" charset="0"/>
                            </a:rPr>
                            <m:t>𝜕</m:t>
                          </m:r>
                          <m:r>
                            <a:rPr lang="en-US" b="0" i="1" smtClean="0">
                              <a:latin typeface="Cambria Math" panose="02040503050406030204" pitchFamily="18" charset="0"/>
                            </a:rPr>
                            <m:t>𝑢</m:t>
                          </m:r>
                        </m:num>
                        <m:den>
                          <m:r>
                            <a:rPr lang="en-US" i="1">
                              <a:latin typeface="Cambria Math" panose="02040503050406030204" pitchFamily="18" charset="0"/>
                            </a:rPr>
                            <m:t>𝜕</m:t>
                          </m:r>
                          <m:r>
                            <a:rPr lang="en-US" b="0" i="1" smtClean="0">
                              <a:latin typeface="Cambria Math" panose="02040503050406030204" pitchFamily="18" charset="0"/>
                            </a:rPr>
                            <m:t>𝑥</m:t>
                          </m:r>
                        </m:den>
                      </m:f>
                    </m:oMath>
                  </m:oMathPara>
                </a14:m>
                <a:endParaRPr lang="en-US" dirty="0"/>
              </a:p>
            </p:txBody>
          </p:sp>
        </mc:Choice>
        <mc:Fallback xmlns="">
          <p:sp>
            <p:nvSpPr>
              <p:cNvPr id="179" name="Oval 178">
                <a:extLst>
                  <a:ext uri="{FF2B5EF4-FFF2-40B4-BE49-F238E27FC236}">
                    <a16:creationId xmlns:a16="http://schemas.microsoft.com/office/drawing/2014/main" id="{B2246DC0-7A62-A846-86DA-4373C9823E66}"/>
                  </a:ext>
                </a:extLst>
              </p:cNvPr>
              <p:cNvSpPr>
                <a:spLocks noRot="1" noChangeAspect="1" noMove="1" noResize="1" noEditPoints="1" noAdjustHandles="1" noChangeArrowheads="1" noChangeShapeType="1" noTextEdit="1"/>
              </p:cNvSpPr>
              <p:nvPr/>
            </p:nvSpPr>
            <p:spPr>
              <a:xfrm>
                <a:off x="8815570" y="3182080"/>
                <a:ext cx="621892" cy="621892"/>
              </a:xfrm>
              <a:prstGeom prst="ellipse">
                <a:avLst/>
              </a:prstGeom>
              <a:blipFill>
                <a:blip r:embed="rId8"/>
                <a:stretch>
                  <a:fillRect b="-196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0" name="Oval 179">
                <a:extLst>
                  <a:ext uri="{FF2B5EF4-FFF2-40B4-BE49-F238E27FC236}">
                    <a16:creationId xmlns:a16="http://schemas.microsoft.com/office/drawing/2014/main" id="{A9A2C1D7-099F-6147-B659-7BE1D5B04B44}"/>
                  </a:ext>
                </a:extLst>
              </p:cNvPr>
              <p:cNvSpPr/>
              <p:nvPr/>
            </p:nvSpPr>
            <p:spPr>
              <a:xfrm>
                <a:off x="8815569" y="3867787"/>
                <a:ext cx="621893" cy="621893"/>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r>
                            <a:rPr lang="en-US" i="1">
                              <a:latin typeface="Cambria Math" panose="02040503050406030204" pitchFamily="18" charset="0"/>
                            </a:rPr>
                            <m:t>𝜕</m:t>
                          </m:r>
                          <m:r>
                            <a:rPr lang="en-US" b="0" i="1" smtClean="0">
                              <a:latin typeface="Cambria Math" panose="02040503050406030204" pitchFamily="18" charset="0"/>
                            </a:rPr>
                            <m:t>𝑢</m:t>
                          </m:r>
                        </m:num>
                        <m:den>
                          <m:r>
                            <a:rPr lang="en-US" i="1" smtClean="0">
                              <a:latin typeface="Cambria Math" panose="02040503050406030204" pitchFamily="18" charset="0"/>
                            </a:rPr>
                            <m:t>𝜕</m:t>
                          </m:r>
                          <m:r>
                            <a:rPr lang="en-US" b="0" i="1" smtClean="0">
                              <a:latin typeface="Cambria Math" panose="02040503050406030204" pitchFamily="18" charset="0"/>
                            </a:rPr>
                            <m:t>𝑡</m:t>
                          </m:r>
                        </m:den>
                      </m:f>
                    </m:oMath>
                  </m:oMathPara>
                </a14:m>
                <a:endParaRPr lang="en-US" dirty="0"/>
              </a:p>
            </p:txBody>
          </p:sp>
        </mc:Choice>
        <mc:Fallback xmlns="">
          <p:sp>
            <p:nvSpPr>
              <p:cNvPr id="180" name="Oval 179">
                <a:extLst>
                  <a:ext uri="{FF2B5EF4-FFF2-40B4-BE49-F238E27FC236}">
                    <a16:creationId xmlns:a16="http://schemas.microsoft.com/office/drawing/2014/main" id="{A9A2C1D7-099F-6147-B659-7BE1D5B04B44}"/>
                  </a:ext>
                </a:extLst>
              </p:cNvPr>
              <p:cNvSpPr>
                <a:spLocks noRot="1" noChangeAspect="1" noMove="1" noResize="1" noEditPoints="1" noAdjustHandles="1" noChangeArrowheads="1" noChangeShapeType="1" noTextEdit="1"/>
              </p:cNvSpPr>
              <p:nvPr/>
            </p:nvSpPr>
            <p:spPr>
              <a:xfrm>
                <a:off x="8815569" y="3867787"/>
                <a:ext cx="621893" cy="621893"/>
              </a:xfrm>
              <a:prstGeom prst="ellipse">
                <a:avLst/>
              </a:prstGeom>
              <a:blipFill>
                <a:blip r:embed="rId9"/>
                <a:stretch>
                  <a:fillRect b="-196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1" name="Oval 180">
                <a:extLst>
                  <a:ext uri="{FF2B5EF4-FFF2-40B4-BE49-F238E27FC236}">
                    <a16:creationId xmlns:a16="http://schemas.microsoft.com/office/drawing/2014/main" id="{39A0D4F1-83C2-AC4C-879C-F612C13DA44A}"/>
                  </a:ext>
                </a:extLst>
              </p:cNvPr>
              <p:cNvSpPr/>
              <p:nvPr/>
            </p:nvSpPr>
            <p:spPr>
              <a:xfrm>
                <a:off x="4301149" y="3601207"/>
                <a:ext cx="365760" cy="36576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𝑡</m:t>
                      </m:r>
                    </m:oMath>
                  </m:oMathPara>
                </a14:m>
                <a:endParaRPr lang="en-US" dirty="0"/>
              </a:p>
            </p:txBody>
          </p:sp>
        </mc:Choice>
        <mc:Fallback xmlns="">
          <p:sp>
            <p:nvSpPr>
              <p:cNvPr id="181" name="Oval 180">
                <a:extLst>
                  <a:ext uri="{FF2B5EF4-FFF2-40B4-BE49-F238E27FC236}">
                    <a16:creationId xmlns:a16="http://schemas.microsoft.com/office/drawing/2014/main" id="{39A0D4F1-83C2-AC4C-879C-F612C13DA44A}"/>
                  </a:ext>
                </a:extLst>
              </p:cNvPr>
              <p:cNvSpPr>
                <a:spLocks noRot="1" noChangeAspect="1" noMove="1" noResize="1" noEditPoints="1" noAdjustHandles="1" noChangeArrowheads="1" noChangeShapeType="1" noTextEdit="1"/>
              </p:cNvSpPr>
              <p:nvPr/>
            </p:nvSpPr>
            <p:spPr>
              <a:xfrm>
                <a:off x="4301149" y="3601207"/>
                <a:ext cx="365760" cy="365760"/>
              </a:xfrm>
              <a:prstGeom prst="ellipse">
                <a:avLst/>
              </a:prstGeom>
              <a:blipFill>
                <a:blip r:embed="rId10"/>
                <a:stretch>
                  <a:fillRect/>
                </a:stretch>
              </a:blipFill>
            </p:spPr>
            <p:txBody>
              <a:bodyPr/>
              <a:lstStyle/>
              <a:p>
                <a:r>
                  <a:rPr lang="en-US">
                    <a:noFill/>
                  </a:rPr>
                  <a:t> </a:t>
                </a:r>
              </a:p>
            </p:txBody>
          </p:sp>
        </mc:Fallback>
      </mc:AlternateContent>
      <p:cxnSp>
        <p:nvCxnSpPr>
          <p:cNvPr id="182" name="Straight Arrow Connector 181">
            <a:extLst>
              <a:ext uri="{FF2B5EF4-FFF2-40B4-BE49-F238E27FC236}">
                <a16:creationId xmlns:a16="http://schemas.microsoft.com/office/drawing/2014/main" id="{865279CF-9212-834E-A376-0A903E976779}"/>
              </a:ext>
            </a:extLst>
          </p:cNvPr>
          <p:cNvCxnSpPr>
            <a:stCxn id="181" idx="6"/>
            <a:endCxn id="79" idx="2"/>
          </p:cNvCxnSpPr>
          <p:nvPr/>
        </p:nvCxnSpPr>
        <p:spPr>
          <a:xfrm flipV="1">
            <a:off x="4666909" y="3119103"/>
            <a:ext cx="1708846" cy="66498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3" name="Straight Arrow Connector 182">
            <a:extLst>
              <a:ext uri="{FF2B5EF4-FFF2-40B4-BE49-F238E27FC236}">
                <a16:creationId xmlns:a16="http://schemas.microsoft.com/office/drawing/2014/main" id="{A7DF7BAE-D504-EF45-9205-F40FC5B9A518}"/>
              </a:ext>
            </a:extLst>
          </p:cNvPr>
          <p:cNvCxnSpPr>
            <a:stCxn id="181" idx="6"/>
            <a:endCxn id="80" idx="2"/>
          </p:cNvCxnSpPr>
          <p:nvPr/>
        </p:nvCxnSpPr>
        <p:spPr>
          <a:xfrm flipV="1">
            <a:off x="4666909" y="3555589"/>
            <a:ext cx="1708846" cy="22849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4" name="Straight Arrow Connector 183">
            <a:extLst>
              <a:ext uri="{FF2B5EF4-FFF2-40B4-BE49-F238E27FC236}">
                <a16:creationId xmlns:a16="http://schemas.microsoft.com/office/drawing/2014/main" id="{A4BFF0D8-EE6C-B441-968F-A8CD05BBF7E3}"/>
              </a:ext>
            </a:extLst>
          </p:cNvPr>
          <p:cNvCxnSpPr>
            <a:stCxn id="181" idx="6"/>
            <a:endCxn id="152" idx="2"/>
          </p:cNvCxnSpPr>
          <p:nvPr/>
        </p:nvCxnSpPr>
        <p:spPr>
          <a:xfrm>
            <a:off x="4666909" y="3784087"/>
            <a:ext cx="1708846" cy="20798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5" name="Straight Arrow Connector 184">
            <a:extLst>
              <a:ext uri="{FF2B5EF4-FFF2-40B4-BE49-F238E27FC236}">
                <a16:creationId xmlns:a16="http://schemas.microsoft.com/office/drawing/2014/main" id="{D915BA9C-3B63-534D-A379-31864070FAC8}"/>
              </a:ext>
            </a:extLst>
          </p:cNvPr>
          <p:cNvCxnSpPr>
            <a:stCxn id="181" idx="6"/>
            <a:endCxn id="153" idx="2"/>
          </p:cNvCxnSpPr>
          <p:nvPr/>
        </p:nvCxnSpPr>
        <p:spPr>
          <a:xfrm>
            <a:off x="4666909" y="3784087"/>
            <a:ext cx="1708846" cy="64447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86" name="Rectangle 185">
            <a:extLst>
              <a:ext uri="{FF2B5EF4-FFF2-40B4-BE49-F238E27FC236}">
                <a16:creationId xmlns:a16="http://schemas.microsoft.com/office/drawing/2014/main" id="{DB2128DF-A8FB-DF4C-838A-F82FA22FFFC7}"/>
              </a:ext>
            </a:extLst>
          </p:cNvPr>
          <p:cNvSpPr/>
          <p:nvPr/>
        </p:nvSpPr>
        <p:spPr>
          <a:xfrm>
            <a:off x="10761878" y="2134643"/>
            <a:ext cx="566181" cy="369332"/>
          </a:xfrm>
          <a:prstGeom prst="rect">
            <a:avLst/>
          </a:prstGeom>
        </p:spPr>
        <p:txBody>
          <a:bodyPr wrap="none">
            <a:spAutoFit/>
          </a:bodyPr>
          <a:lstStyle/>
          <a:p>
            <a:r>
              <a:rPr lang="en-US" b="1" u="sng" dirty="0">
                <a:solidFill>
                  <a:schemeClr val="bg1">
                    <a:lumMod val="50000"/>
                  </a:schemeClr>
                </a:solidFill>
              </a:rPr>
              <a:t>PDE</a:t>
            </a:r>
          </a:p>
        </p:txBody>
      </p:sp>
      <p:sp>
        <p:nvSpPr>
          <p:cNvPr id="187" name="Oval 186">
            <a:extLst>
              <a:ext uri="{FF2B5EF4-FFF2-40B4-BE49-F238E27FC236}">
                <a16:creationId xmlns:a16="http://schemas.microsoft.com/office/drawing/2014/main" id="{61E2EED2-57F5-804F-A3E5-7C6D49F8F84F}"/>
              </a:ext>
            </a:extLst>
          </p:cNvPr>
          <p:cNvSpPr/>
          <p:nvPr/>
        </p:nvSpPr>
        <p:spPr>
          <a:xfrm>
            <a:off x="8709983" y="5485840"/>
            <a:ext cx="833063" cy="364730"/>
          </a:xfrm>
          <a:prstGeom prst="ellipse">
            <a:avLst/>
          </a:prstGeom>
          <a:solidFill>
            <a:srgbClr val="FF0000"/>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a:t>Loss</a:t>
            </a:r>
          </a:p>
        </p:txBody>
      </p:sp>
      <p:sp>
        <p:nvSpPr>
          <p:cNvPr id="188" name="Rectangle: Rounded Corners 170">
            <a:extLst>
              <a:ext uri="{FF2B5EF4-FFF2-40B4-BE49-F238E27FC236}">
                <a16:creationId xmlns:a16="http://schemas.microsoft.com/office/drawing/2014/main" id="{F50E1E4A-992D-864A-8A56-3030B022C5C6}"/>
              </a:ext>
            </a:extLst>
          </p:cNvPr>
          <p:cNvSpPr/>
          <p:nvPr/>
        </p:nvSpPr>
        <p:spPr>
          <a:xfrm>
            <a:off x="7557964" y="2484335"/>
            <a:ext cx="4341791" cy="2843835"/>
          </a:xfrm>
          <a:prstGeom prst="roundRect">
            <a:avLst/>
          </a:prstGeom>
          <a:noFill/>
          <a:ln w="19050">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89" name="Rectangle: Rounded Corners 171">
                <a:extLst>
                  <a:ext uri="{FF2B5EF4-FFF2-40B4-BE49-F238E27FC236}">
                    <a16:creationId xmlns:a16="http://schemas.microsoft.com/office/drawing/2014/main" id="{DB3F8636-32DA-324F-8FAB-BCD46F864D72}"/>
                  </a:ext>
                </a:extLst>
              </p:cNvPr>
              <p:cNvSpPr/>
              <p:nvPr/>
            </p:nvSpPr>
            <p:spPr>
              <a:xfrm>
                <a:off x="9875407" y="3465603"/>
                <a:ext cx="1532642" cy="674702"/>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14:m>
                  <m:oMathPara xmlns:m="http://schemas.openxmlformats.org/officeDocument/2006/math">
                    <m:oMathParaPr>
                      <m:jc m:val="left"/>
                    </m:oMathParaPr>
                    <m:oMath xmlns:m="http://schemas.openxmlformats.org/officeDocument/2006/math">
                      <m:r>
                        <a:rPr lang="en-US" b="0" i="1" smtClean="0">
                          <a:latin typeface="Cambria Math" panose="02040503050406030204" pitchFamily="18" charset="0"/>
                        </a:rPr>
                        <m:t>𝑓</m:t>
                      </m:r>
                      <m:r>
                        <a:rPr lang="en-US" b="0" i="1" smtClean="0">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m:t>
                          </m:r>
                          <m:r>
                            <a:rPr lang="en-US" b="0" i="1" smtClean="0">
                              <a:latin typeface="Cambria Math" panose="02040503050406030204" pitchFamily="18" charset="0"/>
                            </a:rPr>
                            <m:t>𝑢</m:t>
                          </m:r>
                        </m:num>
                        <m:den>
                          <m:r>
                            <a:rPr lang="en-US" i="1">
                              <a:latin typeface="Cambria Math" panose="02040503050406030204" pitchFamily="18" charset="0"/>
                            </a:rPr>
                            <m:t>𝜕</m:t>
                          </m:r>
                          <m:r>
                            <a:rPr lang="en-US" b="0" i="1" smtClean="0">
                              <a:latin typeface="Cambria Math" panose="02040503050406030204" pitchFamily="18" charset="0"/>
                            </a:rPr>
                            <m:t>𝑥</m:t>
                          </m:r>
                        </m:den>
                      </m:f>
                      <m:r>
                        <a:rPr lang="en-US" b="0" i="1" smtClean="0">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m:t>
                          </m:r>
                          <m:r>
                            <a:rPr lang="en-US" b="0" i="1" smtClean="0">
                              <a:latin typeface="Cambria Math" panose="02040503050406030204" pitchFamily="18" charset="0"/>
                            </a:rPr>
                            <m:t>𝑢</m:t>
                          </m:r>
                        </m:num>
                        <m:den>
                          <m:r>
                            <a:rPr lang="en-US" i="1">
                              <a:latin typeface="Cambria Math" panose="02040503050406030204" pitchFamily="18" charset="0"/>
                            </a:rPr>
                            <m:t>𝜕</m:t>
                          </m:r>
                          <m:r>
                            <a:rPr lang="en-US" b="0" i="1" smtClean="0">
                              <a:latin typeface="Cambria Math" panose="02040503050406030204" pitchFamily="18" charset="0"/>
                            </a:rPr>
                            <m:t>𝑡</m:t>
                          </m:r>
                        </m:den>
                      </m:f>
                    </m:oMath>
                  </m:oMathPara>
                </a14:m>
                <a:endParaRPr lang="en-US" dirty="0"/>
              </a:p>
            </p:txBody>
          </p:sp>
        </mc:Choice>
        <mc:Fallback xmlns="">
          <p:sp>
            <p:nvSpPr>
              <p:cNvPr id="189" name="Rectangle: Rounded Corners 171">
                <a:extLst>
                  <a:ext uri="{FF2B5EF4-FFF2-40B4-BE49-F238E27FC236}">
                    <a16:creationId xmlns:a16="http://schemas.microsoft.com/office/drawing/2014/main" id="{DB3F8636-32DA-324F-8FAB-BCD46F864D72}"/>
                  </a:ext>
                </a:extLst>
              </p:cNvPr>
              <p:cNvSpPr>
                <a:spLocks noRot="1" noChangeAspect="1" noMove="1" noResize="1" noEditPoints="1" noAdjustHandles="1" noChangeArrowheads="1" noChangeShapeType="1" noTextEdit="1"/>
              </p:cNvSpPr>
              <p:nvPr/>
            </p:nvSpPr>
            <p:spPr>
              <a:xfrm>
                <a:off x="9875407" y="3465603"/>
                <a:ext cx="1532642" cy="674702"/>
              </a:xfrm>
              <a:prstGeom prst="round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0" name="Diamond 189">
                <a:extLst>
                  <a:ext uri="{FF2B5EF4-FFF2-40B4-BE49-F238E27FC236}">
                    <a16:creationId xmlns:a16="http://schemas.microsoft.com/office/drawing/2014/main" id="{DA6201BF-CF69-F444-A3D5-23586583FDB7}"/>
                  </a:ext>
                </a:extLst>
              </p:cNvPr>
              <p:cNvSpPr/>
              <p:nvPr/>
            </p:nvSpPr>
            <p:spPr>
              <a:xfrm>
                <a:off x="6902121" y="5432653"/>
                <a:ext cx="935190" cy="471104"/>
              </a:xfrm>
              <a:prstGeom prst="diamond">
                <a:avLst/>
              </a:prstGeom>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&lt;</m:t>
                      </m:r>
                      <m:r>
                        <a:rPr lang="en-US" b="0" i="1" smtClean="0">
                          <a:latin typeface="Cambria Math" panose="02040503050406030204" pitchFamily="18" charset="0"/>
                          <a:ea typeface="Cambria Math" panose="02040503050406030204" pitchFamily="18" charset="0"/>
                        </a:rPr>
                        <m:t>𝜖</m:t>
                      </m:r>
                      <m:r>
                        <a:rPr lang="en-US" b="0" i="1" smtClean="0">
                          <a:latin typeface="Cambria Math" panose="02040503050406030204" pitchFamily="18" charset="0"/>
                          <a:ea typeface="Cambria Math" panose="02040503050406030204" pitchFamily="18" charset="0"/>
                        </a:rPr>
                        <m:t>?</m:t>
                      </m:r>
                    </m:oMath>
                  </m:oMathPara>
                </a14:m>
                <a:endParaRPr lang="en-US" dirty="0"/>
              </a:p>
            </p:txBody>
          </p:sp>
        </mc:Choice>
        <mc:Fallback xmlns="">
          <p:sp>
            <p:nvSpPr>
              <p:cNvPr id="190" name="Diamond 189">
                <a:extLst>
                  <a:ext uri="{FF2B5EF4-FFF2-40B4-BE49-F238E27FC236}">
                    <a16:creationId xmlns:a16="http://schemas.microsoft.com/office/drawing/2014/main" id="{DA6201BF-CF69-F444-A3D5-23586583FDB7}"/>
                  </a:ext>
                </a:extLst>
              </p:cNvPr>
              <p:cNvSpPr>
                <a:spLocks noRot="1" noChangeAspect="1" noMove="1" noResize="1" noEditPoints="1" noAdjustHandles="1" noChangeArrowheads="1" noChangeShapeType="1" noTextEdit="1"/>
              </p:cNvSpPr>
              <p:nvPr/>
            </p:nvSpPr>
            <p:spPr>
              <a:xfrm>
                <a:off x="6902121" y="5432653"/>
                <a:ext cx="935190" cy="471104"/>
              </a:xfrm>
              <a:prstGeom prst="diamond">
                <a:avLst/>
              </a:prstGeom>
              <a:blipFill>
                <a:blip r:embed="rId12"/>
                <a:stretch>
                  <a:fillRect/>
                </a:stretch>
              </a:blipFill>
            </p:spPr>
            <p:txBody>
              <a:bodyPr/>
              <a:lstStyle/>
              <a:p>
                <a:r>
                  <a:rPr lang="en-US">
                    <a:noFill/>
                  </a:rPr>
                  <a:t> </a:t>
                </a:r>
              </a:p>
            </p:txBody>
          </p:sp>
        </mc:Fallback>
      </mc:AlternateContent>
      <p:pic>
        <p:nvPicPr>
          <p:cNvPr id="191" name="Picture 190">
            <a:extLst>
              <a:ext uri="{FF2B5EF4-FFF2-40B4-BE49-F238E27FC236}">
                <a16:creationId xmlns:a16="http://schemas.microsoft.com/office/drawing/2014/main" id="{7B3E3C55-1F00-D64A-9325-405111E2C31C}"/>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5755550" y="4973050"/>
            <a:ext cx="718954" cy="785457"/>
          </a:xfrm>
          <a:prstGeom prst="rect">
            <a:avLst/>
          </a:prstGeom>
        </p:spPr>
      </p:pic>
      <p:cxnSp>
        <p:nvCxnSpPr>
          <p:cNvPr id="192" name="Connector: Curved 231">
            <a:extLst>
              <a:ext uri="{FF2B5EF4-FFF2-40B4-BE49-F238E27FC236}">
                <a16:creationId xmlns:a16="http://schemas.microsoft.com/office/drawing/2014/main" id="{B85E73B9-383E-A64D-A648-C8366765E850}"/>
              </a:ext>
            </a:extLst>
          </p:cNvPr>
          <p:cNvCxnSpPr>
            <a:cxnSpLocks/>
            <a:stCxn id="200" idx="4"/>
            <a:endCxn id="187" idx="1"/>
          </p:cNvCxnSpPr>
          <p:nvPr/>
        </p:nvCxnSpPr>
        <p:spPr>
          <a:xfrm rot="16200000" flipH="1">
            <a:off x="7556824" y="4264095"/>
            <a:ext cx="1593520" cy="956795"/>
          </a:xfrm>
          <a:prstGeom prst="curved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193" name="Straight Arrow Connector 192">
            <a:extLst>
              <a:ext uri="{FF2B5EF4-FFF2-40B4-BE49-F238E27FC236}">
                <a16:creationId xmlns:a16="http://schemas.microsoft.com/office/drawing/2014/main" id="{BFB08FDE-AC64-A047-A292-42DB7D8B380F}"/>
              </a:ext>
            </a:extLst>
          </p:cNvPr>
          <p:cNvCxnSpPr>
            <a:stCxn id="187" idx="2"/>
            <a:endCxn id="190" idx="3"/>
          </p:cNvCxnSpPr>
          <p:nvPr/>
        </p:nvCxnSpPr>
        <p:spPr>
          <a:xfrm flipH="1">
            <a:off x="7837311" y="5668205"/>
            <a:ext cx="87267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94" name="TextBox 193">
            <a:extLst>
              <a:ext uri="{FF2B5EF4-FFF2-40B4-BE49-F238E27FC236}">
                <a16:creationId xmlns:a16="http://schemas.microsoft.com/office/drawing/2014/main" id="{49CBAF3F-C58D-5647-B652-74BF6F7825FC}"/>
              </a:ext>
            </a:extLst>
          </p:cNvPr>
          <p:cNvSpPr txBox="1"/>
          <p:nvPr/>
        </p:nvSpPr>
        <p:spPr>
          <a:xfrm>
            <a:off x="7302024" y="5855974"/>
            <a:ext cx="296876" cy="369332"/>
          </a:xfrm>
          <a:prstGeom prst="rect">
            <a:avLst/>
          </a:prstGeom>
          <a:noFill/>
        </p:spPr>
        <p:txBody>
          <a:bodyPr wrap="none" rtlCol="0">
            <a:spAutoFit/>
          </a:bodyPr>
          <a:lstStyle/>
          <a:p>
            <a:r>
              <a:rPr lang="en-US" dirty="0"/>
              <a:t>Y</a:t>
            </a:r>
          </a:p>
        </p:txBody>
      </p:sp>
      <p:sp>
        <p:nvSpPr>
          <p:cNvPr id="195" name="TextBox 194">
            <a:extLst>
              <a:ext uri="{FF2B5EF4-FFF2-40B4-BE49-F238E27FC236}">
                <a16:creationId xmlns:a16="http://schemas.microsoft.com/office/drawing/2014/main" id="{5DCA99C4-41AF-2648-B3FD-5FCDD3238EDC}"/>
              </a:ext>
            </a:extLst>
          </p:cNvPr>
          <p:cNvSpPr txBox="1"/>
          <p:nvPr/>
        </p:nvSpPr>
        <p:spPr>
          <a:xfrm>
            <a:off x="5674274" y="5850570"/>
            <a:ext cx="744114" cy="369332"/>
          </a:xfrm>
          <a:prstGeom prst="rect">
            <a:avLst/>
          </a:prstGeom>
          <a:noFill/>
        </p:spPr>
        <p:txBody>
          <a:bodyPr wrap="none" rtlCol="0">
            <a:spAutoFit/>
          </a:bodyPr>
          <a:lstStyle/>
          <a:p>
            <a:r>
              <a:rPr lang="en-US" dirty="0"/>
              <a:t>Done.</a:t>
            </a:r>
          </a:p>
        </p:txBody>
      </p:sp>
      <p:sp>
        <p:nvSpPr>
          <p:cNvPr id="196" name="TextBox 195">
            <a:extLst>
              <a:ext uri="{FF2B5EF4-FFF2-40B4-BE49-F238E27FC236}">
                <a16:creationId xmlns:a16="http://schemas.microsoft.com/office/drawing/2014/main" id="{BB3D24DC-88B8-1445-934F-B73413F118F1}"/>
              </a:ext>
            </a:extLst>
          </p:cNvPr>
          <p:cNvSpPr txBox="1"/>
          <p:nvPr/>
        </p:nvSpPr>
        <p:spPr>
          <a:xfrm>
            <a:off x="7302024" y="5099968"/>
            <a:ext cx="333746" cy="369332"/>
          </a:xfrm>
          <a:prstGeom prst="rect">
            <a:avLst/>
          </a:prstGeom>
          <a:noFill/>
        </p:spPr>
        <p:txBody>
          <a:bodyPr wrap="none" rtlCol="0">
            <a:spAutoFit/>
          </a:bodyPr>
          <a:lstStyle/>
          <a:p>
            <a:r>
              <a:rPr lang="en-US" dirty="0"/>
              <a:t>N</a:t>
            </a:r>
          </a:p>
        </p:txBody>
      </p:sp>
      <p:cxnSp>
        <p:nvCxnSpPr>
          <p:cNvPr id="197" name="Connector: Elbow 2">
            <a:extLst>
              <a:ext uri="{FF2B5EF4-FFF2-40B4-BE49-F238E27FC236}">
                <a16:creationId xmlns:a16="http://schemas.microsoft.com/office/drawing/2014/main" id="{8F0FD599-D301-A943-A2A4-89EBF5809D3C}"/>
              </a:ext>
            </a:extLst>
          </p:cNvPr>
          <p:cNvCxnSpPr>
            <a:cxnSpLocks/>
          </p:cNvCxnSpPr>
          <p:nvPr/>
        </p:nvCxnSpPr>
        <p:spPr>
          <a:xfrm rot="16200000" flipV="1">
            <a:off x="6839902" y="4901437"/>
            <a:ext cx="157177" cy="905256"/>
          </a:xfrm>
          <a:prstGeom prst="bent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198" name="Connector: Elbow 17">
            <a:extLst>
              <a:ext uri="{FF2B5EF4-FFF2-40B4-BE49-F238E27FC236}">
                <a16:creationId xmlns:a16="http://schemas.microsoft.com/office/drawing/2014/main" id="{0FABF674-AB53-3747-8A57-9D625ABF60A6}"/>
              </a:ext>
            </a:extLst>
          </p:cNvPr>
          <p:cNvCxnSpPr>
            <a:cxnSpLocks/>
          </p:cNvCxnSpPr>
          <p:nvPr/>
        </p:nvCxnSpPr>
        <p:spPr>
          <a:xfrm rot="5400000">
            <a:off x="6840065" y="5529554"/>
            <a:ext cx="155448" cy="903854"/>
          </a:xfrm>
          <a:prstGeom prst="bent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199" name="Connector: Curved 225">
            <a:extLst>
              <a:ext uri="{FF2B5EF4-FFF2-40B4-BE49-F238E27FC236}">
                <a16:creationId xmlns:a16="http://schemas.microsoft.com/office/drawing/2014/main" id="{6A9A6200-B083-9348-B8E8-A418C12B90AC}"/>
              </a:ext>
            </a:extLst>
          </p:cNvPr>
          <p:cNvCxnSpPr>
            <a:cxnSpLocks/>
            <a:stCxn id="191" idx="1"/>
            <a:endCxn id="181" idx="4"/>
          </p:cNvCxnSpPr>
          <p:nvPr/>
        </p:nvCxnSpPr>
        <p:spPr>
          <a:xfrm rot="10800000">
            <a:off x="4484030" y="3966967"/>
            <a:ext cx="1271521" cy="1398812"/>
          </a:xfrm>
          <a:prstGeom prst="curvedConnector2">
            <a:avLst/>
          </a:prstGeom>
          <a:ln>
            <a:prstDash val="dash"/>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200" name="Oval 199">
                <a:extLst>
                  <a:ext uri="{FF2B5EF4-FFF2-40B4-BE49-F238E27FC236}">
                    <a16:creationId xmlns:a16="http://schemas.microsoft.com/office/drawing/2014/main" id="{D3CD814C-86FA-7C4A-9E09-3F3E9B26BDDC}"/>
                  </a:ext>
                </a:extLst>
              </p:cNvPr>
              <p:cNvSpPr/>
              <p:nvPr/>
            </p:nvSpPr>
            <p:spPr>
              <a:xfrm>
                <a:off x="7692307" y="3579973"/>
                <a:ext cx="365760" cy="365760"/>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𝑢</m:t>
                      </m:r>
                    </m:oMath>
                  </m:oMathPara>
                </a14:m>
                <a:endParaRPr lang="en-US" dirty="0"/>
              </a:p>
            </p:txBody>
          </p:sp>
        </mc:Choice>
        <mc:Fallback xmlns="">
          <p:sp>
            <p:nvSpPr>
              <p:cNvPr id="200" name="Oval 199">
                <a:extLst>
                  <a:ext uri="{FF2B5EF4-FFF2-40B4-BE49-F238E27FC236}">
                    <a16:creationId xmlns:a16="http://schemas.microsoft.com/office/drawing/2014/main" id="{D3CD814C-86FA-7C4A-9E09-3F3E9B26BDDC}"/>
                  </a:ext>
                </a:extLst>
              </p:cNvPr>
              <p:cNvSpPr>
                <a:spLocks noRot="1" noChangeAspect="1" noMove="1" noResize="1" noEditPoints="1" noAdjustHandles="1" noChangeArrowheads="1" noChangeShapeType="1" noTextEdit="1"/>
              </p:cNvSpPr>
              <p:nvPr/>
            </p:nvSpPr>
            <p:spPr>
              <a:xfrm>
                <a:off x="7692307" y="3579973"/>
                <a:ext cx="365760" cy="365760"/>
              </a:xfrm>
              <a:prstGeom prst="ellipse">
                <a:avLst/>
              </a:prstGeom>
              <a:blipFill>
                <a:blip r:embed="rId14"/>
                <a:stretch>
                  <a:fillRect/>
                </a:stretch>
              </a:blipFill>
            </p:spPr>
            <p:txBody>
              <a:bodyPr/>
              <a:lstStyle/>
              <a:p>
                <a:r>
                  <a:rPr lang="en-US">
                    <a:noFill/>
                  </a:rPr>
                  <a:t> </a:t>
                </a:r>
              </a:p>
            </p:txBody>
          </p:sp>
        </mc:Fallback>
      </mc:AlternateContent>
      <p:cxnSp>
        <p:nvCxnSpPr>
          <p:cNvPr id="201" name="Straight Arrow Connector 200">
            <a:extLst>
              <a:ext uri="{FF2B5EF4-FFF2-40B4-BE49-F238E27FC236}">
                <a16:creationId xmlns:a16="http://schemas.microsoft.com/office/drawing/2014/main" id="{8DB745D8-1A72-EB45-85E3-21C628D08804}"/>
              </a:ext>
            </a:extLst>
          </p:cNvPr>
          <p:cNvCxnSpPr>
            <a:cxnSpLocks/>
            <a:stCxn id="158" idx="6"/>
            <a:endCxn id="200" idx="2"/>
          </p:cNvCxnSpPr>
          <p:nvPr/>
        </p:nvCxnSpPr>
        <p:spPr>
          <a:xfrm>
            <a:off x="7309388" y="3119103"/>
            <a:ext cx="382919" cy="64375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02" name="Straight Arrow Connector 201">
            <a:extLst>
              <a:ext uri="{FF2B5EF4-FFF2-40B4-BE49-F238E27FC236}">
                <a16:creationId xmlns:a16="http://schemas.microsoft.com/office/drawing/2014/main" id="{BE2DB875-5F27-EE4B-ACAF-96185F5F4CDD}"/>
              </a:ext>
            </a:extLst>
          </p:cNvPr>
          <p:cNvCxnSpPr>
            <a:cxnSpLocks/>
            <a:stCxn id="159" idx="6"/>
            <a:endCxn id="200" idx="2"/>
          </p:cNvCxnSpPr>
          <p:nvPr/>
        </p:nvCxnSpPr>
        <p:spPr>
          <a:xfrm>
            <a:off x="7309388" y="3555589"/>
            <a:ext cx="382919" cy="20726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03" name="Straight Arrow Connector 202">
            <a:extLst>
              <a:ext uri="{FF2B5EF4-FFF2-40B4-BE49-F238E27FC236}">
                <a16:creationId xmlns:a16="http://schemas.microsoft.com/office/drawing/2014/main" id="{0897618D-76AA-8840-87D2-8E029719B667}"/>
              </a:ext>
            </a:extLst>
          </p:cNvPr>
          <p:cNvCxnSpPr>
            <a:cxnSpLocks/>
            <a:stCxn id="160" idx="6"/>
            <a:endCxn id="200" idx="2"/>
          </p:cNvCxnSpPr>
          <p:nvPr/>
        </p:nvCxnSpPr>
        <p:spPr>
          <a:xfrm flipV="1">
            <a:off x="7309388" y="3762853"/>
            <a:ext cx="382919" cy="22922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04" name="Straight Arrow Connector 203">
            <a:extLst>
              <a:ext uri="{FF2B5EF4-FFF2-40B4-BE49-F238E27FC236}">
                <a16:creationId xmlns:a16="http://schemas.microsoft.com/office/drawing/2014/main" id="{C1758A65-228E-0B4D-B16D-541F5158314D}"/>
              </a:ext>
            </a:extLst>
          </p:cNvPr>
          <p:cNvCxnSpPr>
            <a:cxnSpLocks/>
            <a:stCxn id="161" idx="6"/>
            <a:endCxn id="200" idx="2"/>
          </p:cNvCxnSpPr>
          <p:nvPr/>
        </p:nvCxnSpPr>
        <p:spPr>
          <a:xfrm flipV="1">
            <a:off x="7309388" y="3762853"/>
            <a:ext cx="382919" cy="66570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05" name="Straight Arrow Connector 204">
            <a:extLst>
              <a:ext uri="{FF2B5EF4-FFF2-40B4-BE49-F238E27FC236}">
                <a16:creationId xmlns:a16="http://schemas.microsoft.com/office/drawing/2014/main" id="{0DCB537E-2BE7-4543-81DF-E90BB4A4628F}"/>
              </a:ext>
            </a:extLst>
          </p:cNvPr>
          <p:cNvCxnSpPr>
            <a:cxnSpLocks/>
            <a:stCxn id="200" idx="6"/>
            <a:endCxn id="180" idx="2"/>
          </p:cNvCxnSpPr>
          <p:nvPr/>
        </p:nvCxnSpPr>
        <p:spPr>
          <a:xfrm>
            <a:off x="8058067" y="3762853"/>
            <a:ext cx="757502" cy="4158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06" name="Straight Arrow Connector 205">
            <a:extLst>
              <a:ext uri="{FF2B5EF4-FFF2-40B4-BE49-F238E27FC236}">
                <a16:creationId xmlns:a16="http://schemas.microsoft.com/office/drawing/2014/main" id="{2152DCF9-42B3-3F4C-A420-6E413C785705}"/>
              </a:ext>
            </a:extLst>
          </p:cNvPr>
          <p:cNvCxnSpPr>
            <a:cxnSpLocks/>
            <a:stCxn id="200" idx="6"/>
            <a:endCxn id="179" idx="2"/>
          </p:cNvCxnSpPr>
          <p:nvPr/>
        </p:nvCxnSpPr>
        <p:spPr>
          <a:xfrm flipV="1">
            <a:off x="8058067" y="3493026"/>
            <a:ext cx="757503" cy="26982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07" name="Straight Arrow Connector 206">
            <a:extLst>
              <a:ext uri="{FF2B5EF4-FFF2-40B4-BE49-F238E27FC236}">
                <a16:creationId xmlns:a16="http://schemas.microsoft.com/office/drawing/2014/main" id="{0DBC99C0-4F85-3543-832D-46BC36387CEA}"/>
              </a:ext>
            </a:extLst>
          </p:cNvPr>
          <p:cNvCxnSpPr>
            <a:cxnSpLocks/>
            <a:stCxn id="179" idx="6"/>
            <a:endCxn id="189" idx="1"/>
          </p:cNvCxnSpPr>
          <p:nvPr/>
        </p:nvCxnSpPr>
        <p:spPr>
          <a:xfrm>
            <a:off x="9437462" y="3493026"/>
            <a:ext cx="437945" cy="30992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08" name="Straight Arrow Connector 207">
            <a:extLst>
              <a:ext uri="{FF2B5EF4-FFF2-40B4-BE49-F238E27FC236}">
                <a16:creationId xmlns:a16="http://schemas.microsoft.com/office/drawing/2014/main" id="{71CD5ACA-6E08-EF49-BB95-694BDF37782D}"/>
              </a:ext>
            </a:extLst>
          </p:cNvPr>
          <p:cNvCxnSpPr>
            <a:cxnSpLocks/>
            <a:stCxn id="180" idx="6"/>
            <a:endCxn id="189" idx="1"/>
          </p:cNvCxnSpPr>
          <p:nvPr/>
        </p:nvCxnSpPr>
        <p:spPr>
          <a:xfrm flipV="1">
            <a:off x="9437462" y="3802954"/>
            <a:ext cx="437945" cy="3757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09" name="Connector: Curved 161">
            <a:extLst>
              <a:ext uri="{FF2B5EF4-FFF2-40B4-BE49-F238E27FC236}">
                <a16:creationId xmlns:a16="http://schemas.microsoft.com/office/drawing/2014/main" id="{C7787230-239D-A242-B8A8-AE3F6D28F4F4}"/>
              </a:ext>
            </a:extLst>
          </p:cNvPr>
          <p:cNvCxnSpPr>
            <a:cxnSpLocks/>
            <a:stCxn id="189" idx="3"/>
            <a:endCxn id="187" idx="6"/>
          </p:cNvCxnSpPr>
          <p:nvPr/>
        </p:nvCxnSpPr>
        <p:spPr>
          <a:xfrm flipH="1">
            <a:off x="9543046" y="3802954"/>
            <a:ext cx="1865003" cy="1865251"/>
          </a:xfrm>
          <a:prstGeom prst="curvedConnector3">
            <a:avLst>
              <a:gd name="adj1" fmla="val -12257"/>
            </a:avLst>
          </a:prstGeom>
          <a:ln>
            <a:tailEnd type="triangle"/>
          </a:ln>
        </p:spPr>
        <p:style>
          <a:lnRef idx="1">
            <a:schemeClr val="dk1"/>
          </a:lnRef>
          <a:fillRef idx="0">
            <a:schemeClr val="dk1"/>
          </a:fillRef>
          <a:effectRef idx="0">
            <a:schemeClr val="dk1"/>
          </a:effectRef>
          <a:fontRef idx="minor">
            <a:schemeClr val="tx1"/>
          </a:fontRef>
        </p:style>
      </p:cxnSp>
      <p:sp>
        <p:nvSpPr>
          <p:cNvPr id="210" name="TextBox 209">
            <a:extLst>
              <a:ext uri="{FF2B5EF4-FFF2-40B4-BE49-F238E27FC236}">
                <a16:creationId xmlns:a16="http://schemas.microsoft.com/office/drawing/2014/main" id="{EC9E3507-12AE-914F-97DF-F81C09627518}"/>
              </a:ext>
            </a:extLst>
          </p:cNvPr>
          <p:cNvSpPr txBox="1"/>
          <p:nvPr/>
        </p:nvSpPr>
        <p:spPr>
          <a:xfrm>
            <a:off x="8558709" y="4778238"/>
            <a:ext cx="1225893" cy="369332"/>
          </a:xfrm>
          <a:prstGeom prst="rect">
            <a:avLst/>
          </a:prstGeom>
          <a:noFill/>
        </p:spPr>
        <p:txBody>
          <a:bodyPr wrap="square" rtlCol="0">
            <a:spAutoFit/>
          </a:bodyPr>
          <a:lstStyle/>
          <a:p>
            <a:pPr algn="ctr"/>
            <a:r>
              <a:rPr lang="en-US" sz="900" b="1" dirty="0"/>
              <a:t>Boundary Condition &amp; Observations</a:t>
            </a:r>
          </a:p>
        </p:txBody>
      </p:sp>
      <p:sp>
        <p:nvSpPr>
          <p:cNvPr id="211" name="TextBox 210">
            <a:extLst>
              <a:ext uri="{FF2B5EF4-FFF2-40B4-BE49-F238E27FC236}">
                <a16:creationId xmlns:a16="http://schemas.microsoft.com/office/drawing/2014/main" id="{768AD3BA-D2BC-D04F-9862-AC91F2844D7B}"/>
              </a:ext>
            </a:extLst>
          </p:cNvPr>
          <p:cNvSpPr txBox="1"/>
          <p:nvPr/>
        </p:nvSpPr>
        <p:spPr>
          <a:xfrm>
            <a:off x="9543045" y="5631007"/>
            <a:ext cx="762700" cy="230832"/>
          </a:xfrm>
          <a:prstGeom prst="rect">
            <a:avLst/>
          </a:prstGeom>
          <a:noFill/>
        </p:spPr>
        <p:txBody>
          <a:bodyPr wrap="square" rtlCol="0">
            <a:spAutoFit/>
          </a:bodyPr>
          <a:lstStyle/>
          <a:p>
            <a:r>
              <a:rPr lang="en-US" sz="900" b="1" dirty="0"/>
              <a:t>PDE</a:t>
            </a:r>
          </a:p>
        </p:txBody>
      </p:sp>
      <p:sp>
        <p:nvSpPr>
          <p:cNvPr id="212" name="Oval 211">
            <a:extLst>
              <a:ext uri="{FF2B5EF4-FFF2-40B4-BE49-F238E27FC236}">
                <a16:creationId xmlns:a16="http://schemas.microsoft.com/office/drawing/2014/main" id="{00C46AD2-EAD1-3E48-9471-8AA9D5DA7038}"/>
              </a:ext>
            </a:extLst>
          </p:cNvPr>
          <p:cNvSpPr/>
          <p:nvPr/>
        </p:nvSpPr>
        <p:spPr>
          <a:xfrm>
            <a:off x="7262573" y="1157023"/>
            <a:ext cx="248575" cy="248575"/>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l-GR" dirty="0">
                <a:effectLst/>
              </a:rPr>
              <a:t>σ</a:t>
            </a:r>
            <a:endParaRPr lang="en-US" dirty="0"/>
          </a:p>
        </p:txBody>
      </p:sp>
      <p:sp>
        <p:nvSpPr>
          <p:cNvPr id="213" name="Oval 212">
            <a:extLst>
              <a:ext uri="{FF2B5EF4-FFF2-40B4-BE49-F238E27FC236}">
                <a16:creationId xmlns:a16="http://schemas.microsoft.com/office/drawing/2014/main" id="{9E5A62F3-1566-B04E-8BD7-99084D7B4F5B}"/>
              </a:ext>
            </a:extLst>
          </p:cNvPr>
          <p:cNvSpPr/>
          <p:nvPr/>
        </p:nvSpPr>
        <p:spPr>
          <a:xfrm>
            <a:off x="7262573" y="1593509"/>
            <a:ext cx="248575" cy="248575"/>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l-GR" dirty="0">
                <a:effectLst/>
              </a:rPr>
              <a:t>σ</a:t>
            </a:r>
            <a:endParaRPr lang="en-US" dirty="0"/>
          </a:p>
        </p:txBody>
      </p:sp>
      <p:sp>
        <p:nvSpPr>
          <p:cNvPr id="214" name="Oval 213">
            <a:extLst>
              <a:ext uri="{FF2B5EF4-FFF2-40B4-BE49-F238E27FC236}">
                <a16:creationId xmlns:a16="http://schemas.microsoft.com/office/drawing/2014/main" id="{5296F929-87CB-E244-8242-DAB5C8EB863D}"/>
              </a:ext>
            </a:extLst>
          </p:cNvPr>
          <p:cNvSpPr/>
          <p:nvPr/>
        </p:nvSpPr>
        <p:spPr>
          <a:xfrm>
            <a:off x="7262573" y="2029994"/>
            <a:ext cx="248575" cy="248575"/>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l-GR" dirty="0">
                <a:effectLst/>
              </a:rPr>
              <a:t>σ</a:t>
            </a:r>
            <a:endParaRPr lang="en-US" dirty="0"/>
          </a:p>
        </p:txBody>
      </p:sp>
      <p:cxnSp>
        <p:nvCxnSpPr>
          <p:cNvPr id="215" name="Straight Arrow Connector 214">
            <a:extLst>
              <a:ext uri="{FF2B5EF4-FFF2-40B4-BE49-F238E27FC236}">
                <a16:creationId xmlns:a16="http://schemas.microsoft.com/office/drawing/2014/main" id="{6E26A439-A459-8F49-9CA9-FC492B1047A6}"/>
              </a:ext>
            </a:extLst>
          </p:cNvPr>
          <p:cNvCxnSpPr>
            <a:cxnSpLocks/>
            <a:stCxn id="78" idx="6"/>
            <a:endCxn id="212" idx="2"/>
          </p:cNvCxnSpPr>
          <p:nvPr/>
        </p:nvCxnSpPr>
        <p:spPr>
          <a:xfrm flipV="1">
            <a:off x="4667071" y="1281311"/>
            <a:ext cx="2595502" cy="196711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6" name="Straight Arrow Connector 215">
            <a:extLst>
              <a:ext uri="{FF2B5EF4-FFF2-40B4-BE49-F238E27FC236}">
                <a16:creationId xmlns:a16="http://schemas.microsoft.com/office/drawing/2014/main" id="{F78291CF-588D-464E-B7CE-9B07469B0C2E}"/>
              </a:ext>
            </a:extLst>
          </p:cNvPr>
          <p:cNvCxnSpPr>
            <a:cxnSpLocks/>
            <a:stCxn id="78" idx="6"/>
            <a:endCxn id="213" idx="2"/>
          </p:cNvCxnSpPr>
          <p:nvPr/>
        </p:nvCxnSpPr>
        <p:spPr>
          <a:xfrm flipV="1">
            <a:off x="4667071" y="1717797"/>
            <a:ext cx="2595502" cy="153062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7" name="Straight Arrow Connector 216">
            <a:extLst>
              <a:ext uri="{FF2B5EF4-FFF2-40B4-BE49-F238E27FC236}">
                <a16:creationId xmlns:a16="http://schemas.microsoft.com/office/drawing/2014/main" id="{C273E351-A519-F945-9B98-89A12C3BD956}"/>
              </a:ext>
            </a:extLst>
          </p:cNvPr>
          <p:cNvCxnSpPr>
            <a:cxnSpLocks/>
            <a:stCxn id="78" idx="6"/>
            <a:endCxn id="214" idx="2"/>
          </p:cNvCxnSpPr>
          <p:nvPr/>
        </p:nvCxnSpPr>
        <p:spPr>
          <a:xfrm flipV="1">
            <a:off x="4667071" y="2154282"/>
            <a:ext cx="2595502" cy="109413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18" name="Oval 217">
            <a:extLst>
              <a:ext uri="{FF2B5EF4-FFF2-40B4-BE49-F238E27FC236}">
                <a16:creationId xmlns:a16="http://schemas.microsoft.com/office/drawing/2014/main" id="{B3EE22A5-0E2F-FA4A-90D4-64B7EFFE6016}"/>
              </a:ext>
            </a:extLst>
          </p:cNvPr>
          <p:cNvSpPr/>
          <p:nvPr/>
        </p:nvSpPr>
        <p:spPr>
          <a:xfrm>
            <a:off x="7947631" y="1157023"/>
            <a:ext cx="248575" cy="248575"/>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l-GR" dirty="0">
                <a:effectLst/>
              </a:rPr>
              <a:t>σ</a:t>
            </a:r>
            <a:endParaRPr lang="en-US" dirty="0"/>
          </a:p>
        </p:txBody>
      </p:sp>
      <p:sp>
        <p:nvSpPr>
          <p:cNvPr id="219" name="Oval 218">
            <a:extLst>
              <a:ext uri="{FF2B5EF4-FFF2-40B4-BE49-F238E27FC236}">
                <a16:creationId xmlns:a16="http://schemas.microsoft.com/office/drawing/2014/main" id="{3D7F36AE-3933-D84D-A5C8-A3F9BD0B9040}"/>
              </a:ext>
            </a:extLst>
          </p:cNvPr>
          <p:cNvSpPr/>
          <p:nvPr/>
        </p:nvSpPr>
        <p:spPr>
          <a:xfrm>
            <a:off x="7947631" y="1593509"/>
            <a:ext cx="248575" cy="248575"/>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l-GR" dirty="0">
                <a:effectLst/>
              </a:rPr>
              <a:t>σ</a:t>
            </a:r>
            <a:endParaRPr lang="en-US" dirty="0"/>
          </a:p>
        </p:txBody>
      </p:sp>
      <p:sp>
        <p:nvSpPr>
          <p:cNvPr id="220" name="Oval 219">
            <a:extLst>
              <a:ext uri="{FF2B5EF4-FFF2-40B4-BE49-F238E27FC236}">
                <a16:creationId xmlns:a16="http://schemas.microsoft.com/office/drawing/2014/main" id="{BF868481-3DDB-5B49-BDD4-3B6466692FE1}"/>
              </a:ext>
            </a:extLst>
          </p:cNvPr>
          <p:cNvSpPr/>
          <p:nvPr/>
        </p:nvSpPr>
        <p:spPr>
          <a:xfrm>
            <a:off x="7947631" y="2029994"/>
            <a:ext cx="248575" cy="248575"/>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l-GR" dirty="0">
                <a:effectLst/>
              </a:rPr>
              <a:t>σ</a:t>
            </a:r>
            <a:endParaRPr lang="en-US" dirty="0"/>
          </a:p>
        </p:txBody>
      </p:sp>
      <mc:AlternateContent xmlns:mc="http://schemas.openxmlformats.org/markup-compatibility/2006" xmlns:a14="http://schemas.microsoft.com/office/drawing/2010/main">
        <mc:Choice Requires="a14">
          <p:sp>
            <p:nvSpPr>
              <p:cNvPr id="221" name="Oval 220">
                <a:extLst>
                  <a:ext uri="{FF2B5EF4-FFF2-40B4-BE49-F238E27FC236}">
                    <a16:creationId xmlns:a16="http://schemas.microsoft.com/office/drawing/2014/main" id="{81BDC3BE-D13D-E840-A90B-99377B22F7B8}"/>
                  </a:ext>
                </a:extLst>
              </p:cNvPr>
              <p:cNvSpPr/>
              <p:nvPr/>
            </p:nvSpPr>
            <p:spPr>
              <a:xfrm>
                <a:off x="9067858" y="1417842"/>
                <a:ext cx="365760" cy="365760"/>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oMath>
                  </m:oMathPara>
                </a14:m>
                <a:endParaRPr lang="en-US" dirty="0"/>
              </a:p>
            </p:txBody>
          </p:sp>
        </mc:Choice>
        <mc:Fallback xmlns="">
          <p:sp>
            <p:nvSpPr>
              <p:cNvPr id="221" name="Oval 220">
                <a:extLst>
                  <a:ext uri="{FF2B5EF4-FFF2-40B4-BE49-F238E27FC236}">
                    <a16:creationId xmlns:a16="http://schemas.microsoft.com/office/drawing/2014/main" id="{81BDC3BE-D13D-E840-A90B-99377B22F7B8}"/>
                  </a:ext>
                </a:extLst>
              </p:cNvPr>
              <p:cNvSpPr>
                <a:spLocks noRot="1" noChangeAspect="1" noMove="1" noResize="1" noEditPoints="1" noAdjustHandles="1" noChangeArrowheads="1" noChangeShapeType="1" noTextEdit="1"/>
              </p:cNvSpPr>
              <p:nvPr/>
            </p:nvSpPr>
            <p:spPr>
              <a:xfrm>
                <a:off x="9067858" y="1417842"/>
                <a:ext cx="365760" cy="365760"/>
              </a:xfrm>
              <a:prstGeom prst="ellipse">
                <a:avLst/>
              </a:prstGeom>
              <a:blipFill>
                <a:blip r:embed="rId15"/>
                <a:stretch>
                  <a:fillRect/>
                </a:stretch>
              </a:blipFill>
            </p:spPr>
            <p:txBody>
              <a:bodyPr/>
              <a:lstStyle/>
              <a:p>
                <a:r>
                  <a:rPr lang="en-US">
                    <a:noFill/>
                  </a:rPr>
                  <a:t> </a:t>
                </a:r>
              </a:p>
            </p:txBody>
          </p:sp>
        </mc:Fallback>
      </mc:AlternateContent>
      <p:cxnSp>
        <p:nvCxnSpPr>
          <p:cNvPr id="222" name="Straight Arrow Connector 221">
            <a:extLst>
              <a:ext uri="{FF2B5EF4-FFF2-40B4-BE49-F238E27FC236}">
                <a16:creationId xmlns:a16="http://schemas.microsoft.com/office/drawing/2014/main" id="{7FCA1C0A-C900-C341-8267-3F46B2C94A07}"/>
              </a:ext>
            </a:extLst>
          </p:cNvPr>
          <p:cNvCxnSpPr>
            <a:stCxn id="212" idx="6"/>
            <a:endCxn id="218" idx="2"/>
          </p:cNvCxnSpPr>
          <p:nvPr/>
        </p:nvCxnSpPr>
        <p:spPr>
          <a:xfrm>
            <a:off x="7511148" y="1281311"/>
            <a:ext cx="43648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3" name="Straight Arrow Connector 222">
            <a:extLst>
              <a:ext uri="{FF2B5EF4-FFF2-40B4-BE49-F238E27FC236}">
                <a16:creationId xmlns:a16="http://schemas.microsoft.com/office/drawing/2014/main" id="{E0F6E5B5-EDF2-3641-AC74-BF509B85E626}"/>
              </a:ext>
            </a:extLst>
          </p:cNvPr>
          <p:cNvCxnSpPr>
            <a:cxnSpLocks/>
            <a:stCxn id="212" idx="6"/>
            <a:endCxn id="219" idx="2"/>
          </p:cNvCxnSpPr>
          <p:nvPr/>
        </p:nvCxnSpPr>
        <p:spPr>
          <a:xfrm>
            <a:off x="7511148" y="1281311"/>
            <a:ext cx="436483" cy="43648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4" name="Straight Arrow Connector 223">
            <a:extLst>
              <a:ext uri="{FF2B5EF4-FFF2-40B4-BE49-F238E27FC236}">
                <a16:creationId xmlns:a16="http://schemas.microsoft.com/office/drawing/2014/main" id="{A7D4534C-BF7C-EE4C-8EF7-C01D50380FAE}"/>
              </a:ext>
            </a:extLst>
          </p:cNvPr>
          <p:cNvCxnSpPr>
            <a:stCxn id="212" idx="6"/>
            <a:endCxn id="220" idx="2"/>
          </p:cNvCxnSpPr>
          <p:nvPr/>
        </p:nvCxnSpPr>
        <p:spPr>
          <a:xfrm>
            <a:off x="7511148" y="1281311"/>
            <a:ext cx="436483" cy="87297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5" name="Straight Arrow Connector 224">
            <a:extLst>
              <a:ext uri="{FF2B5EF4-FFF2-40B4-BE49-F238E27FC236}">
                <a16:creationId xmlns:a16="http://schemas.microsoft.com/office/drawing/2014/main" id="{2326854C-7092-2349-B676-E663106C2B5F}"/>
              </a:ext>
            </a:extLst>
          </p:cNvPr>
          <p:cNvCxnSpPr>
            <a:stCxn id="213" idx="6"/>
            <a:endCxn id="218" idx="2"/>
          </p:cNvCxnSpPr>
          <p:nvPr/>
        </p:nvCxnSpPr>
        <p:spPr>
          <a:xfrm flipV="1">
            <a:off x="7511148" y="1281311"/>
            <a:ext cx="436483" cy="43648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6" name="Straight Arrow Connector 225">
            <a:extLst>
              <a:ext uri="{FF2B5EF4-FFF2-40B4-BE49-F238E27FC236}">
                <a16:creationId xmlns:a16="http://schemas.microsoft.com/office/drawing/2014/main" id="{BFE8CBD1-C770-A34C-A2B4-B7B3BF95B0CE}"/>
              </a:ext>
            </a:extLst>
          </p:cNvPr>
          <p:cNvCxnSpPr>
            <a:stCxn id="213" idx="6"/>
            <a:endCxn id="219" idx="2"/>
          </p:cNvCxnSpPr>
          <p:nvPr/>
        </p:nvCxnSpPr>
        <p:spPr>
          <a:xfrm>
            <a:off x="7511148" y="1717797"/>
            <a:ext cx="43648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7" name="Straight Arrow Connector 226">
            <a:extLst>
              <a:ext uri="{FF2B5EF4-FFF2-40B4-BE49-F238E27FC236}">
                <a16:creationId xmlns:a16="http://schemas.microsoft.com/office/drawing/2014/main" id="{27BE3FB1-CB36-5241-A2E8-908C27B30847}"/>
              </a:ext>
            </a:extLst>
          </p:cNvPr>
          <p:cNvCxnSpPr>
            <a:stCxn id="213" idx="6"/>
            <a:endCxn id="220" idx="2"/>
          </p:cNvCxnSpPr>
          <p:nvPr/>
        </p:nvCxnSpPr>
        <p:spPr>
          <a:xfrm>
            <a:off x="7511148" y="1717797"/>
            <a:ext cx="436483" cy="43648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8" name="Straight Arrow Connector 227">
            <a:extLst>
              <a:ext uri="{FF2B5EF4-FFF2-40B4-BE49-F238E27FC236}">
                <a16:creationId xmlns:a16="http://schemas.microsoft.com/office/drawing/2014/main" id="{51A574C3-B35C-0348-816A-74102346C81E}"/>
              </a:ext>
            </a:extLst>
          </p:cNvPr>
          <p:cNvCxnSpPr>
            <a:stCxn id="214" idx="6"/>
            <a:endCxn id="218" idx="2"/>
          </p:cNvCxnSpPr>
          <p:nvPr/>
        </p:nvCxnSpPr>
        <p:spPr>
          <a:xfrm flipV="1">
            <a:off x="7511148" y="1281311"/>
            <a:ext cx="436483" cy="87297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9" name="Straight Arrow Connector 228">
            <a:extLst>
              <a:ext uri="{FF2B5EF4-FFF2-40B4-BE49-F238E27FC236}">
                <a16:creationId xmlns:a16="http://schemas.microsoft.com/office/drawing/2014/main" id="{38B6DFAB-B25C-F44D-BC0A-3BFC48FEF311}"/>
              </a:ext>
            </a:extLst>
          </p:cNvPr>
          <p:cNvCxnSpPr>
            <a:stCxn id="214" idx="6"/>
            <a:endCxn id="219" idx="2"/>
          </p:cNvCxnSpPr>
          <p:nvPr/>
        </p:nvCxnSpPr>
        <p:spPr>
          <a:xfrm flipV="1">
            <a:off x="7511148" y="1717797"/>
            <a:ext cx="436483" cy="43648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0" name="Straight Arrow Connector 229">
            <a:extLst>
              <a:ext uri="{FF2B5EF4-FFF2-40B4-BE49-F238E27FC236}">
                <a16:creationId xmlns:a16="http://schemas.microsoft.com/office/drawing/2014/main" id="{317D060B-3017-FB46-BA57-9CEC444CFE03}"/>
              </a:ext>
            </a:extLst>
          </p:cNvPr>
          <p:cNvCxnSpPr>
            <a:stCxn id="214" idx="6"/>
            <a:endCxn id="220" idx="2"/>
          </p:cNvCxnSpPr>
          <p:nvPr/>
        </p:nvCxnSpPr>
        <p:spPr>
          <a:xfrm>
            <a:off x="7511148" y="2154282"/>
            <a:ext cx="43648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1" name="Straight Arrow Connector 230">
            <a:extLst>
              <a:ext uri="{FF2B5EF4-FFF2-40B4-BE49-F238E27FC236}">
                <a16:creationId xmlns:a16="http://schemas.microsoft.com/office/drawing/2014/main" id="{F7994744-F656-C34F-B80A-0DF0EC6AF377}"/>
              </a:ext>
            </a:extLst>
          </p:cNvPr>
          <p:cNvCxnSpPr>
            <a:cxnSpLocks/>
            <a:stCxn id="218" idx="6"/>
            <a:endCxn id="221" idx="2"/>
          </p:cNvCxnSpPr>
          <p:nvPr/>
        </p:nvCxnSpPr>
        <p:spPr>
          <a:xfrm>
            <a:off x="8196206" y="1281311"/>
            <a:ext cx="871652" cy="31941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2" name="Straight Arrow Connector 231">
            <a:extLst>
              <a:ext uri="{FF2B5EF4-FFF2-40B4-BE49-F238E27FC236}">
                <a16:creationId xmlns:a16="http://schemas.microsoft.com/office/drawing/2014/main" id="{3CE62505-8E6B-054F-8022-F91DFD78AA13}"/>
              </a:ext>
            </a:extLst>
          </p:cNvPr>
          <p:cNvCxnSpPr>
            <a:cxnSpLocks/>
            <a:stCxn id="219" idx="6"/>
            <a:endCxn id="221" idx="2"/>
          </p:cNvCxnSpPr>
          <p:nvPr/>
        </p:nvCxnSpPr>
        <p:spPr>
          <a:xfrm flipV="1">
            <a:off x="8196206" y="1600722"/>
            <a:ext cx="871652" cy="11707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3" name="Straight Arrow Connector 232">
            <a:extLst>
              <a:ext uri="{FF2B5EF4-FFF2-40B4-BE49-F238E27FC236}">
                <a16:creationId xmlns:a16="http://schemas.microsoft.com/office/drawing/2014/main" id="{F5FB7738-37D1-9145-904C-E4C2C96FE471}"/>
              </a:ext>
            </a:extLst>
          </p:cNvPr>
          <p:cNvCxnSpPr>
            <a:cxnSpLocks/>
            <a:stCxn id="220" idx="6"/>
            <a:endCxn id="221" idx="2"/>
          </p:cNvCxnSpPr>
          <p:nvPr/>
        </p:nvCxnSpPr>
        <p:spPr>
          <a:xfrm flipV="1">
            <a:off x="8196206" y="1600722"/>
            <a:ext cx="871652" cy="55356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4" name="Straight Arrow Connector 233">
            <a:extLst>
              <a:ext uri="{FF2B5EF4-FFF2-40B4-BE49-F238E27FC236}">
                <a16:creationId xmlns:a16="http://schemas.microsoft.com/office/drawing/2014/main" id="{C18818F8-3663-8249-BF0B-C8039F45D197}"/>
              </a:ext>
            </a:extLst>
          </p:cNvPr>
          <p:cNvCxnSpPr>
            <a:cxnSpLocks/>
            <a:stCxn id="181" idx="6"/>
            <a:endCxn id="212" idx="2"/>
          </p:cNvCxnSpPr>
          <p:nvPr/>
        </p:nvCxnSpPr>
        <p:spPr>
          <a:xfrm flipV="1">
            <a:off x="4666909" y="1281311"/>
            <a:ext cx="2595664" cy="250277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5" name="Straight Arrow Connector 234">
            <a:extLst>
              <a:ext uri="{FF2B5EF4-FFF2-40B4-BE49-F238E27FC236}">
                <a16:creationId xmlns:a16="http://schemas.microsoft.com/office/drawing/2014/main" id="{EC30EE48-E30C-D24C-B107-82AACEA067AD}"/>
              </a:ext>
            </a:extLst>
          </p:cNvPr>
          <p:cNvCxnSpPr>
            <a:cxnSpLocks/>
            <a:stCxn id="181" idx="6"/>
            <a:endCxn id="213" idx="2"/>
          </p:cNvCxnSpPr>
          <p:nvPr/>
        </p:nvCxnSpPr>
        <p:spPr>
          <a:xfrm flipV="1">
            <a:off x="4666909" y="1717797"/>
            <a:ext cx="2595664" cy="206629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6" name="Straight Arrow Connector 235">
            <a:extLst>
              <a:ext uri="{FF2B5EF4-FFF2-40B4-BE49-F238E27FC236}">
                <a16:creationId xmlns:a16="http://schemas.microsoft.com/office/drawing/2014/main" id="{21624B10-370D-B24E-9486-0239BFC99074}"/>
              </a:ext>
            </a:extLst>
          </p:cNvPr>
          <p:cNvCxnSpPr>
            <a:cxnSpLocks/>
            <a:stCxn id="181" idx="6"/>
            <a:endCxn id="214" idx="2"/>
          </p:cNvCxnSpPr>
          <p:nvPr/>
        </p:nvCxnSpPr>
        <p:spPr>
          <a:xfrm flipV="1">
            <a:off x="4666909" y="2154282"/>
            <a:ext cx="2595664" cy="162980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7" name="Straight Arrow Connector 236">
            <a:extLst>
              <a:ext uri="{FF2B5EF4-FFF2-40B4-BE49-F238E27FC236}">
                <a16:creationId xmlns:a16="http://schemas.microsoft.com/office/drawing/2014/main" id="{F0143D23-59B5-8C41-B19E-03DF685D71A8}"/>
              </a:ext>
            </a:extLst>
          </p:cNvPr>
          <p:cNvCxnSpPr>
            <a:cxnSpLocks/>
            <a:stCxn id="221" idx="6"/>
            <a:endCxn id="189" idx="1"/>
          </p:cNvCxnSpPr>
          <p:nvPr/>
        </p:nvCxnSpPr>
        <p:spPr>
          <a:xfrm>
            <a:off x="9433618" y="1600722"/>
            <a:ext cx="441789" cy="220223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38" name="Rectangle: Rounded Corners 113">
            <a:extLst>
              <a:ext uri="{FF2B5EF4-FFF2-40B4-BE49-F238E27FC236}">
                <a16:creationId xmlns:a16="http://schemas.microsoft.com/office/drawing/2014/main" id="{D7711BA7-840D-9147-85E9-37E1F5630AA5}"/>
              </a:ext>
            </a:extLst>
          </p:cNvPr>
          <p:cNvSpPr/>
          <p:nvPr/>
        </p:nvSpPr>
        <p:spPr>
          <a:xfrm>
            <a:off x="5630756" y="2884629"/>
            <a:ext cx="2693107" cy="1847020"/>
          </a:xfrm>
          <a:prstGeom prst="roundRect">
            <a:avLst>
              <a:gd name="adj" fmla="val 50000"/>
            </a:avLst>
          </a:prstGeom>
          <a:no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9" name="Rectangle: Rounded Corners 113">
            <a:extLst>
              <a:ext uri="{FF2B5EF4-FFF2-40B4-BE49-F238E27FC236}">
                <a16:creationId xmlns:a16="http://schemas.microsoft.com/office/drawing/2014/main" id="{FAA2DC94-B6EE-8D4A-A68D-F09BD40EE00B}"/>
              </a:ext>
            </a:extLst>
          </p:cNvPr>
          <p:cNvSpPr/>
          <p:nvPr/>
        </p:nvSpPr>
        <p:spPr>
          <a:xfrm>
            <a:off x="6418388" y="1067758"/>
            <a:ext cx="3394620" cy="1315007"/>
          </a:xfrm>
          <a:prstGeom prst="roundRect">
            <a:avLst>
              <a:gd name="adj" fmla="val 50000"/>
            </a:avLst>
          </a:prstGeom>
          <a:no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0" name="Rectangle 239">
            <a:extLst>
              <a:ext uri="{FF2B5EF4-FFF2-40B4-BE49-F238E27FC236}">
                <a16:creationId xmlns:a16="http://schemas.microsoft.com/office/drawing/2014/main" id="{CEBCD5C7-9352-9D4E-9A5C-E55E012033C6}"/>
              </a:ext>
            </a:extLst>
          </p:cNvPr>
          <p:cNvSpPr/>
          <p:nvPr/>
        </p:nvSpPr>
        <p:spPr>
          <a:xfrm>
            <a:off x="6977309" y="707306"/>
            <a:ext cx="2379369" cy="369332"/>
          </a:xfrm>
          <a:prstGeom prst="rect">
            <a:avLst/>
          </a:prstGeom>
        </p:spPr>
        <p:txBody>
          <a:bodyPr wrap="none">
            <a:spAutoFit/>
          </a:bodyPr>
          <a:lstStyle/>
          <a:p>
            <a:r>
              <a:rPr lang="en-US" b="1" u="sng" dirty="0"/>
              <a:t>NN for Parameter Field</a:t>
            </a:r>
          </a:p>
        </p:txBody>
      </p:sp>
    </p:spTree>
    <p:extLst>
      <p:ext uri="{BB962C8B-B14F-4D97-AF65-F5344CB8AC3E}">
        <p14:creationId xmlns:p14="http://schemas.microsoft.com/office/powerpoint/2010/main" val="29855231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A screenshot of a video game&#10;&#10;Description automatically generated">
            <a:extLst>
              <a:ext uri="{FF2B5EF4-FFF2-40B4-BE49-F238E27FC236}">
                <a16:creationId xmlns:a16="http://schemas.microsoft.com/office/drawing/2014/main" id="{2AC4BB9B-8C9F-334A-BFD8-E45A813FD807}"/>
              </a:ext>
            </a:extLst>
          </p:cNvPr>
          <p:cNvPicPr>
            <a:picLocks noChangeAspect="1"/>
          </p:cNvPicPr>
          <p:nvPr/>
        </p:nvPicPr>
        <p:blipFill>
          <a:blip r:embed="rId3"/>
          <a:stretch>
            <a:fillRect/>
          </a:stretch>
        </p:blipFill>
        <p:spPr>
          <a:xfrm>
            <a:off x="3539129" y="512951"/>
            <a:ext cx="4634328" cy="3151343"/>
          </a:xfrm>
          <a:prstGeom prst="rect">
            <a:avLst/>
          </a:prstGeom>
        </p:spPr>
      </p:pic>
      <p:sp>
        <p:nvSpPr>
          <p:cNvPr id="7" name="Rectangle 6">
            <a:extLst>
              <a:ext uri="{FF2B5EF4-FFF2-40B4-BE49-F238E27FC236}">
                <a16:creationId xmlns:a16="http://schemas.microsoft.com/office/drawing/2014/main" id="{47BB2207-E319-4C68-89F5-BABE56735956}"/>
              </a:ext>
            </a:extLst>
          </p:cNvPr>
          <p:cNvSpPr/>
          <p:nvPr/>
        </p:nvSpPr>
        <p:spPr>
          <a:xfrm>
            <a:off x="0" y="0"/>
            <a:ext cx="12192000" cy="5762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t>Results (Fluid Mechanics)</a:t>
            </a:r>
          </a:p>
        </p:txBody>
      </p:sp>
      <p:sp>
        <p:nvSpPr>
          <p:cNvPr id="4" name="Date Placeholder 3">
            <a:extLst>
              <a:ext uri="{FF2B5EF4-FFF2-40B4-BE49-F238E27FC236}">
                <a16:creationId xmlns:a16="http://schemas.microsoft.com/office/drawing/2014/main" id="{C56C5B1D-BAE5-444D-BE0A-8DFE8943F71A}"/>
              </a:ext>
            </a:extLst>
          </p:cNvPr>
          <p:cNvSpPr>
            <a:spLocks noGrp="1"/>
          </p:cNvSpPr>
          <p:nvPr>
            <p:ph type="dt" sz="half" idx="10"/>
          </p:nvPr>
        </p:nvSpPr>
        <p:spPr/>
        <p:txBody>
          <a:bodyPr/>
          <a:lstStyle/>
          <a:p>
            <a:fld id="{DF1A2BDE-45B9-4338-A5B4-A4B361F8291C}" type="datetime1">
              <a:rPr lang="en-US" smtClean="0"/>
              <a:t>12/12/19</a:t>
            </a:fld>
            <a:endParaRPr lang="en-US" dirty="0"/>
          </a:p>
        </p:txBody>
      </p:sp>
      <p:sp>
        <p:nvSpPr>
          <p:cNvPr id="6" name="Slide Number Placeholder 5">
            <a:extLst>
              <a:ext uri="{FF2B5EF4-FFF2-40B4-BE49-F238E27FC236}">
                <a16:creationId xmlns:a16="http://schemas.microsoft.com/office/drawing/2014/main" id="{6018303F-834B-4DF5-9449-DE2539D3C3BF}"/>
              </a:ext>
            </a:extLst>
          </p:cNvPr>
          <p:cNvSpPr>
            <a:spLocks noGrp="1"/>
          </p:cNvSpPr>
          <p:nvPr>
            <p:ph type="sldNum" sz="quarter" idx="12"/>
          </p:nvPr>
        </p:nvSpPr>
        <p:spPr/>
        <p:txBody>
          <a:bodyPr/>
          <a:lstStyle/>
          <a:p>
            <a:fld id="{8EFFDE9E-9997-42E5-95F8-776DC6BFAD10}" type="slidenum">
              <a:rPr lang="en-US" smtClean="0"/>
              <a:t>6</a:t>
            </a:fld>
            <a:endParaRPr lang="en-US" dirty="0"/>
          </a:p>
        </p:txBody>
      </p:sp>
      <p:sp>
        <p:nvSpPr>
          <p:cNvPr id="10" name="Footer Placeholder 6">
            <a:extLst>
              <a:ext uri="{FF2B5EF4-FFF2-40B4-BE49-F238E27FC236}">
                <a16:creationId xmlns:a16="http://schemas.microsoft.com/office/drawing/2014/main" id="{A70489C8-E060-7149-B6D3-1FD304A0777F}"/>
              </a:ext>
            </a:extLst>
          </p:cNvPr>
          <p:cNvSpPr>
            <a:spLocks noGrp="1"/>
          </p:cNvSpPr>
          <p:nvPr>
            <p:ph type="ftr" sz="quarter" idx="11"/>
          </p:nvPr>
        </p:nvSpPr>
        <p:spPr>
          <a:xfrm>
            <a:off x="4038600" y="6356350"/>
            <a:ext cx="4114800" cy="365125"/>
          </a:xfrm>
        </p:spPr>
        <p:txBody>
          <a:bodyPr/>
          <a:lstStyle/>
          <a:p>
            <a:r>
              <a:rPr lang="en-US" dirty="0"/>
              <a:t>2019 Deep Learning Final Presentation</a:t>
            </a:r>
          </a:p>
        </p:txBody>
      </p:sp>
      <p:pic>
        <p:nvPicPr>
          <p:cNvPr id="3" name="Picture 2" descr="A screenshot of a computer&#10;&#10;Description automatically generated">
            <a:extLst>
              <a:ext uri="{FF2B5EF4-FFF2-40B4-BE49-F238E27FC236}">
                <a16:creationId xmlns:a16="http://schemas.microsoft.com/office/drawing/2014/main" id="{F2D53DD2-12CD-8A42-9BE6-5B3F5C0E3C75}"/>
              </a:ext>
            </a:extLst>
          </p:cNvPr>
          <p:cNvPicPr>
            <a:picLocks noChangeAspect="1"/>
          </p:cNvPicPr>
          <p:nvPr/>
        </p:nvPicPr>
        <p:blipFill>
          <a:blip r:embed="rId4"/>
          <a:stretch>
            <a:fillRect/>
          </a:stretch>
        </p:blipFill>
        <p:spPr>
          <a:xfrm>
            <a:off x="-192188" y="3221524"/>
            <a:ext cx="4634325" cy="3151342"/>
          </a:xfrm>
          <a:prstGeom prst="rect">
            <a:avLst/>
          </a:prstGeom>
        </p:spPr>
      </p:pic>
      <p:pic>
        <p:nvPicPr>
          <p:cNvPr id="5" name="Picture 4" descr="A screenshot of a cell phone&#10;&#10;Description automatically generated">
            <a:extLst>
              <a:ext uri="{FF2B5EF4-FFF2-40B4-BE49-F238E27FC236}">
                <a16:creationId xmlns:a16="http://schemas.microsoft.com/office/drawing/2014/main" id="{565ED2F0-EA52-7142-9219-072D49328ED7}"/>
              </a:ext>
            </a:extLst>
          </p:cNvPr>
          <p:cNvPicPr>
            <a:picLocks noChangeAspect="1"/>
          </p:cNvPicPr>
          <p:nvPr/>
        </p:nvPicPr>
        <p:blipFill>
          <a:blip r:embed="rId5"/>
          <a:stretch>
            <a:fillRect/>
          </a:stretch>
        </p:blipFill>
        <p:spPr>
          <a:xfrm>
            <a:off x="460043" y="787217"/>
            <a:ext cx="3373409" cy="2499389"/>
          </a:xfrm>
          <a:prstGeom prst="rect">
            <a:avLst/>
          </a:prstGeom>
        </p:spPr>
      </p:pic>
      <p:pic>
        <p:nvPicPr>
          <p:cNvPr id="12" name="Picture 11" descr="A close up of a map&#10;&#10;Description automatically generated">
            <a:extLst>
              <a:ext uri="{FF2B5EF4-FFF2-40B4-BE49-F238E27FC236}">
                <a16:creationId xmlns:a16="http://schemas.microsoft.com/office/drawing/2014/main" id="{29E17A98-90E7-EB42-B84B-C53D5157ACD4}"/>
              </a:ext>
            </a:extLst>
          </p:cNvPr>
          <p:cNvPicPr>
            <a:picLocks noChangeAspect="1"/>
          </p:cNvPicPr>
          <p:nvPr/>
        </p:nvPicPr>
        <p:blipFill>
          <a:blip r:embed="rId6"/>
          <a:stretch>
            <a:fillRect/>
          </a:stretch>
        </p:blipFill>
        <p:spPr>
          <a:xfrm>
            <a:off x="3791863" y="3403596"/>
            <a:ext cx="3846443" cy="2884832"/>
          </a:xfrm>
          <a:prstGeom prst="rect">
            <a:avLst/>
          </a:prstGeom>
        </p:spPr>
      </p:pic>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691D7B37-C35C-7041-8398-FD4C6E0DD4C1}"/>
                  </a:ext>
                </a:extLst>
              </p:cNvPr>
              <p:cNvSpPr/>
              <p:nvPr/>
            </p:nvSpPr>
            <p:spPr>
              <a:xfrm>
                <a:off x="7811604" y="2194924"/>
                <a:ext cx="4279313" cy="66588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r>
                            <a:rPr lang="en-US" i="1" smtClean="0">
                              <a:latin typeface="Cambria Math" panose="02040503050406030204" pitchFamily="18" charset="0"/>
                              <a:ea typeface="Cambria Math" panose="02040503050406030204" pitchFamily="18" charset="0"/>
                            </a:rPr>
                            <m:t>𝜕𝜙</m:t>
                          </m:r>
                        </m:num>
                        <m:den>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𝑡</m:t>
                          </m:r>
                        </m:den>
                      </m:f>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𝑢</m:t>
                          </m:r>
                          <m:r>
                            <a:rPr lang="en-US" b="0" i="1" smtClean="0">
                              <a:latin typeface="Cambria Math" panose="02040503050406030204" pitchFamily="18" charset="0"/>
                              <a:ea typeface="Cambria Math" panose="02040503050406030204" pitchFamily="18" charset="0"/>
                            </a:rPr>
                            <m:t>∙</m:t>
                          </m:r>
                          <m:r>
                            <m:rPr>
                              <m:sty m:val="p"/>
                            </m:rPr>
                            <a:rPr lang="en-US" b="0" i="1" smtClean="0">
                              <a:latin typeface="Cambria Math" panose="02040503050406030204" pitchFamily="18" charset="0"/>
                              <a:ea typeface="Cambria Math" panose="02040503050406030204" pitchFamily="18" charset="0"/>
                            </a:rPr>
                            <m:t>∇</m:t>
                          </m:r>
                        </m:e>
                      </m:d>
                      <m:r>
                        <a:rPr lang="en-US" b="0" i="1" smtClean="0">
                          <a:latin typeface="Cambria Math" panose="02040503050406030204" pitchFamily="18" charset="0"/>
                          <a:ea typeface="Cambria Math" panose="02040503050406030204" pitchFamily="18" charset="0"/>
                        </a:rPr>
                        <m:t>𝜙</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𝛾</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𝜙</m:t>
                      </m:r>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1</m:t>
                          </m:r>
                        </m:num>
                        <m:den>
                          <m:r>
                            <a:rPr lang="en-US" b="0" i="1" smtClean="0">
                              <a:latin typeface="Cambria Math" panose="02040503050406030204" pitchFamily="18" charset="0"/>
                              <a:ea typeface="Cambria Math" panose="02040503050406030204" pitchFamily="18" charset="0"/>
                            </a:rPr>
                            <m:t>2</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𝜂</m:t>
                              </m:r>
                            </m:e>
                            <m:sup>
                              <m:r>
                                <a:rPr lang="en-US" b="0" i="1" smtClean="0">
                                  <a:latin typeface="Cambria Math" panose="02040503050406030204" pitchFamily="18" charset="0"/>
                                  <a:ea typeface="Cambria Math" panose="02040503050406030204" pitchFamily="18" charset="0"/>
                                </a:rPr>
                                <m:t>2</m:t>
                              </m:r>
                            </m:sup>
                          </m:sSup>
                        </m:den>
                      </m:f>
                      <m:r>
                        <a:rPr lang="en-US" b="0" i="1" smtClean="0">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𝜙</m:t>
                          </m:r>
                        </m:e>
                        <m:sup>
                          <m:r>
                            <a:rPr lang="en-US" b="0" i="1" smtClean="0">
                              <a:latin typeface="Cambria Math" panose="02040503050406030204" pitchFamily="18" charset="0"/>
                              <a:ea typeface="Cambria Math" panose="02040503050406030204" pitchFamily="18" charset="0"/>
                            </a:rPr>
                            <m:t>3</m:t>
                          </m:r>
                        </m:sup>
                      </m:sSup>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𝜙</m:t>
                      </m:r>
                      <m:r>
                        <a:rPr lang="en-US" b="0" i="1" smtClean="0">
                          <a:latin typeface="Cambria Math" panose="02040503050406030204" pitchFamily="18" charset="0"/>
                          <a:ea typeface="Cambria Math" panose="02040503050406030204" pitchFamily="18" charset="0"/>
                        </a:rPr>
                        <m:t>))</m:t>
                      </m:r>
                    </m:oMath>
                  </m:oMathPara>
                </a14:m>
                <a:endParaRPr lang="en-US" dirty="0"/>
              </a:p>
            </p:txBody>
          </p:sp>
        </mc:Choice>
        <mc:Fallback xmlns="">
          <p:sp>
            <p:nvSpPr>
              <p:cNvPr id="15" name="Rectangle 14">
                <a:extLst>
                  <a:ext uri="{FF2B5EF4-FFF2-40B4-BE49-F238E27FC236}">
                    <a16:creationId xmlns:a16="http://schemas.microsoft.com/office/drawing/2014/main" id="{691D7B37-C35C-7041-8398-FD4C6E0DD4C1}"/>
                  </a:ext>
                </a:extLst>
              </p:cNvPr>
              <p:cNvSpPr>
                <a:spLocks noRot="1" noChangeAspect="1" noMove="1" noResize="1" noEditPoints="1" noAdjustHandles="1" noChangeArrowheads="1" noChangeShapeType="1" noTextEdit="1"/>
              </p:cNvSpPr>
              <p:nvPr/>
            </p:nvSpPr>
            <p:spPr>
              <a:xfrm>
                <a:off x="7811604" y="2194924"/>
                <a:ext cx="4279313" cy="665888"/>
              </a:xfrm>
              <a:prstGeom prst="rect">
                <a:avLst/>
              </a:prstGeom>
              <a:blipFill>
                <a:blip r:embed="rId7"/>
                <a:stretch>
                  <a:fillRect b="-566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3631D172-6529-F74B-A9AC-37D2C55FA429}"/>
                  </a:ext>
                </a:extLst>
              </p:cNvPr>
              <p:cNvSpPr txBox="1"/>
              <p:nvPr/>
            </p:nvSpPr>
            <p:spPr>
              <a:xfrm>
                <a:off x="7842543" y="946483"/>
                <a:ext cx="4217437" cy="53258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𝜌</m:t>
                      </m:r>
                      <m:d>
                        <m:dPr>
                          <m:ctrlPr>
                            <a:rPr lang="en-US" b="0" i="1" smtClean="0">
                              <a:latin typeface="Cambria Math" panose="02040503050406030204" pitchFamily="18" charset="0"/>
                              <a:ea typeface="Cambria Math" panose="02040503050406030204" pitchFamily="18" charset="0"/>
                            </a:rPr>
                          </m:ctrlPr>
                        </m:dPr>
                        <m:e>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𝑢</m:t>
                              </m:r>
                            </m:num>
                            <m:den>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𝑡</m:t>
                              </m:r>
                            </m:den>
                          </m:f>
                          <m:r>
                            <a:rPr lang="en-US" b="0" i="1" smtClean="0">
                              <a:latin typeface="Cambria Math" panose="02040503050406030204" pitchFamily="18" charset="0"/>
                              <a:ea typeface="Cambria Math" panose="02040503050406030204" pitchFamily="18" charset="0"/>
                            </a:rPr>
                            <m:t>+</m:t>
                          </m:r>
                          <m:d>
                            <m:dPr>
                              <m:ctrlPr>
                                <a:rPr lang="en-US" i="1">
                                  <a:latin typeface="Cambria Math" panose="02040503050406030204" pitchFamily="18" charset="0"/>
                                </a:rPr>
                              </m:ctrlPr>
                            </m:dPr>
                            <m:e>
                              <m:r>
                                <a:rPr lang="en-US" i="1">
                                  <a:latin typeface="Cambria Math" panose="02040503050406030204" pitchFamily="18" charset="0"/>
                                </a:rPr>
                                <m:t>𝑢</m:t>
                              </m:r>
                              <m:r>
                                <a:rPr lang="en-US" i="1">
                                  <a:latin typeface="Cambria Math" panose="02040503050406030204" pitchFamily="18" charset="0"/>
                                  <a:ea typeface="Cambria Math" panose="02040503050406030204" pitchFamily="18" charset="0"/>
                                </a:rPr>
                                <m:t>∙</m:t>
                              </m:r>
                              <m:r>
                                <m:rPr>
                                  <m:sty m:val="p"/>
                                </m:rPr>
                                <a:rPr lang="en-US" i="1">
                                  <a:latin typeface="Cambria Math" panose="02040503050406030204" pitchFamily="18" charset="0"/>
                                  <a:ea typeface="Cambria Math" panose="02040503050406030204" pitchFamily="18" charset="0"/>
                                </a:rPr>
                                <m:t>∇</m:t>
                              </m:r>
                            </m:e>
                          </m:d>
                          <m:r>
                            <a:rPr lang="en-US" b="0" i="1" smtClean="0">
                              <a:latin typeface="Cambria Math" panose="02040503050406030204" pitchFamily="18" charset="0"/>
                              <a:ea typeface="Cambria Math" panose="02040503050406030204" pitchFamily="18" charset="0"/>
                            </a:rPr>
                            <m:t>𝑢</m:t>
                          </m:r>
                        </m:e>
                      </m:d>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𝜇</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𝑢</m:t>
                          </m:r>
                        </m:e>
                      </m:d>
                      <m:r>
                        <a:rPr lang="en-US" b="0" i="1" smtClean="0">
                          <a:latin typeface="Cambria Math" panose="02040503050406030204" pitchFamily="18" charset="0"/>
                          <a:ea typeface="Cambria Math" panose="02040503050406030204" pitchFamily="18" charset="0"/>
                        </a:rPr>
                        <m:t>−</m:t>
                      </m:r>
                      <m:r>
                        <m:rPr>
                          <m:sty m:val="p"/>
                        </m:rP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𝑝</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𝜆</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𝜙</m:t>
                      </m:r>
                      <m:r>
                        <m:rPr>
                          <m:sty m:val="p"/>
                        </m:rP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𝜙</m:t>
                      </m:r>
                    </m:oMath>
                  </m:oMathPara>
                </a14:m>
                <a:endParaRPr lang="en-US" dirty="0"/>
              </a:p>
            </p:txBody>
          </p:sp>
        </mc:Choice>
        <mc:Fallback xmlns="">
          <p:sp>
            <p:nvSpPr>
              <p:cNvPr id="16" name="TextBox 15">
                <a:extLst>
                  <a:ext uri="{FF2B5EF4-FFF2-40B4-BE49-F238E27FC236}">
                    <a16:creationId xmlns:a16="http://schemas.microsoft.com/office/drawing/2014/main" id="{3631D172-6529-F74B-A9AC-37D2C55FA429}"/>
                  </a:ext>
                </a:extLst>
              </p:cNvPr>
              <p:cNvSpPr txBox="1">
                <a:spLocks noRot="1" noChangeAspect="1" noMove="1" noResize="1" noEditPoints="1" noAdjustHandles="1" noChangeArrowheads="1" noChangeShapeType="1" noTextEdit="1"/>
              </p:cNvSpPr>
              <p:nvPr/>
            </p:nvSpPr>
            <p:spPr>
              <a:xfrm>
                <a:off x="7842543" y="946483"/>
                <a:ext cx="4217437" cy="532582"/>
              </a:xfrm>
              <a:prstGeom prst="rect">
                <a:avLst/>
              </a:prstGeom>
              <a:blipFill>
                <a:blip r:embed="rId8"/>
                <a:stretch>
                  <a:fillRect l="-901" t="-2381" r="-901" b="-142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D0D85AE9-4F38-9D45-94C0-74F1D147C3AE}"/>
                  </a:ext>
                </a:extLst>
              </p:cNvPr>
              <p:cNvSpPr txBox="1"/>
              <p:nvPr/>
            </p:nvSpPr>
            <p:spPr>
              <a:xfrm>
                <a:off x="7917554" y="1706587"/>
                <a:ext cx="92756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i="1" smtClean="0">
                          <a:latin typeface="Cambria Math" panose="02040503050406030204" pitchFamily="18" charset="0"/>
                          <a:ea typeface="Cambria Math" panose="02040503050406030204" pitchFamily="18" charset="0"/>
                        </a:rPr>
                        <m:t>∇</m:t>
                      </m:r>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𝑢</m:t>
                      </m:r>
                      <m:r>
                        <a:rPr lang="en-US" b="0" i="1" smtClean="0">
                          <a:latin typeface="Cambria Math" panose="02040503050406030204" pitchFamily="18" charset="0"/>
                          <a:ea typeface="Cambria Math" panose="02040503050406030204" pitchFamily="18" charset="0"/>
                        </a:rPr>
                        <m:t>=0</m:t>
                      </m:r>
                    </m:oMath>
                  </m:oMathPara>
                </a14:m>
                <a:endParaRPr lang="en-US" dirty="0"/>
              </a:p>
            </p:txBody>
          </p:sp>
        </mc:Choice>
        <mc:Fallback xmlns="">
          <p:sp>
            <p:nvSpPr>
              <p:cNvPr id="17" name="TextBox 16">
                <a:extLst>
                  <a:ext uri="{FF2B5EF4-FFF2-40B4-BE49-F238E27FC236}">
                    <a16:creationId xmlns:a16="http://schemas.microsoft.com/office/drawing/2014/main" id="{D0D85AE9-4F38-9D45-94C0-74F1D147C3AE}"/>
                  </a:ext>
                </a:extLst>
              </p:cNvPr>
              <p:cNvSpPr txBox="1">
                <a:spLocks noRot="1" noChangeAspect="1" noMove="1" noResize="1" noEditPoints="1" noAdjustHandles="1" noChangeArrowheads="1" noChangeShapeType="1" noTextEdit="1"/>
              </p:cNvSpPr>
              <p:nvPr/>
            </p:nvSpPr>
            <p:spPr>
              <a:xfrm>
                <a:off x="7917554" y="1706587"/>
                <a:ext cx="927562" cy="276999"/>
              </a:xfrm>
              <a:prstGeom prst="rect">
                <a:avLst/>
              </a:prstGeom>
              <a:blipFill>
                <a:blip r:embed="rId9"/>
                <a:stretch>
                  <a:fillRect l="-4054" r="-5405" b="-4348"/>
                </a:stretch>
              </a:blipFill>
            </p:spPr>
            <p:txBody>
              <a:bodyPr/>
              <a:lstStyle/>
              <a:p>
                <a:r>
                  <a:rPr lang="en-US">
                    <a:noFill/>
                  </a:rPr>
                  <a:t> </a:t>
                </a:r>
              </a:p>
            </p:txBody>
          </p:sp>
        </mc:Fallback>
      </mc:AlternateContent>
      <p:sp>
        <p:nvSpPr>
          <p:cNvPr id="18" name="Left Brace 17">
            <a:extLst>
              <a:ext uri="{FF2B5EF4-FFF2-40B4-BE49-F238E27FC236}">
                <a16:creationId xmlns:a16="http://schemas.microsoft.com/office/drawing/2014/main" id="{D872F5A4-BDA7-DF49-84A6-726523576DA2}"/>
              </a:ext>
            </a:extLst>
          </p:cNvPr>
          <p:cNvSpPr/>
          <p:nvPr/>
        </p:nvSpPr>
        <p:spPr>
          <a:xfrm>
            <a:off x="7433917" y="969722"/>
            <a:ext cx="377687" cy="1914329"/>
          </a:xfrm>
          <a:prstGeom prst="lef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9" name="TextBox 18">
            <a:extLst>
              <a:ext uri="{FF2B5EF4-FFF2-40B4-BE49-F238E27FC236}">
                <a16:creationId xmlns:a16="http://schemas.microsoft.com/office/drawing/2014/main" id="{9CC7C460-0549-714A-967D-DA58ACBBF20D}"/>
              </a:ext>
            </a:extLst>
          </p:cNvPr>
          <p:cNvSpPr txBox="1"/>
          <p:nvPr/>
        </p:nvSpPr>
        <p:spPr>
          <a:xfrm>
            <a:off x="7755333" y="3631746"/>
            <a:ext cx="3758525" cy="2554545"/>
          </a:xfrm>
          <a:prstGeom prst="rect">
            <a:avLst/>
          </a:prstGeom>
          <a:noFill/>
          <a:ln w="25400">
            <a:solidFill>
              <a:schemeClr val="tx1"/>
            </a:solidFill>
          </a:ln>
        </p:spPr>
        <p:txBody>
          <a:bodyPr wrap="square" rtlCol="0">
            <a:spAutoFit/>
          </a:bodyPr>
          <a:lstStyle/>
          <a:p>
            <a:r>
              <a:rPr lang="en-US" sz="1600" dirty="0"/>
              <a:t>Discussion:</a:t>
            </a:r>
          </a:p>
          <a:p>
            <a:endParaRPr lang="en-US" sz="1600" dirty="0"/>
          </a:p>
          <a:p>
            <a:pPr marL="285750" indent="-285750">
              <a:buFont typeface="Arial" panose="020B0604020202020204" pitchFamily="34" charset="0"/>
              <a:buChar char="•"/>
            </a:pPr>
            <a:r>
              <a:rPr lang="en-US" sz="1600" dirty="0"/>
              <a:t>Noticed large error for v=5</a:t>
            </a:r>
          </a:p>
          <a:p>
            <a:endParaRPr lang="en-US" sz="1600" dirty="0"/>
          </a:p>
          <a:p>
            <a:pPr marL="285750" indent="-285750">
              <a:buFont typeface="Arial" panose="020B0604020202020204" pitchFamily="34" charset="0"/>
              <a:buChar char="•"/>
            </a:pPr>
            <a:r>
              <a:rPr lang="en-US" sz="1600" dirty="0"/>
              <a:t>This might be caused by limited training point and numerical dissipation</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Possible solution: add more data, or adapted to discretized PINNs</a:t>
            </a:r>
          </a:p>
          <a:p>
            <a:pPr marL="285750" indent="-285750">
              <a:buFont typeface="Arial" panose="020B0604020202020204" pitchFamily="34" charset="0"/>
              <a:buChar char="•"/>
            </a:pPr>
            <a:endParaRPr lang="en-US" sz="1600" dirty="0"/>
          </a:p>
        </p:txBody>
      </p:sp>
      <p:grpSp>
        <p:nvGrpSpPr>
          <p:cNvPr id="2" name="Group 1">
            <a:extLst>
              <a:ext uri="{FF2B5EF4-FFF2-40B4-BE49-F238E27FC236}">
                <a16:creationId xmlns:a16="http://schemas.microsoft.com/office/drawing/2014/main" id="{DF406B9E-2B46-C74E-8741-2780B1701360}"/>
              </a:ext>
            </a:extLst>
          </p:cNvPr>
          <p:cNvGrpSpPr/>
          <p:nvPr/>
        </p:nvGrpSpPr>
        <p:grpSpPr>
          <a:xfrm>
            <a:off x="195641" y="826813"/>
            <a:ext cx="288862" cy="2286000"/>
            <a:chOff x="-60262" y="755374"/>
            <a:chExt cx="288862" cy="2286000"/>
          </a:xfrm>
        </p:grpSpPr>
        <p:cxnSp>
          <p:nvCxnSpPr>
            <p:cNvPr id="25" name="Straight Arrow Connector 24">
              <a:extLst>
                <a:ext uri="{FF2B5EF4-FFF2-40B4-BE49-F238E27FC236}">
                  <a16:creationId xmlns:a16="http://schemas.microsoft.com/office/drawing/2014/main" id="{6B252144-582E-A84F-AF7D-E07780C110D1}"/>
                </a:ext>
              </a:extLst>
            </p:cNvPr>
            <p:cNvCxnSpPr/>
            <p:nvPr/>
          </p:nvCxnSpPr>
          <p:spPr>
            <a:xfrm>
              <a:off x="0" y="755374"/>
              <a:ext cx="2286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BE99B96D-7273-EF48-BDB7-D206FEA98CDC}"/>
                </a:ext>
              </a:extLst>
            </p:cNvPr>
            <p:cNvCxnSpPr/>
            <p:nvPr/>
          </p:nvCxnSpPr>
          <p:spPr>
            <a:xfrm>
              <a:off x="0" y="907774"/>
              <a:ext cx="2286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6514B7C3-C97F-384B-A005-1161004B8CF3}"/>
                </a:ext>
              </a:extLst>
            </p:cNvPr>
            <p:cNvCxnSpPr/>
            <p:nvPr/>
          </p:nvCxnSpPr>
          <p:spPr>
            <a:xfrm>
              <a:off x="0" y="1060174"/>
              <a:ext cx="2286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CE344D3B-1347-9F45-BD7B-234A7D1AE9AE}"/>
                </a:ext>
              </a:extLst>
            </p:cNvPr>
            <p:cNvCxnSpPr/>
            <p:nvPr/>
          </p:nvCxnSpPr>
          <p:spPr>
            <a:xfrm>
              <a:off x="0" y="1212574"/>
              <a:ext cx="2286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E0207330-4E9F-1A46-A944-8969B2097632}"/>
                </a:ext>
              </a:extLst>
            </p:cNvPr>
            <p:cNvCxnSpPr/>
            <p:nvPr/>
          </p:nvCxnSpPr>
          <p:spPr>
            <a:xfrm>
              <a:off x="0" y="1364974"/>
              <a:ext cx="2286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513CE016-28F3-DC42-B38C-048FE634D242}"/>
                </a:ext>
              </a:extLst>
            </p:cNvPr>
            <p:cNvCxnSpPr/>
            <p:nvPr/>
          </p:nvCxnSpPr>
          <p:spPr>
            <a:xfrm>
              <a:off x="0" y="1517374"/>
              <a:ext cx="2286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2CED6BFB-6FB7-BF4D-9C0F-549DAC34E305}"/>
                </a:ext>
              </a:extLst>
            </p:cNvPr>
            <p:cNvCxnSpPr/>
            <p:nvPr/>
          </p:nvCxnSpPr>
          <p:spPr>
            <a:xfrm>
              <a:off x="0" y="1669774"/>
              <a:ext cx="2286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149C4983-1B94-D445-8273-39DDAC9FBDAD}"/>
                </a:ext>
              </a:extLst>
            </p:cNvPr>
            <p:cNvCxnSpPr/>
            <p:nvPr/>
          </p:nvCxnSpPr>
          <p:spPr>
            <a:xfrm>
              <a:off x="0" y="1822174"/>
              <a:ext cx="2286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0DA5271A-2F81-B34B-AB93-B7DC8CA23A4C}"/>
                </a:ext>
              </a:extLst>
            </p:cNvPr>
            <p:cNvCxnSpPr/>
            <p:nvPr/>
          </p:nvCxnSpPr>
          <p:spPr>
            <a:xfrm>
              <a:off x="0" y="1974574"/>
              <a:ext cx="2286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58889E79-C1D6-4742-B32B-59ED66A13EC7}"/>
                </a:ext>
              </a:extLst>
            </p:cNvPr>
            <p:cNvCxnSpPr/>
            <p:nvPr/>
          </p:nvCxnSpPr>
          <p:spPr>
            <a:xfrm>
              <a:off x="0" y="2126974"/>
              <a:ext cx="2286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543051EA-4BE4-6C47-A21E-AB748FC9BEB9}"/>
                </a:ext>
              </a:extLst>
            </p:cNvPr>
            <p:cNvCxnSpPr/>
            <p:nvPr/>
          </p:nvCxnSpPr>
          <p:spPr>
            <a:xfrm>
              <a:off x="0" y="2279374"/>
              <a:ext cx="2286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13FFAD94-6B3B-1F45-898B-4324CD7E91C8}"/>
                </a:ext>
              </a:extLst>
            </p:cNvPr>
            <p:cNvCxnSpPr/>
            <p:nvPr/>
          </p:nvCxnSpPr>
          <p:spPr>
            <a:xfrm>
              <a:off x="0" y="2431774"/>
              <a:ext cx="2286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24468C84-CECD-6C49-BE0F-0B88098003BC}"/>
                </a:ext>
              </a:extLst>
            </p:cNvPr>
            <p:cNvCxnSpPr/>
            <p:nvPr/>
          </p:nvCxnSpPr>
          <p:spPr>
            <a:xfrm>
              <a:off x="0" y="2584174"/>
              <a:ext cx="2286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024AA4B1-4711-2546-A347-517E0CD6C0EB}"/>
                </a:ext>
              </a:extLst>
            </p:cNvPr>
            <p:cNvCxnSpPr/>
            <p:nvPr/>
          </p:nvCxnSpPr>
          <p:spPr>
            <a:xfrm>
              <a:off x="0" y="2736574"/>
              <a:ext cx="2286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2421CC4A-7320-6349-9EFF-0C1AF66F1BEF}"/>
                </a:ext>
              </a:extLst>
            </p:cNvPr>
            <p:cNvCxnSpPr/>
            <p:nvPr/>
          </p:nvCxnSpPr>
          <p:spPr>
            <a:xfrm>
              <a:off x="0" y="2888974"/>
              <a:ext cx="2286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0A209C19-2C64-5744-89E7-384EB21A6D12}"/>
                </a:ext>
              </a:extLst>
            </p:cNvPr>
            <p:cNvCxnSpPr/>
            <p:nvPr/>
          </p:nvCxnSpPr>
          <p:spPr>
            <a:xfrm>
              <a:off x="0" y="3041374"/>
              <a:ext cx="2286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900DE224-A069-CF47-AEFB-7E8EB5B1C9EF}"/>
                </a:ext>
              </a:extLst>
            </p:cNvPr>
            <p:cNvSpPr txBox="1"/>
            <p:nvPr/>
          </p:nvSpPr>
          <p:spPr>
            <a:xfrm>
              <a:off x="-60262" y="1569890"/>
              <a:ext cx="288862" cy="369332"/>
            </a:xfrm>
            <a:prstGeom prst="rect">
              <a:avLst/>
            </a:prstGeom>
            <a:noFill/>
          </p:spPr>
          <p:txBody>
            <a:bodyPr wrap="none" rtlCol="0">
              <a:spAutoFit/>
            </a:bodyPr>
            <a:lstStyle/>
            <a:p>
              <a:r>
                <a:rPr lang="en-US" dirty="0"/>
                <a:t>v</a:t>
              </a:r>
            </a:p>
          </p:txBody>
        </p:sp>
      </p:grpSp>
      <p:sp>
        <p:nvSpPr>
          <p:cNvPr id="42" name="TextBox 41">
            <a:extLst>
              <a:ext uri="{FF2B5EF4-FFF2-40B4-BE49-F238E27FC236}">
                <a16:creationId xmlns:a16="http://schemas.microsoft.com/office/drawing/2014/main" id="{06EA2C8A-8164-0F41-B9C6-CED2E844566E}"/>
              </a:ext>
            </a:extLst>
          </p:cNvPr>
          <p:cNvSpPr txBox="1"/>
          <p:nvPr/>
        </p:nvSpPr>
        <p:spPr>
          <a:xfrm>
            <a:off x="1497881" y="538624"/>
            <a:ext cx="801823" cy="369332"/>
          </a:xfrm>
          <a:prstGeom prst="rect">
            <a:avLst/>
          </a:prstGeom>
          <a:noFill/>
        </p:spPr>
        <p:txBody>
          <a:bodyPr wrap="none" rtlCol="0">
            <a:spAutoFit/>
          </a:bodyPr>
          <a:lstStyle/>
          <a:p>
            <a:r>
              <a:rPr lang="en-US" dirty="0"/>
              <a:t>v = 0.1</a:t>
            </a:r>
          </a:p>
        </p:txBody>
      </p:sp>
      <p:sp>
        <p:nvSpPr>
          <p:cNvPr id="43" name="TextBox 42">
            <a:extLst>
              <a:ext uri="{FF2B5EF4-FFF2-40B4-BE49-F238E27FC236}">
                <a16:creationId xmlns:a16="http://schemas.microsoft.com/office/drawing/2014/main" id="{C4098D32-99B3-0943-8831-587419465F40}"/>
              </a:ext>
            </a:extLst>
          </p:cNvPr>
          <p:cNvSpPr txBox="1"/>
          <p:nvPr/>
        </p:nvSpPr>
        <p:spPr>
          <a:xfrm>
            <a:off x="1497880" y="3294203"/>
            <a:ext cx="627095" cy="369332"/>
          </a:xfrm>
          <a:prstGeom prst="rect">
            <a:avLst/>
          </a:prstGeom>
          <a:noFill/>
        </p:spPr>
        <p:txBody>
          <a:bodyPr wrap="none" rtlCol="0">
            <a:spAutoFit/>
          </a:bodyPr>
          <a:lstStyle/>
          <a:p>
            <a:r>
              <a:rPr lang="en-US" dirty="0"/>
              <a:t>v = 1</a:t>
            </a:r>
          </a:p>
        </p:txBody>
      </p:sp>
      <p:sp>
        <p:nvSpPr>
          <p:cNvPr id="44" name="TextBox 43">
            <a:extLst>
              <a:ext uri="{FF2B5EF4-FFF2-40B4-BE49-F238E27FC236}">
                <a16:creationId xmlns:a16="http://schemas.microsoft.com/office/drawing/2014/main" id="{F932F345-1171-3C4A-9DE6-EBF43BDCF3A0}"/>
              </a:ext>
            </a:extLst>
          </p:cNvPr>
          <p:cNvSpPr txBox="1"/>
          <p:nvPr/>
        </p:nvSpPr>
        <p:spPr>
          <a:xfrm>
            <a:off x="5373448" y="572029"/>
            <a:ext cx="627095" cy="369332"/>
          </a:xfrm>
          <a:prstGeom prst="rect">
            <a:avLst/>
          </a:prstGeom>
          <a:noFill/>
        </p:spPr>
        <p:txBody>
          <a:bodyPr wrap="none" rtlCol="0">
            <a:spAutoFit/>
          </a:bodyPr>
          <a:lstStyle/>
          <a:p>
            <a:r>
              <a:rPr lang="en-US" dirty="0"/>
              <a:t>v = 5</a:t>
            </a:r>
          </a:p>
        </p:txBody>
      </p:sp>
    </p:spTree>
    <p:extLst>
      <p:ext uri="{BB962C8B-B14F-4D97-AF65-F5344CB8AC3E}">
        <p14:creationId xmlns:p14="http://schemas.microsoft.com/office/powerpoint/2010/main" val="18352712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7BB2207-E319-4C68-89F5-BABE56735956}"/>
              </a:ext>
            </a:extLst>
          </p:cNvPr>
          <p:cNvSpPr/>
          <p:nvPr/>
        </p:nvSpPr>
        <p:spPr>
          <a:xfrm>
            <a:off x="0" y="0"/>
            <a:ext cx="12192000" cy="5762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t>Results (Solid Mechanics)</a:t>
            </a:r>
          </a:p>
        </p:txBody>
      </p:sp>
      <p:sp>
        <p:nvSpPr>
          <p:cNvPr id="4" name="Date Placeholder 3">
            <a:extLst>
              <a:ext uri="{FF2B5EF4-FFF2-40B4-BE49-F238E27FC236}">
                <a16:creationId xmlns:a16="http://schemas.microsoft.com/office/drawing/2014/main" id="{C56C5B1D-BAE5-444D-BE0A-8DFE8943F71A}"/>
              </a:ext>
            </a:extLst>
          </p:cNvPr>
          <p:cNvSpPr>
            <a:spLocks noGrp="1"/>
          </p:cNvSpPr>
          <p:nvPr>
            <p:ph type="dt" sz="half" idx="10"/>
          </p:nvPr>
        </p:nvSpPr>
        <p:spPr/>
        <p:txBody>
          <a:bodyPr/>
          <a:lstStyle/>
          <a:p>
            <a:fld id="{DF1A2BDE-45B9-4338-A5B4-A4B361F8291C}" type="datetime1">
              <a:rPr lang="en-US" smtClean="0"/>
              <a:t>12/12/19</a:t>
            </a:fld>
            <a:endParaRPr lang="en-US" dirty="0"/>
          </a:p>
        </p:txBody>
      </p:sp>
      <p:sp>
        <p:nvSpPr>
          <p:cNvPr id="6" name="Slide Number Placeholder 5">
            <a:extLst>
              <a:ext uri="{FF2B5EF4-FFF2-40B4-BE49-F238E27FC236}">
                <a16:creationId xmlns:a16="http://schemas.microsoft.com/office/drawing/2014/main" id="{6018303F-834B-4DF5-9449-DE2539D3C3BF}"/>
              </a:ext>
            </a:extLst>
          </p:cNvPr>
          <p:cNvSpPr>
            <a:spLocks noGrp="1"/>
          </p:cNvSpPr>
          <p:nvPr>
            <p:ph type="sldNum" sz="quarter" idx="12"/>
          </p:nvPr>
        </p:nvSpPr>
        <p:spPr/>
        <p:txBody>
          <a:bodyPr/>
          <a:lstStyle/>
          <a:p>
            <a:fld id="{8EFFDE9E-9997-42E5-95F8-776DC6BFAD10}" type="slidenum">
              <a:rPr lang="en-US" smtClean="0"/>
              <a:t>7</a:t>
            </a:fld>
            <a:endParaRPr lang="en-US" dirty="0"/>
          </a:p>
        </p:txBody>
      </p:sp>
      <p:sp>
        <p:nvSpPr>
          <p:cNvPr id="10" name="Footer Placeholder 6">
            <a:extLst>
              <a:ext uri="{FF2B5EF4-FFF2-40B4-BE49-F238E27FC236}">
                <a16:creationId xmlns:a16="http://schemas.microsoft.com/office/drawing/2014/main" id="{A70489C8-E060-7149-B6D3-1FD304A0777F}"/>
              </a:ext>
            </a:extLst>
          </p:cNvPr>
          <p:cNvSpPr>
            <a:spLocks noGrp="1"/>
          </p:cNvSpPr>
          <p:nvPr>
            <p:ph type="ftr" sz="quarter" idx="11"/>
          </p:nvPr>
        </p:nvSpPr>
        <p:spPr>
          <a:xfrm>
            <a:off x="4038600" y="6356350"/>
            <a:ext cx="4114800" cy="365125"/>
          </a:xfrm>
        </p:spPr>
        <p:txBody>
          <a:bodyPr/>
          <a:lstStyle/>
          <a:p>
            <a:r>
              <a:rPr lang="en-US" dirty="0"/>
              <a:t>2019 Deep Learning Final Presentation</a:t>
            </a:r>
          </a:p>
        </p:txBody>
      </p:sp>
      <p:grpSp>
        <p:nvGrpSpPr>
          <p:cNvPr id="18" name="Group 17">
            <a:extLst>
              <a:ext uri="{FF2B5EF4-FFF2-40B4-BE49-F238E27FC236}">
                <a16:creationId xmlns:a16="http://schemas.microsoft.com/office/drawing/2014/main" id="{FBC5061F-C2AB-A842-A7AC-080B529DCB47}"/>
              </a:ext>
            </a:extLst>
          </p:cNvPr>
          <p:cNvGrpSpPr/>
          <p:nvPr/>
        </p:nvGrpSpPr>
        <p:grpSpPr>
          <a:xfrm>
            <a:off x="3765027" y="1142193"/>
            <a:ext cx="3505200" cy="2641436"/>
            <a:chOff x="3765027" y="1153768"/>
            <a:chExt cx="3505200" cy="2641436"/>
          </a:xfrm>
        </p:grpSpPr>
        <p:pic>
          <p:nvPicPr>
            <p:cNvPr id="17" name="Picture 16" descr="A picture containing screenshot&#10;&#10;Description automatically generated">
              <a:extLst>
                <a:ext uri="{FF2B5EF4-FFF2-40B4-BE49-F238E27FC236}">
                  <a16:creationId xmlns:a16="http://schemas.microsoft.com/office/drawing/2014/main" id="{80A6F83A-1B2E-C841-9551-C803EBCF9EF9}"/>
                </a:ext>
              </a:extLst>
            </p:cNvPr>
            <p:cNvPicPr>
              <a:picLocks noChangeAspect="1"/>
            </p:cNvPicPr>
            <p:nvPr/>
          </p:nvPicPr>
          <p:blipFill>
            <a:blip r:embed="rId3"/>
            <a:stretch>
              <a:fillRect/>
            </a:stretch>
          </p:blipFill>
          <p:spPr>
            <a:xfrm>
              <a:off x="3765027" y="1166304"/>
              <a:ext cx="3505200" cy="2628900"/>
            </a:xfrm>
            <a:prstGeom prst="rect">
              <a:avLst/>
            </a:prstGeom>
          </p:spPr>
        </p:pic>
        <p:sp>
          <p:nvSpPr>
            <p:cNvPr id="21" name="TextBox 20">
              <a:extLst>
                <a:ext uri="{FF2B5EF4-FFF2-40B4-BE49-F238E27FC236}">
                  <a16:creationId xmlns:a16="http://schemas.microsoft.com/office/drawing/2014/main" id="{31811BF9-6359-CA4C-9B4D-01058154C012}"/>
                </a:ext>
              </a:extLst>
            </p:cNvPr>
            <p:cNvSpPr txBox="1"/>
            <p:nvPr/>
          </p:nvSpPr>
          <p:spPr>
            <a:xfrm>
              <a:off x="4970377" y="1153768"/>
              <a:ext cx="1042987" cy="323165"/>
            </a:xfrm>
            <a:prstGeom prst="rect">
              <a:avLst/>
            </a:prstGeom>
            <a:solidFill>
              <a:schemeClr val="bg1"/>
            </a:solidFill>
          </p:spPr>
          <p:txBody>
            <a:bodyPr wrap="square" rtlCol="0">
              <a:spAutoFit/>
            </a:bodyPr>
            <a:lstStyle/>
            <a:p>
              <a:r>
                <a:rPr lang="en-US" sz="1500" b="1" dirty="0"/>
                <a:t>    True E</a:t>
              </a:r>
            </a:p>
          </p:txBody>
        </p:sp>
      </p:grpSp>
      <p:sp>
        <p:nvSpPr>
          <p:cNvPr id="25" name="TextBox 24">
            <a:extLst>
              <a:ext uri="{FF2B5EF4-FFF2-40B4-BE49-F238E27FC236}">
                <a16:creationId xmlns:a16="http://schemas.microsoft.com/office/drawing/2014/main" id="{3395BB56-B77C-1A4D-8DBD-1EA5E8EBED3E}"/>
              </a:ext>
            </a:extLst>
          </p:cNvPr>
          <p:cNvSpPr txBox="1"/>
          <p:nvPr/>
        </p:nvSpPr>
        <p:spPr>
          <a:xfrm>
            <a:off x="135731" y="703224"/>
            <a:ext cx="4457700" cy="369332"/>
          </a:xfrm>
          <a:prstGeom prst="rect">
            <a:avLst/>
          </a:prstGeom>
          <a:noFill/>
        </p:spPr>
        <p:txBody>
          <a:bodyPr wrap="square" rtlCol="0">
            <a:spAutoFit/>
          </a:bodyPr>
          <a:lstStyle/>
          <a:p>
            <a:r>
              <a:rPr lang="en-US" dirty="0"/>
              <a:t>Inferring Modulus (Inverse Problem)</a:t>
            </a:r>
          </a:p>
        </p:txBody>
      </p:sp>
      <p:sp>
        <p:nvSpPr>
          <p:cNvPr id="30" name="TextBox 29">
            <a:extLst>
              <a:ext uri="{FF2B5EF4-FFF2-40B4-BE49-F238E27FC236}">
                <a16:creationId xmlns:a16="http://schemas.microsoft.com/office/drawing/2014/main" id="{5CAE073F-30E9-794A-9DA0-C7FBA667AA7E}"/>
              </a:ext>
            </a:extLst>
          </p:cNvPr>
          <p:cNvSpPr txBox="1"/>
          <p:nvPr/>
        </p:nvSpPr>
        <p:spPr>
          <a:xfrm>
            <a:off x="7755333" y="1753205"/>
            <a:ext cx="3868395" cy="1200329"/>
          </a:xfrm>
          <a:prstGeom prst="rect">
            <a:avLst/>
          </a:prstGeom>
          <a:noFill/>
        </p:spPr>
        <p:txBody>
          <a:bodyPr wrap="square" rtlCol="0">
            <a:spAutoFit/>
          </a:bodyPr>
          <a:lstStyle/>
          <a:p>
            <a:r>
              <a:rPr lang="en-US" dirty="0"/>
              <a:t>1.Inferred modulus is accurate</a:t>
            </a:r>
          </a:p>
          <a:p>
            <a:r>
              <a:rPr lang="en-US" dirty="0"/>
              <a:t>(L2 relative error:  </a:t>
            </a:r>
            <a:r>
              <a:rPr lang="en-US" b="1" u="sng" dirty="0"/>
              <a:t>0.0149</a:t>
            </a:r>
            <a:r>
              <a:rPr lang="en-US" dirty="0"/>
              <a:t>).</a:t>
            </a:r>
          </a:p>
          <a:p>
            <a:endParaRPr lang="en-US" dirty="0"/>
          </a:p>
          <a:p>
            <a:r>
              <a:rPr lang="en-US" dirty="0"/>
              <a:t>2.Loss decreases to the order of 1e-5.</a:t>
            </a:r>
          </a:p>
        </p:txBody>
      </p:sp>
      <p:sp>
        <p:nvSpPr>
          <p:cNvPr id="33" name="TextBox 32">
            <a:extLst>
              <a:ext uri="{FF2B5EF4-FFF2-40B4-BE49-F238E27FC236}">
                <a16:creationId xmlns:a16="http://schemas.microsoft.com/office/drawing/2014/main" id="{92FB794E-EC57-CA44-84BE-41453C9BB4B8}"/>
              </a:ext>
            </a:extLst>
          </p:cNvPr>
          <p:cNvSpPr txBox="1"/>
          <p:nvPr/>
        </p:nvSpPr>
        <p:spPr>
          <a:xfrm>
            <a:off x="7755333" y="3214303"/>
            <a:ext cx="3758525" cy="3046988"/>
          </a:xfrm>
          <a:prstGeom prst="rect">
            <a:avLst/>
          </a:prstGeom>
          <a:noFill/>
          <a:ln w="25400">
            <a:solidFill>
              <a:schemeClr val="tx1"/>
            </a:solidFill>
          </a:ln>
        </p:spPr>
        <p:txBody>
          <a:bodyPr wrap="square" rtlCol="0">
            <a:spAutoFit/>
          </a:bodyPr>
          <a:lstStyle/>
          <a:p>
            <a:r>
              <a:rPr lang="en-US" sz="1600" dirty="0"/>
              <a:t>Discussion:</a:t>
            </a:r>
          </a:p>
          <a:p>
            <a:endParaRPr lang="en-US" sz="1600" dirty="0"/>
          </a:p>
          <a:p>
            <a:pPr marL="285750" indent="-285750">
              <a:buFont typeface="Arial" panose="020B0604020202020204" pitchFamily="34" charset="0"/>
              <a:buChar char="•"/>
            </a:pPr>
            <a:r>
              <a:rPr lang="en-US" sz="1600" dirty="0"/>
              <a:t>Noticed large error appears nears the edges. </a:t>
            </a:r>
          </a:p>
          <a:p>
            <a:endParaRPr lang="en-US" sz="1600" dirty="0"/>
          </a:p>
          <a:p>
            <a:pPr marL="285750" indent="-285750">
              <a:buFont typeface="Arial" panose="020B0604020202020204" pitchFamily="34" charset="0"/>
              <a:buChar char="•"/>
            </a:pPr>
            <a:r>
              <a:rPr lang="en-US" sz="1600" dirty="0"/>
              <a:t>This might be caused by missing neighbors of training points near the boundaries.</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dirty="0"/>
              <a:t>Possible solution: Provide strain data instead of displacement data.</a:t>
            </a:r>
          </a:p>
          <a:p>
            <a:pPr marL="285750" indent="-285750">
              <a:buFont typeface="Arial" panose="020B0604020202020204" pitchFamily="34" charset="0"/>
              <a:buChar char="•"/>
            </a:pPr>
            <a:endParaRPr lang="en-US" sz="1600" dirty="0"/>
          </a:p>
        </p:txBody>
      </p:sp>
      <mc:AlternateContent xmlns:mc="http://schemas.openxmlformats.org/markup-compatibility/2006" xmlns:a14="http://schemas.microsoft.com/office/drawing/2010/main">
        <mc:Choice Requires="a14">
          <p:sp>
            <p:nvSpPr>
              <p:cNvPr id="23" name="Rectangle 22">
                <a:extLst>
                  <a:ext uri="{FF2B5EF4-FFF2-40B4-BE49-F238E27FC236}">
                    <a16:creationId xmlns:a16="http://schemas.microsoft.com/office/drawing/2014/main" id="{868BA8EB-0297-4942-BCAC-8EADECA95B83}"/>
                  </a:ext>
                </a:extLst>
              </p:cNvPr>
              <p:cNvSpPr/>
              <p:nvPr/>
            </p:nvSpPr>
            <p:spPr>
              <a:xfrm>
                <a:off x="7048982" y="894600"/>
                <a:ext cx="5057228" cy="660052"/>
              </a:xfrm>
              <a:prstGeom prst="rect">
                <a:avLst/>
              </a:prstGeom>
            </p:spPr>
            <p:txBody>
              <a:bodyPr wrap="square">
                <a:spAutoFit/>
              </a:bodyPr>
              <a:lstStyle/>
              <a:p>
                <a:pPr/>
                <a14:m>
                  <m:oMathPara xmlns:m="http://schemas.openxmlformats.org/officeDocument/2006/math">
                    <m:oMathParaPr>
                      <m:jc m:val="left"/>
                    </m:oMathParaPr>
                    <m:oMath xmlns:m="http://schemas.openxmlformats.org/officeDocument/2006/math">
                      <m:f>
                        <m:fPr>
                          <m:ctrlPr>
                            <a:rPr lang="en-US" b="0" i="1" smtClean="0">
                              <a:latin typeface="Cambria Math" panose="02040503050406030204" pitchFamily="18" charset="0"/>
                              <a:ea typeface="Cambria Math" panose="02040503050406030204" pitchFamily="18" charset="0"/>
                            </a:rPr>
                          </m:ctrlPr>
                        </m:fPr>
                        <m:num>
                          <m:r>
                            <a:rPr lang="en-US" b="0" i="1" smtClean="0">
                              <a:solidFill>
                                <a:srgbClr val="FF0000"/>
                              </a:solidFill>
                              <a:latin typeface="Cambria Math" panose="02040503050406030204" pitchFamily="18" charset="0"/>
                              <a:ea typeface="Cambria Math" panose="02040503050406030204" pitchFamily="18" charset="0"/>
                            </a:rPr>
                            <m:t>𝐸</m:t>
                          </m:r>
                        </m:num>
                        <m:den>
                          <m:r>
                            <a:rPr lang="en-US" b="0" i="1" smtClean="0">
                              <a:latin typeface="Cambria Math" panose="02040503050406030204" pitchFamily="18" charset="0"/>
                              <a:ea typeface="Cambria Math" panose="02040503050406030204" pitchFamily="18" charset="0"/>
                            </a:rPr>
                            <m:t>2(1+</m:t>
                          </m:r>
                          <m:r>
                            <a:rPr lang="en-US" b="0" i="1" smtClean="0">
                              <a:latin typeface="Cambria Math" panose="02040503050406030204" pitchFamily="18" charset="0"/>
                              <a:ea typeface="Cambria Math" panose="02040503050406030204" pitchFamily="18" charset="0"/>
                            </a:rPr>
                            <m:t>𝜈</m:t>
                          </m:r>
                          <m:r>
                            <a:rPr lang="en-US" b="0" i="1" smtClean="0">
                              <a:latin typeface="Cambria Math" panose="02040503050406030204" pitchFamily="18" charset="0"/>
                              <a:ea typeface="Cambria Math" panose="02040503050406030204" pitchFamily="18" charset="0"/>
                            </a:rPr>
                            <m:t>)</m:t>
                          </m:r>
                        </m:den>
                      </m:f>
                      <m:sSup>
                        <m:sSupPr>
                          <m:ctrlPr>
                            <a:rPr lang="en-US" i="1" smtClean="0">
                              <a:latin typeface="Cambria Math" panose="02040503050406030204" pitchFamily="18" charset="0"/>
                              <a:ea typeface="Cambria Math" panose="02040503050406030204" pitchFamily="18" charset="0"/>
                            </a:rPr>
                          </m:ctrlPr>
                        </m:sSupPr>
                        <m:e>
                          <m:r>
                            <a:rPr lang="en-US" b="1" i="0">
                              <a:latin typeface="Cambria Math" panose="02040503050406030204" pitchFamily="18" charset="0"/>
                              <a:ea typeface="Cambria Math" panose="02040503050406030204" pitchFamily="18" charset="0"/>
                            </a:rPr>
                            <m:t>𝛁</m:t>
                          </m:r>
                        </m:e>
                        <m:sup>
                          <m:r>
                            <a:rPr lang="en-US" i="0">
                              <a:latin typeface="Cambria Math" panose="02040503050406030204" pitchFamily="18" charset="0"/>
                              <a:ea typeface="Cambria Math" panose="02040503050406030204" pitchFamily="18" charset="0"/>
                            </a:rPr>
                            <m:t>2</m:t>
                          </m:r>
                        </m:sup>
                      </m:sSup>
                      <m:r>
                        <a:rPr lang="en-US" b="1" i="1">
                          <a:latin typeface="Cambria Math" panose="02040503050406030204" pitchFamily="18" charset="0"/>
                          <a:ea typeface="Cambria Math" panose="02040503050406030204" pitchFamily="18" charset="0"/>
                        </a:rPr>
                        <m:t>𝒖</m:t>
                      </m:r>
                      <m:r>
                        <a:rPr lang="en-US" i="1">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i="1" smtClean="0">
                              <a:solidFill>
                                <a:srgbClr val="FF0000"/>
                              </a:solidFill>
                              <a:latin typeface="Cambria Math" panose="02040503050406030204" pitchFamily="18" charset="0"/>
                              <a:ea typeface="Cambria Math" panose="02040503050406030204" pitchFamily="18" charset="0"/>
                            </a:rPr>
                            <m:t>𝐸</m:t>
                          </m:r>
                        </m:num>
                        <m:den>
                          <m:r>
                            <a:rPr lang="en-US" i="1">
                              <a:latin typeface="Cambria Math" panose="02040503050406030204" pitchFamily="18" charset="0"/>
                              <a:ea typeface="Cambria Math" panose="02040503050406030204" pitchFamily="18" charset="0"/>
                            </a:rPr>
                            <m:t>2</m:t>
                          </m:r>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1+</m:t>
                              </m:r>
                              <m:r>
                                <a:rPr lang="en-US" i="1">
                                  <a:latin typeface="Cambria Math" panose="02040503050406030204" pitchFamily="18" charset="0"/>
                                  <a:ea typeface="Cambria Math" panose="02040503050406030204" pitchFamily="18" charset="0"/>
                                </a:rPr>
                                <m:t>𝜈</m:t>
                              </m:r>
                            </m:e>
                          </m:d>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1−2</m:t>
                              </m:r>
                              <m:r>
                                <a:rPr lang="en-US" i="1">
                                  <a:latin typeface="Cambria Math" panose="02040503050406030204" pitchFamily="18" charset="0"/>
                                  <a:ea typeface="Cambria Math" panose="02040503050406030204" pitchFamily="18" charset="0"/>
                                </a:rPr>
                                <m:t>𝜈</m:t>
                              </m:r>
                            </m:e>
                          </m:d>
                        </m:den>
                      </m:f>
                      <m:r>
                        <a:rPr lang="en-US" b="1" i="0">
                          <a:latin typeface="Cambria Math" panose="02040503050406030204" pitchFamily="18" charset="0"/>
                          <a:ea typeface="Cambria Math" panose="02040503050406030204" pitchFamily="18" charset="0"/>
                        </a:rPr>
                        <m:t>𝛁</m:t>
                      </m:r>
                      <m:d>
                        <m:dPr>
                          <m:ctrlPr>
                            <a:rPr lang="en-US" b="0" i="1" smtClean="0">
                              <a:latin typeface="Cambria Math" panose="02040503050406030204" pitchFamily="18" charset="0"/>
                              <a:ea typeface="Cambria Math" panose="02040503050406030204" pitchFamily="18" charset="0"/>
                            </a:rPr>
                          </m:ctrlPr>
                        </m:dPr>
                        <m:e>
                          <m:r>
                            <a:rPr lang="en-US" b="1" i="0"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𝒖</m:t>
                          </m:r>
                        </m:e>
                      </m:d>
                      <m:r>
                        <a:rPr lang="en-US" i="1">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𝟎</m:t>
                      </m:r>
                    </m:oMath>
                  </m:oMathPara>
                </a14:m>
                <a:endParaRPr lang="en-US" b="1" dirty="0">
                  <a:ea typeface="Cambria Math" panose="02040503050406030204" pitchFamily="18" charset="0"/>
                </a:endParaRPr>
              </a:p>
            </p:txBody>
          </p:sp>
        </mc:Choice>
        <mc:Fallback xmlns="">
          <p:sp>
            <p:nvSpPr>
              <p:cNvPr id="23" name="Rectangle 22">
                <a:extLst>
                  <a:ext uri="{FF2B5EF4-FFF2-40B4-BE49-F238E27FC236}">
                    <a16:creationId xmlns:a16="http://schemas.microsoft.com/office/drawing/2014/main" id="{868BA8EB-0297-4942-BCAC-8EADECA95B83}"/>
                  </a:ext>
                </a:extLst>
              </p:cNvPr>
              <p:cNvSpPr>
                <a:spLocks noRot="1" noChangeAspect="1" noMove="1" noResize="1" noEditPoints="1" noAdjustHandles="1" noChangeArrowheads="1" noChangeShapeType="1" noTextEdit="1"/>
              </p:cNvSpPr>
              <p:nvPr/>
            </p:nvSpPr>
            <p:spPr>
              <a:xfrm>
                <a:off x="7048982" y="894600"/>
                <a:ext cx="5057228" cy="660052"/>
              </a:xfrm>
              <a:prstGeom prst="rect">
                <a:avLst/>
              </a:prstGeom>
              <a:blipFill>
                <a:blip r:embed="rId4"/>
                <a:stretch>
                  <a:fillRect b="-7547"/>
                </a:stretch>
              </a:blipFill>
            </p:spPr>
            <p:txBody>
              <a:bodyPr/>
              <a:lstStyle/>
              <a:p>
                <a:r>
                  <a:rPr lang="en-US">
                    <a:noFill/>
                  </a:rPr>
                  <a:t> </a:t>
                </a:r>
              </a:p>
            </p:txBody>
          </p:sp>
        </mc:Fallback>
      </mc:AlternateContent>
      <p:sp>
        <p:nvSpPr>
          <p:cNvPr id="2" name="Rectangle 1">
            <a:extLst>
              <a:ext uri="{FF2B5EF4-FFF2-40B4-BE49-F238E27FC236}">
                <a16:creationId xmlns:a16="http://schemas.microsoft.com/office/drawing/2014/main" id="{8E7EA1F1-6C8B-1B40-B174-920203715290}"/>
              </a:ext>
            </a:extLst>
          </p:cNvPr>
          <p:cNvSpPr/>
          <p:nvPr/>
        </p:nvSpPr>
        <p:spPr>
          <a:xfrm>
            <a:off x="5001750" y="661302"/>
            <a:ext cx="524336" cy="524336"/>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ight Arrow 4">
            <a:extLst>
              <a:ext uri="{FF2B5EF4-FFF2-40B4-BE49-F238E27FC236}">
                <a16:creationId xmlns:a16="http://schemas.microsoft.com/office/drawing/2014/main" id="{D241BDA9-06E1-2D4B-A61B-8C61CDCC5058}"/>
              </a:ext>
            </a:extLst>
          </p:cNvPr>
          <p:cNvSpPr/>
          <p:nvPr/>
        </p:nvSpPr>
        <p:spPr>
          <a:xfrm>
            <a:off x="5576826" y="846521"/>
            <a:ext cx="362096" cy="17935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ight Arrow 23">
            <a:extLst>
              <a:ext uri="{FF2B5EF4-FFF2-40B4-BE49-F238E27FC236}">
                <a16:creationId xmlns:a16="http://schemas.microsoft.com/office/drawing/2014/main" id="{E439AB1C-16CB-0449-BF5A-10719DFE6575}"/>
              </a:ext>
            </a:extLst>
          </p:cNvPr>
          <p:cNvSpPr/>
          <p:nvPr/>
        </p:nvSpPr>
        <p:spPr>
          <a:xfrm rot="10800000">
            <a:off x="4541510" y="849277"/>
            <a:ext cx="362096" cy="17935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5" name="Group 34">
            <a:extLst>
              <a:ext uri="{FF2B5EF4-FFF2-40B4-BE49-F238E27FC236}">
                <a16:creationId xmlns:a16="http://schemas.microsoft.com/office/drawing/2014/main" id="{575F1B94-F947-B345-8078-623446CE9D5A}"/>
              </a:ext>
            </a:extLst>
          </p:cNvPr>
          <p:cNvGrpSpPr/>
          <p:nvPr/>
        </p:nvGrpSpPr>
        <p:grpSpPr>
          <a:xfrm>
            <a:off x="259827" y="1156459"/>
            <a:ext cx="3505200" cy="2658079"/>
            <a:chOff x="259827" y="1168034"/>
            <a:chExt cx="3505200" cy="2658079"/>
          </a:xfrm>
        </p:grpSpPr>
        <p:grpSp>
          <p:nvGrpSpPr>
            <p:cNvPr id="15" name="Group 14">
              <a:extLst>
                <a:ext uri="{FF2B5EF4-FFF2-40B4-BE49-F238E27FC236}">
                  <a16:creationId xmlns:a16="http://schemas.microsoft.com/office/drawing/2014/main" id="{4B75F597-7626-6E4B-8F24-527B1076039C}"/>
                </a:ext>
              </a:extLst>
            </p:cNvPr>
            <p:cNvGrpSpPr/>
            <p:nvPr/>
          </p:nvGrpSpPr>
          <p:grpSpPr>
            <a:xfrm>
              <a:off x="259827" y="1168034"/>
              <a:ext cx="3505200" cy="2658079"/>
              <a:chOff x="259827" y="1168034"/>
              <a:chExt cx="3505200" cy="2658079"/>
            </a:xfrm>
          </p:grpSpPr>
          <p:pic>
            <p:nvPicPr>
              <p:cNvPr id="13" name="Picture 12" descr="A picture containing screenshot&#10;&#10;Description automatically generated">
                <a:extLst>
                  <a:ext uri="{FF2B5EF4-FFF2-40B4-BE49-F238E27FC236}">
                    <a16:creationId xmlns:a16="http://schemas.microsoft.com/office/drawing/2014/main" id="{04003EA8-8E1E-6F4F-87C4-8B92383F8E4B}"/>
                  </a:ext>
                </a:extLst>
              </p:cNvPr>
              <p:cNvPicPr>
                <a:picLocks noChangeAspect="1"/>
              </p:cNvPicPr>
              <p:nvPr/>
            </p:nvPicPr>
            <p:blipFill>
              <a:blip r:embed="rId5"/>
              <a:stretch>
                <a:fillRect/>
              </a:stretch>
            </p:blipFill>
            <p:spPr>
              <a:xfrm>
                <a:off x="259827" y="1197213"/>
                <a:ext cx="3505200" cy="2628900"/>
              </a:xfrm>
              <a:prstGeom prst="rect">
                <a:avLst/>
              </a:prstGeom>
            </p:spPr>
          </p:pic>
          <p:sp>
            <p:nvSpPr>
              <p:cNvPr id="20" name="TextBox 19">
                <a:extLst>
                  <a:ext uri="{FF2B5EF4-FFF2-40B4-BE49-F238E27FC236}">
                    <a16:creationId xmlns:a16="http://schemas.microsoft.com/office/drawing/2014/main" id="{50713D3F-1075-F247-8750-45D98D465981}"/>
                  </a:ext>
                </a:extLst>
              </p:cNvPr>
              <p:cNvSpPr txBox="1"/>
              <p:nvPr/>
            </p:nvSpPr>
            <p:spPr>
              <a:xfrm>
                <a:off x="1248381" y="1168034"/>
                <a:ext cx="1115557" cy="323165"/>
              </a:xfrm>
              <a:prstGeom prst="rect">
                <a:avLst/>
              </a:prstGeom>
              <a:solidFill>
                <a:schemeClr val="bg1"/>
              </a:solidFill>
            </p:spPr>
            <p:txBody>
              <a:bodyPr wrap="square" rtlCol="0">
                <a:spAutoFit/>
              </a:bodyPr>
              <a:lstStyle/>
              <a:p>
                <a:r>
                  <a:rPr lang="en-US" sz="1500" b="1" dirty="0"/>
                  <a:t>Predicted E</a:t>
                </a:r>
              </a:p>
            </p:txBody>
          </p:sp>
          <p:sp>
            <p:nvSpPr>
              <p:cNvPr id="14" name="TextBox 13">
                <a:extLst>
                  <a:ext uri="{FF2B5EF4-FFF2-40B4-BE49-F238E27FC236}">
                    <a16:creationId xmlns:a16="http://schemas.microsoft.com/office/drawing/2014/main" id="{8300FD09-F16E-7C4D-9E49-C7EE7C07A2A2}"/>
                  </a:ext>
                </a:extLst>
              </p:cNvPr>
              <p:cNvSpPr txBox="1"/>
              <p:nvPr/>
            </p:nvSpPr>
            <p:spPr>
              <a:xfrm>
                <a:off x="2975212" y="1443420"/>
                <a:ext cx="606188" cy="2281106"/>
              </a:xfrm>
              <a:prstGeom prst="rect">
                <a:avLst/>
              </a:prstGeom>
              <a:solidFill>
                <a:schemeClr val="bg1"/>
              </a:solidFill>
            </p:spPr>
            <p:txBody>
              <a:bodyPr wrap="square" rtlCol="0">
                <a:spAutoFit/>
              </a:bodyPr>
              <a:lstStyle/>
              <a:p>
                <a:endParaRPr lang="en-US" dirty="0"/>
              </a:p>
            </p:txBody>
          </p:sp>
        </p:grpSp>
        <p:pic>
          <p:nvPicPr>
            <p:cNvPr id="27" name="Picture 26" descr="A screenshot of a cell phone&#10;&#10;Description automatically generated">
              <a:extLst>
                <a:ext uri="{FF2B5EF4-FFF2-40B4-BE49-F238E27FC236}">
                  <a16:creationId xmlns:a16="http://schemas.microsoft.com/office/drawing/2014/main" id="{1D02BD51-C8EA-3943-BCFF-55DA836A7458}"/>
                </a:ext>
              </a:extLst>
            </p:cNvPr>
            <p:cNvPicPr>
              <a:picLocks noChangeAspect="1"/>
            </p:cNvPicPr>
            <p:nvPr/>
          </p:nvPicPr>
          <p:blipFill>
            <a:blip r:embed="rId6"/>
            <a:stretch>
              <a:fillRect/>
            </a:stretch>
          </p:blipFill>
          <p:spPr>
            <a:xfrm>
              <a:off x="2920299" y="1342571"/>
              <a:ext cx="642880" cy="2381955"/>
            </a:xfrm>
            <a:prstGeom prst="rect">
              <a:avLst/>
            </a:prstGeom>
          </p:spPr>
        </p:pic>
      </p:grpSp>
      <p:grpSp>
        <p:nvGrpSpPr>
          <p:cNvPr id="41" name="Group 40">
            <a:extLst>
              <a:ext uri="{FF2B5EF4-FFF2-40B4-BE49-F238E27FC236}">
                <a16:creationId xmlns:a16="http://schemas.microsoft.com/office/drawing/2014/main" id="{00EE0547-13E4-2E43-A047-DA21A9DB3BE6}"/>
              </a:ext>
            </a:extLst>
          </p:cNvPr>
          <p:cNvGrpSpPr/>
          <p:nvPr/>
        </p:nvGrpSpPr>
        <p:grpSpPr>
          <a:xfrm>
            <a:off x="231121" y="3649630"/>
            <a:ext cx="3505200" cy="2688896"/>
            <a:chOff x="231121" y="3753804"/>
            <a:chExt cx="3505200" cy="2688896"/>
          </a:xfrm>
        </p:grpSpPr>
        <p:pic>
          <p:nvPicPr>
            <p:cNvPr id="39" name="Picture 38" descr="A screenshot of a cell phone&#10;&#10;Description automatically generated">
              <a:extLst>
                <a:ext uri="{FF2B5EF4-FFF2-40B4-BE49-F238E27FC236}">
                  <a16:creationId xmlns:a16="http://schemas.microsoft.com/office/drawing/2014/main" id="{81F83355-FDD0-1D4C-9F4E-94600C6220BF}"/>
                </a:ext>
              </a:extLst>
            </p:cNvPr>
            <p:cNvPicPr>
              <a:picLocks noChangeAspect="1"/>
            </p:cNvPicPr>
            <p:nvPr/>
          </p:nvPicPr>
          <p:blipFill>
            <a:blip r:embed="rId7"/>
            <a:stretch>
              <a:fillRect/>
            </a:stretch>
          </p:blipFill>
          <p:spPr>
            <a:xfrm>
              <a:off x="231121" y="3813800"/>
              <a:ext cx="3505200" cy="2628900"/>
            </a:xfrm>
            <a:prstGeom prst="rect">
              <a:avLst/>
            </a:prstGeom>
          </p:spPr>
        </p:pic>
        <p:sp>
          <p:nvSpPr>
            <p:cNvPr id="40" name="TextBox 39">
              <a:extLst>
                <a:ext uri="{FF2B5EF4-FFF2-40B4-BE49-F238E27FC236}">
                  <a16:creationId xmlns:a16="http://schemas.microsoft.com/office/drawing/2014/main" id="{893F9DB9-5490-3B45-9546-9B39A8DCC132}"/>
                </a:ext>
              </a:extLst>
            </p:cNvPr>
            <p:cNvSpPr txBox="1"/>
            <p:nvPr/>
          </p:nvSpPr>
          <p:spPr>
            <a:xfrm>
              <a:off x="1248381" y="3753804"/>
              <a:ext cx="1042987" cy="323165"/>
            </a:xfrm>
            <a:prstGeom prst="rect">
              <a:avLst/>
            </a:prstGeom>
            <a:solidFill>
              <a:schemeClr val="bg1"/>
            </a:solidFill>
          </p:spPr>
          <p:txBody>
            <a:bodyPr wrap="square" rtlCol="0">
              <a:spAutoFit/>
            </a:bodyPr>
            <a:lstStyle/>
            <a:p>
              <a:pPr algn="ctr"/>
              <a:r>
                <a:rPr lang="en-US" sz="1500" b="1" dirty="0"/>
                <a:t>Error of E</a:t>
              </a:r>
            </a:p>
          </p:txBody>
        </p:sp>
      </p:grpSp>
      <p:grpSp>
        <p:nvGrpSpPr>
          <p:cNvPr id="44" name="Group 43">
            <a:extLst>
              <a:ext uri="{FF2B5EF4-FFF2-40B4-BE49-F238E27FC236}">
                <a16:creationId xmlns:a16="http://schemas.microsoft.com/office/drawing/2014/main" id="{A07944B2-5B5F-9445-8E43-B4547016755B}"/>
              </a:ext>
            </a:extLst>
          </p:cNvPr>
          <p:cNvGrpSpPr/>
          <p:nvPr/>
        </p:nvGrpSpPr>
        <p:grpSpPr>
          <a:xfrm>
            <a:off x="495259" y="3960621"/>
            <a:ext cx="2503457" cy="2380492"/>
            <a:chOff x="495259" y="3960621"/>
            <a:chExt cx="2503457" cy="2380492"/>
          </a:xfrm>
        </p:grpSpPr>
        <p:sp>
          <p:nvSpPr>
            <p:cNvPr id="42" name="Oval 41">
              <a:extLst>
                <a:ext uri="{FF2B5EF4-FFF2-40B4-BE49-F238E27FC236}">
                  <a16:creationId xmlns:a16="http://schemas.microsoft.com/office/drawing/2014/main" id="{F3768FBB-3C38-F641-ADE3-AA5B683606A2}"/>
                </a:ext>
              </a:extLst>
            </p:cNvPr>
            <p:cNvSpPr/>
            <p:nvPr/>
          </p:nvSpPr>
          <p:spPr>
            <a:xfrm>
              <a:off x="2639901" y="3975382"/>
              <a:ext cx="358815" cy="2365731"/>
            </a:xfrm>
            <a:prstGeom prst="ellipse">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EBFA9B14-AAFA-0F47-B617-01FDFD0D70AA}"/>
                </a:ext>
              </a:extLst>
            </p:cNvPr>
            <p:cNvSpPr/>
            <p:nvPr/>
          </p:nvSpPr>
          <p:spPr>
            <a:xfrm>
              <a:off x="495259" y="3960621"/>
              <a:ext cx="358815" cy="2365731"/>
            </a:xfrm>
            <a:prstGeom prst="ellipse">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9" name="TextBox 48">
            <a:extLst>
              <a:ext uri="{FF2B5EF4-FFF2-40B4-BE49-F238E27FC236}">
                <a16:creationId xmlns:a16="http://schemas.microsoft.com/office/drawing/2014/main" id="{D8F0C281-DDE4-7D4B-812F-405272E8CA7F}"/>
              </a:ext>
            </a:extLst>
          </p:cNvPr>
          <p:cNvSpPr txBox="1"/>
          <p:nvPr/>
        </p:nvSpPr>
        <p:spPr>
          <a:xfrm>
            <a:off x="3839363" y="4881049"/>
            <a:ext cx="185551" cy="373857"/>
          </a:xfrm>
          <a:prstGeom prst="rect">
            <a:avLst/>
          </a:prstGeom>
          <a:solidFill>
            <a:schemeClr val="bg1"/>
          </a:solidFill>
        </p:spPr>
        <p:txBody>
          <a:bodyPr wrap="square" rtlCol="0">
            <a:spAutoFit/>
          </a:bodyPr>
          <a:lstStyle/>
          <a:p>
            <a:endParaRPr lang="en-US" dirty="0"/>
          </a:p>
        </p:txBody>
      </p:sp>
      <p:grpSp>
        <p:nvGrpSpPr>
          <p:cNvPr id="56" name="Group 55">
            <a:extLst>
              <a:ext uri="{FF2B5EF4-FFF2-40B4-BE49-F238E27FC236}">
                <a16:creationId xmlns:a16="http://schemas.microsoft.com/office/drawing/2014/main" id="{E27CEAAF-693D-1345-985E-44E6B24A7862}"/>
              </a:ext>
            </a:extLst>
          </p:cNvPr>
          <p:cNvGrpSpPr/>
          <p:nvPr/>
        </p:nvGrpSpPr>
        <p:grpSpPr>
          <a:xfrm>
            <a:off x="3746898" y="3651457"/>
            <a:ext cx="3638480" cy="2809889"/>
            <a:chOff x="4781854" y="3663032"/>
            <a:chExt cx="3638480" cy="2809889"/>
          </a:xfrm>
        </p:grpSpPr>
        <p:grpSp>
          <p:nvGrpSpPr>
            <p:cNvPr id="55" name="Group 54">
              <a:extLst>
                <a:ext uri="{FF2B5EF4-FFF2-40B4-BE49-F238E27FC236}">
                  <a16:creationId xmlns:a16="http://schemas.microsoft.com/office/drawing/2014/main" id="{9A937AB3-4830-D545-8BF9-9923EE36F8E2}"/>
                </a:ext>
              </a:extLst>
            </p:cNvPr>
            <p:cNvGrpSpPr/>
            <p:nvPr/>
          </p:nvGrpSpPr>
          <p:grpSpPr>
            <a:xfrm>
              <a:off x="4781854" y="3663032"/>
              <a:ext cx="3638480" cy="2809889"/>
              <a:chOff x="3685917" y="3640729"/>
              <a:chExt cx="3638480" cy="2809889"/>
            </a:xfrm>
          </p:grpSpPr>
          <p:grpSp>
            <p:nvGrpSpPr>
              <p:cNvPr id="53" name="Group 52">
                <a:extLst>
                  <a:ext uri="{FF2B5EF4-FFF2-40B4-BE49-F238E27FC236}">
                    <a16:creationId xmlns:a16="http://schemas.microsoft.com/office/drawing/2014/main" id="{9FFB9D2B-469A-2D40-AEF8-9131E871DCFC}"/>
                  </a:ext>
                </a:extLst>
              </p:cNvPr>
              <p:cNvGrpSpPr/>
              <p:nvPr/>
            </p:nvGrpSpPr>
            <p:grpSpPr>
              <a:xfrm>
                <a:off x="3685917" y="3640729"/>
                <a:ext cx="3638480" cy="2809889"/>
                <a:chOff x="3685917" y="3640729"/>
                <a:chExt cx="3638480" cy="2809889"/>
              </a:xfrm>
            </p:grpSpPr>
            <p:grpSp>
              <p:nvGrpSpPr>
                <p:cNvPr id="46" name="Group 45">
                  <a:extLst>
                    <a:ext uri="{FF2B5EF4-FFF2-40B4-BE49-F238E27FC236}">
                      <a16:creationId xmlns:a16="http://schemas.microsoft.com/office/drawing/2014/main" id="{3FAE022A-D78B-4546-975A-D693749B6A45}"/>
                    </a:ext>
                  </a:extLst>
                </p:cNvPr>
                <p:cNvGrpSpPr/>
                <p:nvPr/>
              </p:nvGrpSpPr>
              <p:grpSpPr>
                <a:xfrm>
                  <a:off x="3819197" y="3640729"/>
                  <a:ext cx="3505200" cy="2643285"/>
                  <a:chOff x="3645574" y="3814349"/>
                  <a:chExt cx="3505200" cy="2643285"/>
                </a:xfrm>
              </p:grpSpPr>
              <p:pic>
                <p:nvPicPr>
                  <p:cNvPr id="32" name="Picture 31" descr="A close up of a logo&#10;&#10;Description automatically generated">
                    <a:extLst>
                      <a:ext uri="{FF2B5EF4-FFF2-40B4-BE49-F238E27FC236}">
                        <a16:creationId xmlns:a16="http://schemas.microsoft.com/office/drawing/2014/main" id="{6BB1E9ED-35FE-EB40-9CC0-CFB5A9F9656B}"/>
                      </a:ext>
                    </a:extLst>
                  </p:cNvPr>
                  <p:cNvPicPr>
                    <a:picLocks noChangeAspect="1"/>
                  </p:cNvPicPr>
                  <p:nvPr/>
                </p:nvPicPr>
                <p:blipFill rotWithShape="1">
                  <a:blip r:embed="rId8"/>
                  <a:srcRect t="10343"/>
                  <a:stretch/>
                </p:blipFill>
                <p:spPr>
                  <a:xfrm>
                    <a:off x="3645574" y="4100655"/>
                    <a:ext cx="3505200" cy="2356979"/>
                  </a:xfrm>
                  <a:prstGeom prst="rect">
                    <a:avLst/>
                  </a:prstGeom>
                </p:spPr>
              </p:pic>
              <p:sp>
                <p:nvSpPr>
                  <p:cNvPr id="31" name="TextBox 30">
                    <a:extLst>
                      <a:ext uri="{FF2B5EF4-FFF2-40B4-BE49-F238E27FC236}">
                        <a16:creationId xmlns:a16="http://schemas.microsoft.com/office/drawing/2014/main" id="{93CBD82A-DCEC-CD4F-B37B-52DC92F96D5E}"/>
                      </a:ext>
                    </a:extLst>
                  </p:cNvPr>
                  <p:cNvSpPr txBox="1"/>
                  <p:nvPr/>
                </p:nvSpPr>
                <p:spPr>
                  <a:xfrm>
                    <a:off x="5156664" y="3814349"/>
                    <a:ext cx="906528" cy="323165"/>
                  </a:xfrm>
                  <a:prstGeom prst="rect">
                    <a:avLst/>
                  </a:prstGeom>
                  <a:solidFill>
                    <a:schemeClr val="bg1"/>
                  </a:solidFill>
                </p:spPr>
                <p:txBody>
                  <a:bodyPr wrap="square" rtlCol="0">
                    <a:spAutoFit/>
                  </a:bodyPr>
                  <a:lstStyle/>
                  <a:p>
                    <a:r>
                      <a:rPr lang="en-US" sz="1500" b="1" dirty="0"/>
                      <a:t>Loss</a:t>
                    </a:r>
                  </a:p>
                </p:txBody>
              </p:sp>
            </p:grpSp>
            <p:sp>
              <p:nvSpPr>
                <p:cNvPr id="45" name="TextBox 44">
                  <a:extLst>
                    <a:ext uri="{FF2B5EF4-FFF2-40B4-BE49-F238E27FC236}">
                      <a16:creationId xmlns:a16="http://schemas.microsoft.com/office/drawing/2014/main" id="{7AE21CE8-6A18-894C-922E-492FCFBECF9C}"/>
                    </a:ext>
                  </a:extLst>
                </p:cNvPr>
                <p:cNvSpPr txBox="1"/>
                <p:nvPr/>
              </p:nvSpPr>
              <p:spPr>
                <a:xfrm>
                  <a:off x="4229052" y="6050508"/>
                  <a:ext cx="3013969" cy="400110"/>
                </a:xfrm>
                <a:prstGeom prst="rect">
                  <a:avLst/>
                </a:prstGeom>
                <a:solidFill>
                  <a:schemeClr val="bg1"/>
                </a:solidFill>
              </p:spPr>
              <p:txBody>
                <a:bodyPr wrap="square" rtlCol="0">
                  <a:spAutoFit/>
                </a:bodyPr>
                <a:lstStyle/>
                <a:p>
                  <a:r>
                    <a:rPr lang="en-US" sz="1000" dirty="0"/>
                    <a:t>  0      200000     400000    600000    800000    1000000 </a:t>
                  </a:r>
                </a:p>
                <a:p>
                  <a:r>
                    <a:rPr lang="en-US" sz="1000" dirty="0"/>
                    <a:t>                                    Num Iteration    </a:t>
                  </a:r>
                </a:p>
              </p:txBody>
            </p: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BDCAD20A-2AE8-7346-9B5E-59699A9AAEAE}"/>
                        </a:ext>
                      </a:extLst>
                    </p:cNvPr>
                    <p:cNvSpPr txBox="1"/>
                    <p:nvPr/>
                  </p:nvSpPr>
                  <p:spPr>
                    <a:xfrm>
                      <a:off x="3828401" y="4279080"/>
                      <a:ext cx="393026" cy="215444"/>
                    </a:xfrm>
                    <a:prstGeom prst="rect">
                      <a:avLst/>
                    </a:prstGeom>
                    <a:solidFill>
                      <a:schemeClr val="bg1"/>
                    </a:solidFill>
                    <a:ln>
                      <a:noFill/>
                    </a:ln>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sz="800" i="1" smtClean="0">
                                    <a:latin typeface="Cambria Math" panose="02040503050406030204" pitchFamily="18" charset="0"/>
                                  </a:rPr>
                                </m:ctrlPr>
                              </m:sSupPr>
                              <m:e>
                                <m:r>
                                  <a:rPr lang="en-US" sz="800" b="0" i="1" smtClean="0">
                                    <a:latin typeface="Cambria Math" panose="02040503050406030204" pitchFamily="18" charset="0"/>
                                  </a:rPr>
                                  <m:t>10</m:t>
                                </m:r>
                              </m:e>
                              <m:sup>
                                <m:r>
                                  <a:rPr lang="en-US" sz="800" b="0" i="1" smtClean="0">
                                    <a:latin typeface="Cambria Math" panose="02040503050406030204" pitchFamily="18" charset="0"/>
                                  </a:rPr>
                                  <m:t>−2</m:t>
                                </m:r>
                              </m:sup>
                            </m:sSup>
                          </m:oMath>
                        </m:oMathPara>
                      </a14:m>
                      <a:endParaRPr lang="en-US" sz="800" dirty="0"/>
                    </a:p>
                  </p:txBody>
                </p:sp>
              </mc:Choice>
              <mc:Fallback xmlns="">
                <p:sp>
                  <p:nvSpPr>
                    <p:cNvPr id="47" name="TextBox 46">
                      <a:extLst>
                        <a:ext uri="{FF2B5EF4-FFF2-40B4-BE49-F238E27FC236}">
                          <a16:creationId xmlns:a16="http://schemas.microsoft.com/office/drawing/2014/main" id="{BDCAD20A-2AE8-7346-9B5E-59699A9AAEAE}"/>
                        </a:ext>
                      </a:extLst>
                    </p:cNvPr>
                    <p:cNvSpPr txBox="1">
                      <a:spLocks noRot="1" noChangeAspect="1" noMove="1" noResize="1" noEditPoints="1" noAdjustHandles="1" noChangeArrowheads="1" noChangeShapeType="1" noTextEdit="1"/>
                    </p:cNvSpPr>
                    <p:nvPr/>
                  </p:nvSpPr>
                  <p:spPr>
                    <a:xfrm>
                      <a:off x="3828401" y="4279080"/>
                      <a:ext cx="393026" cy="215444"/>
                    </a:xfrm>
                    <a:prstGeom prst="rect">
                      <a:avLst/>
                    </a:prstGeom>
                    <a:blipFill>
                      <a:blip r:embed="rId9"/>
                      <a:stretch>
                        <a:fillRect/>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9D63BCDC-E3AA-294E-899F-198CFB1CC4D2}"/>
                        </a:ext>
                      </a:extLst>
                    </p:cNvPr>
                    <p:cNvSpPr txBox="1"/>
                    <p:nvPr/>
                  </p:nvSpPr>
                  <p:spPr>
                    <a:xfrm>
                      <a:off x="3839976" y="4784955"/>
                      <a:ext cx="369524" cy="215444"/>
                    </a:xfrm>
                    <a:prstGeom prst="rect">
                      <a:avLst/>
                    </a:prstGeom>
                    <a:solidFill>
                      <a:schemeClr val="bg1"/>
                    </a:solidFill>
                    <a:ln>
                      <a:noFill/>
                    </a:ln>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sz="800" i="1" smtClean="0">
                                    <a:latin typeface="Cambria Math" panose="02040503050406030204" pitchFamily="18" charset="0"/>
                                  </a:rPr>
                                </m:ctrlPr>
                              </m:sSupPr>
                              <m:e>
                                <m:r>
                                  <a:rPr lang="en-US" sz="800" b="0" i="1" smtClean="0">
                                    <a:latin typeface="Cambria Math" panose="02040503050406030204" pitchFamily="18" charset="0"/>
                                  </a:rPr>
                                  <m:t>10</m:t>
                                </m:r>
                              </m:e>
                              <m:sup>
                                <m:r>
                                  <a:rPr lang="en-US" sz="800" b="0" i="1" smtClean="0">
                                    <a:latin typeface="Cambria Math" panose="02040503050406030204" pitchFamily="18" charset="0"/>
                                  </a:rPr>
                                  <m:t>−3</m:t>
                                </m:r>
                              </m:sup>
                            </m:sSup>
                          </m:oMath>
                        </m:oMathPara>
                      </a14:m>
                      <a:endParaRPr lang="en-US" sz="800" dirty="0"/>
                    </a:p>
                  </p:txBody>
                </p:sp>
              </mc:Choice>
              <mc:Fallback xmlns="">
                <p:sp>
                  <p:nvSpPr>
                    <p:cNvPr id="48" name="TextBox 47">
                      <a:extLst>
                        <a:ext uri="{FF2B5EF4-FFF2-40B4-BE49-F238E27FC236}">
                          <a16:creationId xmlns:a16="http://schemas.microsoft.com/office/drawing/2014/main" id="{9D63BCDC-E3AA-294E-899F-198CFB1CC4D2}"/>
                        </a:ext>
                      </a:extLst>
                    </p:cNvPr>
                    <p:cNvSpPr txBox="1">
                      <a:spLocks noRot="1" noChangeAspect="1" noMove="1" noResize="1" noEditPoints="1" noAdjustHandles="1" noChangeArrowheads="1" noChangeShapeType="1" noTextEdit="1"/>
                    </p:cNvSpPr>
                    <p:nvPr/>
                  </p:nvSpPr>
                  <p:spPr>
                    <a:xfrm>
                      <a:off x="3839976" y="4784955"/>
                      <a:ext cx="369524" cy="215444"/>
                    </a:xfrm>
                    <a:prstGeom prst="rect">
                      <a:avLst/>
                    </a:prstGeom>
                    <a:blipFill>
                      <a:blip r:embed="rId10"/>
                      <a:stretch>
                        <a:fillRect/>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4C3D409E-80B7-FE49-BF85-204F3BE55549}"/>
                        </a:ext>
                      </a:extLst>
                    </p:cNvPr>
                    <p:cNvSpPr txBox="1"/>
                    <p:nvPr/>
                  </p:nvSpPr>
                  <p:spPr>
                    <a:xfrm>
                      <a:off x="3842263" y="5327981"/>
                      <a:ext cx="369524" cy="215444"/>
                    </a:xfrm>
                    <a:prstGeom prst="rect">
                      <a:avLst/>
                    </a:prstGeom>
                    <a:solidFill>
                      <a:schemeClr val="bg1"/>
                    </a:solidFill>
                    <a:ln>
                      <a:noFill/>
                    </a:ln>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sz="800" i="1" smtClean="0">
                                    <a:latin typeface="Cambria Math" panose="02040503050406030204" pitchFamily="18" charset="0"/>
                                  </a:rPr>
                                </m:ctrlPr>
                              </m:sSupPr>
                              <m:e>
                                <m:r>
                                  <a:rPr lang="en-US" sz="800" b="0" i="1" smtClean="0">
                                    <a:latin typeface="Cambria Math" panose="02040503050406030204" pitchFamily="18" charset="0"/>
                                  </a:rPr>
                                  <m:t>10</m:t>
                                </m:r>
                              </m:e>
                              <m:sup>
                                <m:r>
                                  <a:rPr lang="en-US" sz="800" b="0" i="1" smtClean="0">
                                    <a:latin typeface="Cambria Math" panose="02040503050406030204" pitchFamily="18" charset="0"/>
                                  </a:rPr>
                                  <m:t>−4</m:t>
                                </m:r>
                              </m:sup>
                            </m:sSup>
                          </m:oMath>
                        </m:oMathPara>
                      </a14:m>
                      <a:endParaRPr lang="en-US" sz="800" dirty="0"/>
                    </a:p>
                  </p:txBody>
                </p:sp>
              </mc:Choice>
              <mc:Fallback xmlns="">
                <p:sp>
                  <p:nvSpPr>
                    <p:cNvPr id="50" name="TextBox 49">
                      <a:extLst>
                        <a:ext uri="{FF2B5EF4-FFF2-40B4-BE49-F238E27FC236}">
                          <a16:creationId xmlns:a16="http://schemas.microsoft.com/office/drawing/2014/main" id="{4C3D409E-80B7-FE49-BF85-204F3BE55549}"/>
                        </a:ext>
                      </a:extLst>
                    </p:cNvPr>
                    <p:cNvSpPr txBox="1">
                      <a:spLocks noRot="1" noChangeAspect="1" noMove="1" noResize="1" noEditPoints="1" noAdjustHandles="1" noChangeArrowheads="1" noChangeShapeType="1" noTextEdit="1"/>
                    </p:cNvSpPr>
                    <p:nvPr/>
                  </p:nvSpPr>
                  <p:spPr>
                    <a:xfrm>
                      <a:off x="3842263" y="5327981"/>
                      <a:ext cx="369524" cy="215444"/>
                    </a:xfrm>
                    <a:prstGeom prst="rect">
                      <a:avLst/>
                    </a:prstGeom>
                    <a:blipFill>
                      <a:blip r:embed="rId11"/>
                      <a:stretch>
                        <a:fillRect/>
                      </a:stretch>
                    </a:blipFill>
                    <a:ln>
                      <a:noFill/>
                    </a:ln>
                  </p:spPr>
                  <p:txBody>
                    <a:bodyPr/>
                    <a:lstStyle/>
                    <a:p>
                      <a:r>
                        <a:rPr lang="en-US">
                          <a:noFill/>
                        </a:rPr>
                        <a:t> </a:t>
                      </a:r>
                    </a:p>
                  </p:txBody>
                </p:sp>
              </mc:Fallback>
            </mc:AlternateContent>
            <p:sp>
              <p:nvSpPr>
                <p:cNvPr id="52" name="TextBox 51">
                  <a:extLst>
                    <a:ext uri="{FF2B5EF4-FFF2-40B4-BE49-F238E27FC236}">
                      <a16:creationId xmlns:a16="http://schemas.microsoft.com/office/drawing/2014/main" id="{190B86E7-E9A1-D241-9342-1A5D8DF1E3BD}"/>
                    </a:ext>
                  </a:extLst>
                </p:cNvPr>
                <p:cNvSpPr txBox="1"/>
                <p:nvPr/>
              </p:nvSpPr>
              <p:spPr>
                <a:xfrm rot="16200000">
                  <a:off x="3506935" y="4796271"/>
                  <a:ext cx="604185" cy="246221"/>
                </a:xfrm>
                <a:prstGeom prst="rect">
                  <a:avLst/>
                </a:prstGeom>
                <a:noFill/>
              </p:spPr>
              <p:txBody>
                <a:bodyPr wrap="square" rtlCol="0">
                  <a:spAutoFit/>
                </a:bodyPr>
                <a:lstStyle/>
                <a:p>
                  <a:r>
                    <a:rPr lang="en-US" sz="1000" dirty="0"/>
                    <a:t>Loss</a:t>
                  </a:r>
                </a:p>
              </p:txBody>
            </p:sp>
          </p:grpSp>
          <p:sp>
            <p:nvSpPr>
              <p:cNvPr id="54" name="TextBox 53">
                <a:extLst>
                  <a:ext uri="{FF2B5EF4-FFF2-40B4-BE49-F238E27FC236}">
                    <a16:creationId xmlns:a16="http://schemas.microsoft.com/office/drawing/2014/main" id="{8998802C-852D-994B-8C5F-C5B692E0F592}"/>
                  </a:ext>
                </a:extLst>
              </p:cNvPr>
              <p:cNvSpPr txBox="1"/>
              <p:nvPr/>
            </p:nvSpPr>
            <p:spPr>
              <a:xfrm>
                <a:off x="3920563" y="4962073"/>
                <a:ext cx="106462" cy="369332"/>
              </a:xfrm>
              <a:prstGeom prst="rect">
                <a:avLst/>
              </a:prstGeom>
              <a:solidFill>
                <a:schemeClr val="bg1"/>
              </a:solidFill>
            </p:spPr>
            <p:txBody>
              <a:bodyPr wrap="square" rtlCol="0">
                <a:spAutoFit/>
              </a:bodyPr>
              <a:lstStyle/>
              <a:p>
                <a:endParaRPr lang="en-US" dirty="0"/>
              </a:p>
            </p:txBody>
          </p:sp>
        </p:grpSp>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986DDEE7-DBD0-9C46-B1BF-F43546D8B5F1}"/>
                    </a:ext>
                  </a:extLst>
                </p:cNvPr>
                <p:cNvSpPr txBox="1"/>
                <p:nvPr/>
              </p:nvSpPr>
              <p:spPr>
                <a:xfrm>
                  <a:off x="4927929" y="5893310"/>
                  <a:ext cx="369524" cy="215444"/>
                </a:xfrm>
                <a:prstGeom prst="rect">
                  <a:avLst/>
                </a:prstGeom>
                <a:solidFill>
                  <a:schemeClr val="bg1"/>
                </a:solidFill>
                <a:ln>
                  <a:noFill/>
                </a:ln>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sz="800" i="1" smtClean="0">
                                <a:latin typeface="Cambria Math" panose="02040503050406030204" pitchFamily="18" charset="0"/>
                              </a:rPr>
                            </m:ctrlPr>
                          </m:sSupPr>
                          <m:e>
                            <m:r>
                              <a:rPr lang="en-US" sz="800" b="0" i="1" smtClean="0">
                                <a:latin typeface="Cambria Math" panose="02040503050406030204" pitchFamily="18" charset="0"/>
                              </a:rPr>
                              <m:t>10</m:t>
                            </m:r>
                          </m:e>
                          <m:sup>
                            <m:r>
                              <a:rPr lang="en-US" sz="800" b="0" i="1" smtClean="0">
                                <a:latin typeface="Cambria Math" panose="02040503050406030204" pitchFamily="18" charset="0"/>
                              </a:rPr>
                              <m:t>−5</m:t>
                            </m:r>
                          </m:sup>
                        </m:sSup>
                      </m:oMath>
                    </m:oMathPara>
                  </a14:m>
                  <a:endParaRPr lang="en-US" sz="800" dirty="0"/>
                </a:p>
              </p:txBody>
            </p:sp>
          </mc:Choice>
          <mc:Fallback xmlns="">
            <p:sp>
              <p:nvSpPr>
                <p:cNvPr id="51" name="TextBox 50">
                  <a:extLst>
                    <a:ext uri="{FF2B5EF4-FFF2-40B4-BE49-F238E27FC236}">
                      <a16:creationId xmlns:a16="http://schemas.microsoft.com/office/drawing/2014/main" id="{986DDEE7-DBD0-9C46-B1BF-F43546D8B5F1}"/>
                    </a:ext>
                  </a:extLst>
                </p:cNvPr>
                <p:cNvSpPr txBox="1">
                  <a:spLocks noRot="1" noChangeAspect="1" noMove="1" noResize="1" noEditPoints="1" noAdjustHandles="1" noChangeArrowheads="1" noChangeShapeType="1" noTextEdit="1"/>
                </p:cNvSpPr>
                <p:nvPr/>
              </p:nvSpPr>
              <p:spPr>
                <a:xfrm>
                  <a:off x="4927929" y="5893310"/>
                  <a:ext cx="369524" cy="215444"/>
                </a:xfrm>
                <a:prstGeom prst="rect">
                  <a:avLst/>
                </a:prstGeom>
                <a:blipFill>
                  <a:blip r:embed="rId12"/>
                  <a:stretch>
                    <a:fillRect/>
                  </a:stretch>
                </a:blipFill>
                <a:ln>
                  <a:noFill/>
                </a:ln>
              </p:spPr>
              <p:txBody>
                <a:bodyPr/>
                <a:lstStyle/>
                <a:p>
                  <a:r>
                    <a:rPr lang="en-US">
                      <a:noFill/>
                    </a:rPr>
                    <a:t> </a:t>
                  </a:r>
                </a:p>
              </p:txBody>
            </p:sp>
          </mc:Fallback>
        </mc:AlternateContent>
      </p:grpSp>
    </p:spTree>
    <p:extLst>
      <p:ext uri="{BB962C8B-B14F-4D97-AF65-F5344CB8AC3E}">
        <p14:creationId xmlns:p14="http://schemas.microsoft.com/office/powerpoint/2010/main" val="16602136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71E7C92-C437-FC4C-94F6-E028CCC0A62B}"/>
              </a:ext>
            </a:extLst>
          </p:cNvPr>
          <p:cNvSpPr>
            <a:spLocks noGrp="1"/>
          </p:cNvSpPr>
          <p:nvPr>
            <p:ph idx="1"/>
          </p:nvPr>
        </p:nvSpPr>
        <p:spPr>
          <a:xfrm>
            <a:off x="838200" y="1074511"/>
            <a:ext cx="10515600" cy="4351338"/>
          </a:xfrm>
        </p:spPr>
        <p:txBody>
          <a:bodyPr>
            <a:normAutofit/>
          </a:bodyPr>
          <a:lstStyle/>
          <a:p>
            <a:r>
              <a:rPr lang="en-US" sz="1800" dirty="0">
                <a:hlinkClick r:id="rId2"/>
              </a:rPr>
              <a:t>https://en.wikipedia.org/wiki/Cahn%E2%80%93Hilliard_equation#/media/File:CahnHilliard_Animation.gif</a:t>
            </a:r>
            <a:endParaRPr lang="en-US" sz="1800" dirty="0"/>
          </a:p>
          <a:p>
            <a:r>
              <a:rPr lang="en-US" sz="1800" dirty="0">
                <a:hlinkClick r:id="rId3"/>
              </a:rPr>
              <a:t>https://www.google.com/search?biw=1680&amp;bih=889&amp;tbm=isch&amp;sxsrf=ACYBGNQ_IzneSLAU9OFxJrw-XhLx7-SD2w%3A1576092622889&amp;sa=1&amp;ei=zkPxXeDiNcGV_Qal9YKwDw&amp;q=euler+bernoulli+beam+gif&amp;oq=euler+bernoulli+beam+gif&amp;gs_l=img.3...3555.4784..4918...0.0..0.83.393.6......0....1..gws-wiz-img.......0i67j0j0i8i30j0i24j0i30.c1GmP2_LbGw&amp;ved=0ahUKEwjgga7Hqq7mAhXBSt8KHaW6APYQ4dUDCAc&amp;uact=5#imgrc=0tZMJgbORYbcuM:</a:t>
            </a:r>
            <a:endParaRPr lang="en-US" sz="1800" dirty="0"/>
          </a:p>
          <a:p>
            <a:r>
              <a:rPr lang="en-US" sz="1800" dirty="0"/>
              <a:t>Shen J. Modeling and numerical approximation of two-phase incompressible flows by a phase-field approach. </a:t>
            </a:r>
            <a:r>
              <a:rPr lang="en-US" sz="1800" dirty="0" err="1"/>
              <a:t>InMultiscale</a:t>
            </a:r>
            <a:r>
              <a:rPr lang="en-US" sz="1800" dirty="0"/>
              <a:t> modeling and analysis for materials simulation 2012 (pp. 147-195).</a:t>
            </a:r>
          </a:p>
          <a:p>
            <a:r>
              <a:rPr lang="en-US" sz="1800" dirty="0" err="1"/>
              <a:t>Raissi</a:t>
            </a:r>
            <a:r>
              <a:rPr lang="en-US" sz="1800" dirty="0"/>
              <a:t> M, </a:t>
            </a:r>
            <a:r>
              <a:rPr lang="en-US" sz="1800" dirty="0" err="1"/>
              <a:t>Perdikaris</a:t>
            </a:r>
            <a:r>
              <a:rPr lang="en-US" sz="1800" dirty="0"/>
              <a:t> P, </a:t>
            </a:r>
            <a:r>
              <a:rPr lang="en-US" sz="1800" dirty="0" err="1"/>
              <a:t>Karniadakis</a:t>
            </a:r>
            <a:r>
              <a:rPr lang="en-US" sz="1800" dirty="0"/>
              <a:t> GE. Physics-informed neural networks: A deep learning framework for solving forward and inverse problems involving nonlinear partial differential equations. Journal of Computational Physics. 2019 Feb 1;378:686-707.</a:t>
            </a:r>
          </a:p>
        </p:txBody>
      </p:sp>
      <p:sp>
        <p:nvSpPr>
          <p:cNvPr id="4" name="Rectangle 3">
            <a:extLst>
              <a:ext uri="{FF2B5EF4-FFF2-40B4-BE49-F238E27FC236}">
                <a16:creationId xmlns:a16="http://schemas.microsoft.com/office/drawing/2014/main" id="{35813D83-963B-5949-B335-677A5AE0AC4D}"/>
              </a:ext>
            </a:extLst>
          </p:cNvPr>
          <p:cNvSpPr/>
          <p:nvPr/>
        </p:nvSpPr>
        <p:spPr>
          <a:xfrm>
            <a:off x="0" y="0"/>
            <a:ext cx="12192000" cy="5762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t>References</a:t>
            </a:r>
          </a:p>
        </p:txBody>
      </p:sp>
    </p:spTree>
    <p:extLst>
      <p:ext uri="{BB962C8B-B14F-4D97-AF65-F5344CB8AC3E}">
        <p14:creationId xmlns:p14="http://schemas.microsoft.com/office/powerpoint/2010/main" val="38803708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Oval 3">
                <a:extLst>
                  <a:ext uri="{FF2B5EF4-FFF2-40B4-BE49-F238E27FC236}">
                    <a16:creationId xmlns:a16="http://schemas.microsoft.com/office/drawing/2014/main" id="{27628CE3-6DEB-AA41-87AC-6F0AEDAA9145}"/>
                  </a:ext>
                </a:extLst>
              </p:cNvPr>
              <p:cNvSpPr/>
              <p:nvPr/>
            </p:nvSpPr>
            <p:spPr>
              <a:xfrm>
                <a:off x="1844781" y="2151129"/>
                <a:ext cx="365760" cy="36576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oMath>
                  </m:oMathPara>
                </a14:m>
                <a:endParaRPr lang="en-US" dirty="0"/>
              </a:p>
            </p:txBody>
          </p:sp>
        </mc:Choice>
        <mc:Fallback xmlns="">
          <p:sp>
            <p:nvSpPr>
              <p:cNvPr id="4" name="Oval 3">
                <a:extLst>
                  <a:ext uri="{FF2B5EF4-FFF2-40B4-BE49-F238E27FC236}">
                    <a16:creationId xmlns:a16="http://schemas.microsoft.com/office/drawing/2014/main" id="{27628CE3-6DEB-AA41-87AC-6F0AEDAA9145}"/>
                  </a:ext>
                </a:extLst>
              </p:cNvPr>
              <p:cNvSpPr>
                <a:spLocks noRot="1" noChangeAspect="1" noMove="1" noResize="1" noEditPoints="1" noAdjustHandles="1" noChangeArrowheads="1" noChangeShapeType="1" noTextEdit="1"/>
              </p:cNvSpPr>
              <p:nvPr/>
            </p:nvSpPr>
            <p:spPr>
              <a:xfrm>
                <a:off x="1844781" y="2151129"/>
                <a:ext cx="365760" cy="365760"/>
              </a:xfrm>
              <a:prstGeom prst="ellipse">
                <a:avLst/>
              </a:prstGeom>
              <a:blipFill>
                <a:blip r:embed="rId2"/>
                <a:stretch>
                  <a:fillRect/>
                </a:stretch>
              </a:blipFill>
            </p:spPr>
            <p:txBody>
              <a:bodyPr/>
              <a:lstStyle/>
              <a:p>
                <a:r>
                  <a:rPr lang="en-US">
                    <a:noFill/>
                  </a:rPr>
                  <a:t> </a:t>
                </a:r>
              </a:p>
            </p:txBody>
          </p:sp>
        </mc:Fallback>
      </mc:AlternateContent>
      <p:sp>
        <p:nvSpPr>
          <p:cNvPr id="5" name="Oval 4">
            <a:extLst>
              <a:ext uri="{FF2B5EF4-FFF2-40B4-BE49-F238E27FC236}">
                <a16:creationId xmlns:a16="http://schemas.microsoft.com/office/drawing/2014/main" id="{BDB837E2-7BF3-3D40-95F3-25F1D4FC9F5A}"/>
              </a:ext>
            </a:extLst>
          </p:cNvPr>
          <p:cNvSpPr/>
          <p:nvPr/>
        </p:nvSpPr>
        <p:spPr>
          <a:xfrm>
            <a:off x="3730836" y="2894270"/>
            <a:ext cx="248575" cy="248575"/>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l-GR" dirty="0">
                <a:effectLst/>
              </a:rPr>
              <a:t>σ</a:t>
            </a:r>
            <a:endParaRPr lang="en-US" dirty="0"/>
          </a:p>
        </p:txBody>
      </p:sp>
      <p:sp>
        <p:nvSpPr>
          <p:cNvPr id="6" name="Oval 5">
            <a:extLst>
              <a:ext uri="{FF2B5EF4-FFF2-40B4-BE49-F238E27FC236}">
                <a16:creationId xmlns:a16="http://schemas.microsoft.com/office/drawing/2014/main" id="{8A47E334-C423-2C4A-9B26-8B76ECCDB2E9}"/>
              </a:ext>
            </a:extLst>
          </p:cNvPr>
          <p:cNvSpPr/>
          <p:nvPr/>
        </p:nvSpPr>
        <p:spPr>
          <a:xfrm>
            <a:off x="3730836" y="3330756"/>
            <a:ext cx="248575" cy="248575"/>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l-GR" dirty="0">
                <a:effectLst/>
              </a:rPr>
              <a:t>σ</a:t>
            </a:r>
            <a:endParaRPr lang="en-US" dirty="0"/>
          </a:p>
        </p:txBody>
      </p:sp>
      <p:sp>
        <p:nvSpPr>
          <p:cNvPr id="7" name="Oval 6">
            <a:extLst>
              <a:ext uri="{FF2B5EF4-FFF2-40B4-BE49-F238E27FC236}">
                <a16:creationId xmlns:a16="http://schemas.microsoft.com/office/drawing/2014/main" id="{83E83F46-1DC0-1042-BE27-F867430F27C0}"/>
              </a:ext>
            </a:extLst>
          </p:cNvPr>
          <p:cNvSpPr/>
          <p:nvPr/>
        </p:nvSpPr>
        <p:spPr>
          <a:xfrm>
            <a:off x="3730836" y="3767242"/>
            <a:ext cx="248575" cy="248575"/>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l-GR" dirty="0">
                <a:effectLst/>
              </a:rPr>
              <a:t>σ</a:t>
            </a:r>
            <a:endParaRPr lang="en-US" dirty="0"/>
          </a:p>
        </p:txBody>
      </p:sp>
      <p:sp>
        <p:nvSpPr>
          <p:cNvPr id="8" name="Oval 7">
            <a:extLst>
              <a:ext uri="{FF2B5EF4-FFF2-40B4-BE49-F238E27FC236}">
                <a16:creationId xmlns:a16="http://schemas.microsoft.com/office/drawing/2014/main" id="{889F5A68-F82D-5343-927C-85E656915BE9}"/>
              </a:ext>
            </a:extLst>
          </p:cNvPr>
          <p:cNvSpPr/>
          <p:nvPr/>
        </p:nvSpPr>
        <p:spPr>
          <a:xfrm>
            <a:off x="3730836" y="4203727"/>
            <a:ext cx="248575" cy="248575"/>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l-GR" dirty="0">
                <a:effectLst/>
              </a:rPr>
              <a:t>σ</a:t>
            </a:r>
            <a:endParaRPr lang="en-US" dirty="0"/>
          </a:p>
        </p:txBody>
      </p:sp>
      <p:cxnSp>
        <p:nvCxnSpPr>
          <p:cNvPr id="9" name="Straight Arrow Connector 8">
            <a:extLst>
              <a:ext uri="{FF2B5EF4-FFF2-40B4-BE49-F238E27FC236}">
                <a16:creationId xmlns:a16="http://schemas.microsoft.com/office/drawing/2014/main" id="{47025FAD-76DD-3248-A556-3A07F25ED748}"/>
              </a:ext>
            </a:extLst>
          </p:cNvPr>
          <p:cNvCxnSpPr>
            <a:cxnSpLocks/>
            <a:stCxn id="4" idx="6"/>
            <a:endCxn id="5" idx="2"/>
          </p:cNvCxnSpPr>
          <p:nvPr/>
        </p:nvCxnSpPr>
        <p:spPr>
          <a:xfrm>
            <a:off x="2210541" y="2334009"/>
            <a:ext cx="1520295" cy="68454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 name="Straight Arrow Connector 9">
            <a:extLst>
              <a:ext uri="{FF2B5EF4-FFF2-40B4-BE49-F238E27FC236}">
                <a16:creationId xmlns:a16="http://schemas.microsoft.com/office/drawing/2014/main" id="{36B70068-69D3-6842-99E6-861C0B146B14}"/>
              </a:ext>
            </a:extLst>
          </p:cNvPr>
          <p:cNvCxnSpPr>
            <a:cxnSpLocks/>
            <a:stCxn id="4" idx="6"/>
            <a:endCxn id="6" idx="2"/>
          </p:cNvCxnSpPr>
          <p:nvPr/>
        </p:nvCxnSpPr>
        <p:spPr>
          <a:xfrm>
            <a:off x="2210541" y="2334009"/>
            <a:ext cx="1520295" cy="112103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 name="Straight Arrow Connector 10">
            <a:extLst>
              <a:ext uri="{FF2B5EF4-FFF2-40B4-BE49-F238E27FC236}">
                <a16:creationId xmlns:a16="http://schemas.microsoft.com/office/drawing/2014/main" id="{128C2372-1E62-C444-AF77-36470F05605A}"/>
              </a:ext>
            </a:extLst>
          </p:cNvPr>
          <p:cNvCxnSpPr>
            <a:cxnSpLocks/>
            <a:stCxn id="4" idx="6"/>
            <a:endCxn id="7" idx="2"/>
          </p:cNvCxnSpPr>
          <p:nvPr/>
        </p:nvCxnSpPr>
        <p:spPr>
          <a:xfrm>
            <a:off x="2210541" y="2334009"/>
            <a:ext cx="1520295" cy="155752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 name="Straight Arrow Connector 11">
            <a:extLst>
              <a:ext uri="{FF2B5EF4-FFF2-40B4-BE49-F238E27FC236}">
                <a16:creationId xmlns:a16="http://schemas.microsoft.com/office/drawing/2014/main" id="{54F2CBC9-C1EC-A24B-994C-C1B1B0BE923C}"/>
              </a:ext>
            </a:extLst>
          </p:cNvPr>
          <p:cNvCxnSpPr>
            <a:cxnSpLocks/>
            <a:stCxn id="4" idx="6"/>
            <a:endCxn id="8" idx="2"/>
          </p:cNvCxnSpPr>
          <p:nvPr/>
        </p:nvCxnSpPr>
        <p:spPr>
          <a:xfrm>
            <a:off x="2210541" y="2334009"/>
            <a:ext cx="1520295" cy="199400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3" name="Oval 12">
            <a:extLst>
              <a:ext uri="{FF2B5EF4-FFF2-40B4-BE49-F238E27FC236}">
                <a16:creationId xmlns:a16="http://schemas.microsoft.com/office/drawing/2014/main" id="{3F89E1AA-620D-FD48-91B1-50C6549E2AC6}"/>
              </a:ext>
            </a:extLst>
          </p:cNvPr>
          <p:cNvSpPr/>
          <p:nvPr/>
        </p:nvSpPr>
        <p:spPr>
          <a:xfrm>
            <a:off x="4415894" y="2894270"/>
            <a:ext cx="248575" cy="248575"/>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l-GR" dirty="0">
                <a:effectLst/>
              </a:rPr>
              <a:t>σ</a:t>
            </a:r>
            <a:endParaRPr lang="en-US" dirty="0"/>
          </a:p>
        </p:txBody>
      </p:sp>
      <p:sp>
        <p:nvSpPr>
          <p:cNvPr id="14" name="Oval 13">
            <a:extLst>
              <a:ext uri="{FF2B5EF4-FFF2-40B4-BE49-F238E27FC236}">
                <a16:creationId xmlns:a16="http://schemas.microsoft.com/office/drawing/2014/main" id="{BBE1952B-4958-6545-8E0B-DF0294F46A19}"/>
              </a:ext>
            </a:extLst>
          </p:cNvPr>
          <p:cNvSpPr/>
          <p:nvPr/>
        </p:nvSpPr>
        <p:spPr>
          <a:xfrm>
            <a:off x="4415894" y="3330756"/>
            <a:ext cx="248575" cy="248575"/>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l-GR" dirty="0">
                <a:effectLst/>
              </a:rPr>
              <a:t>σ</a:t>
            </a:r>
            <a:endParaRPr lang="en-US" dirty="0"/>
          </a:p>
        </p:txBody>
      </p:sp>
      <p:sp>
        <p:nvSpPr>
          <p:cNvPr id="15" name="Oval 14">
            <a:extLst>
              <a:ext uri="{FF2B5EF4-FFF2-40B4-BE49-F238E27FC236}">
                <a16:creationId xmlns:a16="http://schemas.microsoft.com/office/drawing/2014/main" id="{532C1B93-51BD-354D-925D-62004CFD49F9}"/>
              </a:ext>
            </a:extLst>
          </p:cNvPr>
          <p:cNvSpPr/>
          <p:nvPr/>
        </p:nvSpPr>
        <p:spPr>
          <a:xfrm>
            <a:off x="4415894" y="3767242"/>
            <a:ext cx="248575" cy="248575"/>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l-GR" dirty="0">
                <a:effectLst/>
              </a:rPr>
              <a:t>σ</a:t>
            </a:r>
            <a:endParaRPr lang="en-US" dirty="0"/>
          </a:p>
        </p:txBody>
      </p:sp>
      <p:sp>
        <p:nvSpPr>
          <p:cNvPr id="16" name="Oval 15">
            <a:extLst>
              <a:ext uri="{FF2B5EF4-FFF2-40B4-BE49-F238E27FC236}">
                <a16:creationId xmlns:a16="http://schemas.microsoft.com/office/drawing/2014/main" id="{4DAFFE73-5169-0E45-A304-C2EA3D06D400}"/>
              </a:ext>
            </a:extLst>
          </p:cNvPr>
          <p:cNvSpPr/>
          <p:nvPr/>
        </p:nvSpPr>
        <p:spPr>
          <a:xfrm>
            <a:off x="4415894" y="4203727"/>
            <a:ext cx="248575" cy="248575"/>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l-GR" dirty="0">
                <a:effectLst/>
              </a:rPr>
              <a:t>σ</a:t>
            </a:r>
            <a:endParaRPr lang="en-US" dirty="0"/>
          </a:p>
        </p:txBody>
      </p:sp>
      <mc:AlternateContent xmlns:mc="http://schemas.openxmlformats.org/markup-compatibility/2006" xmlns:a14="http://schemas.microsoft.com/office/drawing/2010/main">
        <mc:Choice Requires="a14">
          <p:sp>
            <p:nvSpPr>
              <p:cNvPr id="17" name="Oval 16">
                <a:extLst>
                  <a:ext uri="{FF2B5EF4-FFF2-40B4-BE49-F238E27FC236}">
                    <a16:creationId xmlns:a16="http://schemas.microsoft.com/office/drawing/2014/main" id="{1693E29B-2EC9-4746-ABC0-8A4F3018ED13}"/>
                  </a:ext>
                </a:extLst>
              </p:cNvPr>
              <p:cNvSpPr/>
              <p:nvPr/>
            </p:nvSpPr>
            <p:spPr>
              <a:xfrm>
                <a:off x="5100952" y="3342765"/>
                <a:ext cx="365760" cy="365760"/>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1</m:t>
                          </m:r>
                        </m:sub>
                      </m:sSub>
                    </m:oMath>
                  </m:oMathPara>
                </a14:m>
                <a:endParaRPr lang="en-US" dirty="0"/>
              </a:p>
            </p:txBody>
          </p:sp>
        </mc:Choice>
        <mc:Fallback xmlns="">
          <p:sp>
            <p:nvSpPr>
              <p:cNvPr id="17" name="Oval 16">
                <a:extLst>
                  <a:ext uri="{FF2B5EF4-FFF2-40B4-BE49-F238E27FC236}">
                    <a16:creationId xmlns:a16="http://schemas.microsoft.com/office/drawing/2014/main" id="{1693E29B-2EC9-4746-ABC0-8A4F3018ED13}"/>
                  </a:ext>
                </a:extLst>
              </p:cNvPr>
              <p:cNvSpPr>
                <a:spLocks noRot="1" noChangeAspect="1" noMove="1" noResize="1" noEditPoints="1" noAdjustHandles="1" noChangeArrowheads="1" noChangeShapeType="1" noTextEdit="1"/>
              </p:cNvSpPr>
              <p:nvPr/>
            </p:nvSpPr>
            <p:spPr>
              <a:xfrm>
                <a:off x="5100952" y="3342765"/>
                <a:ext cx="365760" cy="365760"/>
              </a:xfrm>
              <a:prstGeom prst="ellipse">
                <a:avLst/>
              </a:prstGeom>
              <a:blipFill>
                <a:blip r:embed="rId3"/>
                <a:stretch>
                  <a:fillRect l="-3333"/>
                </a:stretch>
              </a:blipFill>
            </p:spPr>
            <p:txBody>
              <a:bodyPr/>
              <a:lstStyle/>
              <a:p>
                <a:r>
                  <a:rPr lang="en-US">
                    <a:noFill/>
                  </a:rPr>
                  <a:t> </a:t>
                </a:r>
              </a:p>
            </p:txBody>
          </p:sp>
        </mc:Fallback>
      </mc:AlternateContent>
      <p:cxnSp>
        <p:nvCxnSpPr>
          <p:cNvPr id="18" name="Straight Arrow Connector 17">
            <a:extLst>
              <a:ext uri="{FF2B5EF4-FFF2-40B4-BE49-F238E27FC236}">
                <a16:creationId xmlns:a16="http://schemas.microsoft.com/office/drawing/2014/main" id="{57026978-5E4C-974C-9C76-2253CA709DC8}"/>
              </a:ext>
            </a:extLst>
          </p:cNvPr>
          <p:cNvCxnSpPr>
            <a:stCxn id="5" idx="6"/>
            <a:endCxn id="16" idx="2"/>
          </p:cNvCxnSpPr>
          <p:nvPr/>
        </p:nvCxnSpPr>
        <p:spPr>
          <a:xfrm>
            <a:off x="3979411" y="3018558"/>
            <a:ext cx="436483" cy="130945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9" name="Straight Arrow Connector 18">
            <a:extLst>
              <a:ext uri="{FF2B5EF4-FFF2-40B4-BE49-F238E27FC236}">
                <a16:creationId xmlns:a16="http://schemas.microsoft.com/office/drawing/2014/main" id="{2A1274BD-9749-314C-A355-653BCAB654AE}"/>
              </a:ext>
            </a:extLst>
          </p:cNvPr>
          <p:cNvCxnSpPr>
            <a:stCxn id="5" idx="6"/>
            <a:endCxn id="13" idx="2"/>
          </p:cNvCxnSpPr>
          <p:nvPr/>
        </p:nvCxnSpPr>
        <p:spPr>
          <a:xfrm>
            <a:off x="3979411" y="3018558"/>
            <a:ext cx="43648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0" name="Straight Arrow Connector 19">
            <a:extLst>
              <a:ext uri="{FF2B5EF4-FFF2-40B4-BE49-F238E27FC236}">
                <a16:creationId xmlns:a16="http://schemas.microsoft.com/office/drawing/2014/main" id="{7724CF41-19FF-6E47-AEFE-5E31DE43D096}"/>
              </a:ext>
            </a:extLst>
          </p:cNvPr>
          <p:cNvCxnSpPr>
            <a:stCxn id="5" idx="6"/>
            <a:endCxn id="14" idx="2"/>
          </p:cNvCxnSpPr>
          <p:nvPr/>
        </p:nvCxnSpPr>
        <p:spPr>
          <a:xfrm>
            <a:off x="3979411" y="3018558"/>
            <a:ext cx="436483" cy="43648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 name="Straight Arrow Connector 20">
            <a:extLst>
              <a:ext uri="{FF2B5EF4-FFF2-40B4-BE49-F238E27FC236}">
                <a16:creationId xmlns:a16="http://schemas.microsoft.com/office/drawing/2014/main" id="{66320DE3-A1D6-3A49-A2C5-909B4AFAA806}"/>
              </a:ext>
            </a:extLst>
          </p:cNvPr>
          <p:cNvCxnSpPr>
            <a:stCxn id="5" idx="6"/>
            <a:endCxn id="15" idx="2"/>
          </p:cNvCxnSpPr>
          <p:nvPr/>
        </p:nvCxnSpPr>
        <p:spPr>
          <a:xfrm>
            <a:off x="3979411" y="3018558"/>
            <a:ext cx="436483" cy="87297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 name="Straight Arrow Connector 21">
            <a:extLst>
              <a:ext uri="{FF2B5EF4-FFF2-40B4-BE49-F238E27FC236}">
                <a16:creationId xmlns:a16="http://schemas.microsoft.com/office/drawing/2014/main" id="{21047B55-CB70-5848-B6CF-1AFCBD863911}"/>
              </a:ext>
            </a:extLst>
          </p:cNvPr>
          <p:cNvCxnSpPr>
            <a:stCxn id="6" idx="6"/>
            <a:endCxn id="13" idx="2"/>
          </p:cNvCxnSpPr>
          <p:nvPr/>
        </p:nvCxnSpPr>
        <p:spPr>
          <a:xfrm flipV="1">
            <a:off x="3979411" y="3018558"/>
            <a:ext cx="436483" cy="43648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 name="Straight Arrow Connector 22">
            <a:extLst>
              <a:ext uri="{FF2B5EF4-FFF2-40B4-BE49-F238E27FC236}">
                <a16:creationId xmlns:a16="http://schemas.microsoft.com/office/drawing/2014/main" id="{F4E38044-205B-E945-BBFE-732D6F87AD02}"/>
              </a:ext>
            </a:extLst>
          </p:cNvPr>
          <p:cNvCxnSpPr>
            <a:stCxn id="6" idx="6"/>
            <a:endCxn id="14" idx="2"/>
          </p:cNvCxnSpPr>
          <p:nvPr/>
        </p:nvCxnSpPr>
        <p:spPr>
          <a:xfrm>
            <a:off x="3979411" y="3455044"/>
            <a:ext cx="43648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 name="Straight Arrow Connector 23">
            <a:extLst>
              <a:ext uri="{FF2B5EF4-FFF2-40B4-BE49-F238E27FC236}">
                <a16:creationId xmlns:a16="http://schemas.microsoft.com/office/drawing/2014/main" id="{B3C01B4D-B5BE-3845-8CC9-4C72BC37F431}"/>
              </a:ext>
            </a:extLst>
          </p:cNvPr>
          <p:cNvCxnSpPr>
            <a:cxnSpLocks/>
            <a:stCxn id="6" idx="6"/>
            <a:endCxn id="15" idx="2"/>
          </p:cNvCxnSpPr>
          <p:nvPr/>
        </p:nvCxnSpPr>
        <p:spPr>
          <a:xfrm>
            <a:off x="3979411" y="3455044"/>
            <a:ext cx="436483" cy="43648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5" name="Straight Arrow Connector 24">
            <a:extLst>
              <a:ext uri="{FF2B5EF4-FFF2-40B4-BE49-F238E27FC236}">
                <a16:creationId xmlns:a16="http://schemas.microsoft.com/office/drawing/2014/main" id="{E0EA3329-8691-0048-AE14-23FCD4B93E90}"/>
              </a:ext>
            </a:extLst>
          </p:cNvPr>
          <p:cNvCxnSpPr>
            <a:stCxn id="6" idx="6"/>
            <a:endCxn id="16" idx="2"/>
          </p:cNvCxnSpPr>
          <p:nvPr/>
        </p:nvCxnSpPr>
        <p:spPr>
          <a:xfrm>
            <a:off x="3979411" y="3455044"/>
            <a:ext cx="436483" cy="87297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 name="Straight Arrow Connector 25">
            <a:extLst>
              <a:ext uri="{FF2B5EF4-FFF2-40B4-BE49-F238E27FC236}">
                <a16:creationId xmlns:a16="http://schemas.microsoft.com/office/drawing/2014/main" id="{88C29478-0343-9C4F-8E5B-7629CDCB0246}"/>
              </a:ext>
            </a:extLst>
          </p:cNvPr>
          <p:cNvCxnSpPr>
            <a:stCxn id="7" idx="6"/>
            <a:endCxn id="13" idx="2"/>
          </p:cNvCxnSpPr>
          <p:nvPr/>
        </p:nvCxnSpPr>
        <p:spPr>
          <a:xfrm flipV="1">
            <a:off x="3979411" y="3018558"/>
            <a:ext cx="436483" cy="87297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7" name="Straight Arrow Connector 26">
            <a:extLst>
              <a:ext uri="{FF2B5EF4-FFF2-40B4-BE49-F238E27FC236}">
                <a16:creationId xmlns:a16="http://schemas.microsoft.com/office/drawing/2014/main" id="{22C8DFDD-6417-EB4B-8ACA-4A2F6ABE87B6}"/>
              </a:ext>
            </a:extLst>
          </p:cNvPr>
          <p:cNvCxnSpPr>
            <a:stCxn id="7" idx="6"/>
            <a:endCxn id="14" idx="2"/>
          </p:cNvCxnSpPr>
          <p:nvPr/>
        </p:nvCxnSpPr>
        <p:spPr>
          <a:xfrm flipV="1">
            <a:off x="3979411" y="3455044"/>
            <a:ext cx="436483" cy="43648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8" name="Straight Arrow Connector 27">
            <a:extLst>
              <a:ext uri="{FF2B5EF4-FFF2-40B4-BE49-F238E27FC236}">
                <a16:creationId xmlns:a16="http://schemas.microsoft.com/office/drawing/2014/main" id="{8087621C-5396-F941-9525-7021FDFF4745}"/>
              </a:ext>
            </a:extLst>
          </p:cNvPr>
          <p:cNvCxnSpPr>
            <a:stCxn id="7" idx="6"/>
            <a:endCxn id="15" idx="2"/>
          </p:cNvCxnSpPr>
          <p:nvPr/>
        </p:nvCxnSpPr>
        <p:spPr>
          <a:xfrm>
            <a:off x="3979411" y="3891530"/>
            <a:ext cx="43648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9" name="Straight Arrow Connector 28">
            <a:extLst>
              <a:ext uri="{FF2B5EF4-FFF2-40B4-BE49-F238E27FC236}">
                <a16:creationId xmlns:a16="http://schemas.microsoft.com/office/drawing/2014/main" id="{D49B5F88-8E89-0740-B5E2-37303B06D7D9}"/>
              </a:ext>
            </a:extLst>
          </p:cNvPr>
          <p:cNvCxnSpPr>
            <a:stCxn id="7" idx="6"/>
            <a:endCxn id="16" idx="2"/>
          </p:cNvCxnSpPr>
          <p:nvPr/>
        </p:nvCxnSpPr>
        <p:spPr>
          <a:xfrm>
            <a:off x="3979411" y="3891530"/>
            <a:ext cx="436483" cy="43648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0" name="Straight Arrow Connector 29">
            <a:extLst>
              <a:ext uri="{FF2B5EF4-FFF2-40B4-BE49-F238E27FC236}">
                <a16:creationId xmlns:a16="http://schemas.microsoft.com/office/drawing/2014/main" id="{A4FBAA5E-2921-5D41-A9E0-E83FEE52DABB}"/>
              </a:ext>
            </a:extLst>
          </p:cNvPr>
          <p:cNvCxnSpPr>
            <a:stCxn id="8" idx="6"/>
            <a:endCxn id="13" idx="2"/>
          </p:cNvCxnSpPr>
          <p:nvPr/>
        </p:nvCxnSpPr>
        <p:spPr>
          <a:xfrm flipV="1">
            <a:off x="3979411" y="3018558"/>
            <a:ext cx="436483" cy="130945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1" name="Straight Arrow Connector 30">
            <a:extLst>
              <a:ext uri="{FF2B5EF4-FFF2-40B4-BE49-F238E27FC236}">
                <a16:creationId xmlns:a16="http://schemas.microsoft.com/office/drawing/2014/main" id="{85071F85-F7FE-E44E-9EF2-943FE9753FF7}"/>
              </a:ext>
            </a:extLst>
          </p:cNvPr>
          <p:cNvCxnSpPr>
            <a:stCxn id="8" idx="6"/>
            <a:endCxn id="14" idx="2"/>
          </p:cNvCxnSpPr>
          <p:nvPr/>
        </p:nvCxnSpPr>
        <p:spPr>
          <a:xfrm flipV="1">
            <a:off x="3979411" y="3455044"/>
            <a:ext cx="436483" cy="87297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2" name="Straight Arrow Connector 31">
            <a:extLst>
              <a:ext uri="{FF2B5EF4-FFF2-40B4-BE49-F238E27FC236}">
                <a16:creationId xmlns:a16="http://schemas.microsoft.com/office/drawing/2014/main" id="{69A64440-E761-324A-AD8C-21A99B64B5FB}"/>
              </a:ext>
            </a:extLst>
          </p:cNvPr>
          <p:cNvCxnSpPr>
            <a:stCxn id="8" idx="6"/>
            <a:endCxn id="15" idx="2"/>
          </p:cNvCxnSpPr>
          <p:nvPr/>
        </p:nvCxnSpPr>
        <p:spPr>
          <a:xfrm flipV="1">
            <a:off x="3979411" y="3891530"/>
            <a:ext cx="436483" cy="43648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3" name="Straight Arrow Connector 32">
            <a:extLst>
              <a:ext uri="{FF2B5EF4-FFF2-40B4-BE49-F238E27FC236}">
                <a16:creationId xmlns:a16="http://schemas.microsoft.com/office/drawing/2014/main" id="{DC9B5833-322B-3A4A-873B-612C258D6537}"/>
              </a:ext>
            </a:extLst>
          </p:cNvPr>
          <p:cNvCxnSpPr>
            <a:stCxn id="8" idx="6"/>
            <a:endCxn id="16" idx="2"/>
          </p:cNvCxnSpPr>
          <p:nvPr/>
        </p:nvCxnSpPr>
        <p:spPr>
          <a:xfrm>
            <a:off x="3979411" y="4328015"/>
            <a:ext cx="43648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4" name="Straight Arrow Connector 33">
            <a:extLst>
              <a:ext uri="{FF2B5EF4-FFF2-40B4-BE49-F238E27FC236}">
                <a16:creationId xmlns:a16="http://schemas.microsoft.com/office/drawing/2014/main" id="{938BD9FF-FCBB-5C49-8A41-18885FA10EE4}"/>
              </a:ext>
            </a:extLst>
          </p:cNvPr>
          <p:cNvCxnSpPr>
            <a:cxnSpLocks/>
            <a:stCxn id="13" idx="6"/>
            <a:endCxn id="17" idx="2"/>
          </p:cNvCxnSpPr>
          <p:nvPr/>
        </p:nvCxnSpPr>
        <p:spPr>
          <a:xfrm>
            <a:off x="4664469" y="3018558"/>
            <a:ext cx="436483" cy="50708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5" name="Straight Arrow Connector 34">
            <a:extLst>
              <a:ext uri="{FF2B5EF4-FFF2-40B4-BE49-F238E27FC236}">
                <a16:creationId xmlns:a16="http://schemas.microsoft.com/office/drawing/2014/main" id="{9B367E50-33C0-A446-9F2A-D3F24378608F}"/>
              </a:ext>
            </a:extLst>
          </p:cNvPr>
          <p:cNvCxnSpPr>
            <a:cxnSpLocks/>
            <a:stCxn id="14" idx="6"/>
            <a:endCxn id="17" idx="2"/>
          </p:cNvCxnSpPr>
          <p:nvPr/>
        </p:nvCxnSpPr>
        <p:spPr>
          <a:xfrm>
            <a:off x="4664469" y="3455044"/>
            <a:ext cx="436483" cy="7060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6" name="Straight Arrow Connector 35">
            <a:extLst>
              <a:ext uri="{FF2B5EF4-FFF2-40B4-BE49-F238E27FC236}">
                <a16:creationId xmlns:a16="http://schemas.microsoft.com/office/drawing/2014/main" id="{EEB36E76-BF90-D14F-A704-07C94098F058}"/>
              </a:ext>
            </a:extLst>
          </p:cNvPr>
          <p:cNvCxnSpPr>
            <a:cxnSpLocks/>
            <a:stCxn id="15" idx="6"/>
            <a:endCxn id="17" idx="2"/>
          </p:cNvCxnSpPr>
          <p:nvPr/>
        </p:nvCxnSpPr>
        <p:spPr>
          <a:xfrm flipV="1">
            <a:off x="4664469" y="3525645"/>
            <a:ext cx="436483" cy="36588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7" name="Straight Arrow Connector 36">
            <a:extLst>
              <a:ext uri="{FF2B5EF4-FFF2-40B4-BE49-F238E27FC236}">
                <a16:creationId xmlns:a16="http://schemas.microsoft.com/office/drawing/2014/main" id="{C601FCAA-21E1-B448-A28F-BB8FCE33CD36}"/>
              </a:ext>
            </a:extLst>
          </p:cNvPr>
          <p:cNvCxnSpPr>
            <a:cxnSpLocks/>
            <a:stCxn id="16" idx="6"/>
            <a:endCxn id="17" idx="2"/>
          </p:cNvCxnSpPr>
          <p:nvPr/>
        </p:nvCxnSpPr>
        <p:spPr>
          <a:xfrm flipV="1">
            <a:off x="4664469" y="3525645"/>
            <a:ext cx="436483" cy="80237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8" name="Rectangle 37">
            <a:extLst>
              <a:ext uri="{FF2B5EF4-FFF2-40B4-BE49-F238E27FC236}">
                <a16:creationId xmlns:a16="http://schemas.microsoft.com/office/drawing/2014/main" id="{13320EE9-1937-CB41-87BF-A6E5176D6047}"/>
              </a:ext>
            </a:extLst>
          </p:cNvPr>
          <p:cNvSpPr/>
          <p:nvPr/>
        </p:nvSpPr>
        <p:spPr>
          <a:xfrm rot="1591676">
            <a:off x="2044482" y="4271155"/>
            <a:ext cx="2682979" cy="369332"/>
          </a:xfrm>
          <a:prstGeom prst="rect">
            <a:avLst/>
          </a:prstGeom>
        </p:spPr>
        <p:txBody>
          <a:bodyPr wrap="none">
            <a:spAutoFit/>
          </a:bodyPr>
          <a:lstStyle/>
          <a:p>
            <a:r>
              <a:rPr lang="en-US" b="1" u="sng" dirty="0"/>
              <a:t>NN for Displacement Field</a:t>
            </a:r>
          </a:p>
        </p:txBody>
      </p:sp>
      <mc:AlternateContent xmlns:mc="http://schemas.openxmlformats.org/markup-compatibility/2006" xmlns:a14="http://schemas.microsoft.com/office/drawing/2010/main">
        <mc:Choice Requires="a14">
          <p:sp>
            <p:nvSpPr>
              <p:cNvPr id="39" name="Oval 38">
                <a:extLst>
                  <a:ext uri="{FF2B5EF4-FFF2-40B4-BE49-F238E27FC236}">
                    <a16:creationId xmlns:a16="http://schemas.microsoft.com/office/drawing/2014/main" id="{AB2283D2-D31C-CA43-BD20-4B6B2F8F7AAF}"/>
                  </a:ext>
                </a:extLst>
              </p:cNvPr>
              <p:cNvSpPr/>
              <p:nvPr/>
            </p:nvSpPr>
            <p:spPr>
              <a:xfrm>
                <a:off x="6170651" y="3081535"/>
                <a:ext cx="621892" cy="62189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r>
                            <a:rPr lang="en-US" i="1">
                              <a:latin typeface="Cambria Math" panose="02040503050406030204" pitchFamily="18" charset="0"/>
                            </a:rPr>
                            <m:t>𝜕</m:t>
                          </m:r>
                        </m:num>
                        <m:den>
                          <m:r>
                            <a:rPr lang="en-US" i="1">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den>
                      </m:f>
                    </m:oMath>
                  </m:oMathPara>
                </a14:m>
                <a:endParaRPr lang="en-US" dirty="0"/>
              </a:p>
            </p:txBody>
          </p:sp>
        </mc:Choice>
        <mc:Fallback xmlns="">
          <p:sp>
            <p:nvSpPr>
              <p:cNvPr id="39" name="Oval 38">
                <a:extLst>
                  <a:ext uri="{FF2B5EF4-FFF2-40B4-BE49-F238E27FC236}">
                    <a16:creationId xmlns:a16="http://schemas.microsoft.com/office/drawing/2014/main" id="{AB2283D2-D31C-CA43-BD20-4B6B2F8F7AAF}"/>
                  </a:ext>
                </a:extLst>
              </p:cNvPr>
              <p:cNvSpPr>
                <a:spLocks noRot="1" noChangeAspect="1" noMove="1" noResize="1" noEditPoints="1" noAdjustHandles="1" noChangeArrowheads="1" noChangeShapeType="1" noTextEdit="1"/>
              </p:cNvSpPr>
              <p:nvPr/>
            </p:nvSpPr>
            <p:spPr>
              <a:xfrm>
                <a:off x="6170651" y="3081535"/>
                <a:ext cx="621892" cy="621892"/>
              </a:xfrm>
              <a:prstGeom prst="ellipse">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Oval 39">
                <a:extLst>
                  <a:ext uri="{FF2B5EF4-FFF2-40B4-BE49-F238E27FC236}">
                    <a16:creationId xmlns:a16="http://schemas.microsoft.com/office/drawing/2014/main" id="{2344557C-B600-5040-A9D8-E86218E3C810}"/>
                  </a:ext>
                </a:extLst>
              </p:cNvPr>
              <p:cNvSpPr/>
              <p:nvPr/>
            </p:nvSpPr>
            <p:spPr>
              <a:xfrm>
                <a:off x="6170650" y="3767242"/>
                <a:ext cx="621893" cy="621893"/>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r>
                            <a:rPr lang="en-US" i="1">
                              <a:latin typeface="Cambria Math" panose="02040503050406030204" pitchFamily="18" charset="0"/>
                            </a:rPr>
                            <m:t>𝜕</m:t>
                          </m:r>
                        </m:num>
                        <m:den>
                          <m:r>
                            <a:rPr lang="en-US"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den>
                      </m:f>
                    </m:oMath>
                  </m:oMathPara>
                </a14:m>
                <a:endParaRPr lang="en-US" dirty="0"/>
              </a:p>
            </p:txBody>
          </p:sp>
        </mc:Choice>
        <mc:Fallback xmlns="">
          <p:sp>
            <p:nvSpPr>
              <p:cNvPr id="40" name="Oval 39">
                <a:extLst>
                  <a:ext uri="{FF2B5EF4-FFF2-40B4-BE49-F238E27FC236}">
                    <a16:creationId xmlns:a16="http://schemas.microsoft.com/office/drawing/2014/main" id="{2344557C-B600-5040-A9D8-E86218E3C810}"/>
                  </a:ext>
                </a:extLst>
              </p:cNvPr>
              <p:cNvSpPr>
                <a:spLocks noRot="1" noChangeAspect="1" noMove="1" noResize="1" noEditPoints="1" noAdjustHandles="1" noChangeArrowheads="1" noChangeShapeType="1" noTextEdit="1"/>
              </p:cNvSpPr>
              <p:nvPr/>
            </p:nvSpPr>
            <p:spPr>
              <a:xfrm>
                <a:off x="6170650" y="3767242"/>
                <a:ext cx="621893" cy="621893"/>
              </a:xfrm>
              <a:prstGeom prst="ellipse">
                <a:avLst/>
              </a:prstGeom>
              <a:blipFill>
                <a:blip r:embed="rId5"/>
                <a:stretch>
                  <a:fillRect b="-1961"/>
                </a:stretch>
              </a:blipFill>
            </p:spPr>
            <p:txBody>
              <a:bodyPr/>
              <a:lstStyle/>
              <a:p>
                <a:r>
                  <a:rPr lang="en-US">
                    <a:noFill/>
                  </a:rPr>
                  <a:t> </a:t>
                </a:r>
              </a:p>
            </p:txBody>
          </p:sp>
        </mc:Fallback>
      </mc:AlternateContent>
      <p:cxnSp>
        <p:nvCxnSpPr>
          <p:cNvPr id="41" name="Straight Arrow Connector 40">
            <a:extLst>
              <a:ext uri="{FF2B5EF4-FFF2-40B4-BE49-F238E27FC236}">
                <a16:creationId xmlns:a16="http://schemas.microsoft.com/office/drawing/2014/main" id="{1B86E4E1-3C95-384C-97DA-9381BC0835F3}"/>
              </a:ext>
            </a:extLst>
          </p:cNvPr>
          <p:cNvCxnSpPr>
            <a:cxnSpLocks/>
            <a:stCxn id="17" idx="6"/>
            <a:endCxn id="39" idx="2"/>
          </p:cNvCxnSpPr>
          <p:nvPr/>
        </p:nvCxnSpPr>
        <p:spPr>
          <a:xfrm flipV="1">
            <a:off x="5466712" y="3392481"/>
            <a:ext cx="703939" cy="13316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2" name="Straight Arrow Connector 41">
            <a:extLst>
              <a:ext uri="{FF2B5EF4-FFF2-40B4-BE49-F238E27FC236}">
                <a16:creationId xmlns:a16="http://schemas.microsoft.com/office/drawing/2014/main" id="{3857CE92-AC1D-674E-94BA-084C92A1762B}"/>
              </a:ext>
            </a:extLst>
          </p:cNvPr>
          <p:cNvCxnSpPr>
            <a:cxnSpLocks/>
            <a:stCxn id="17" idx="6"/>
            <a:endCxn id="40" idx="2"/>
          </p:cNvCxnSpPr>
          <p:nvPr/>
        </p:nvCxnSpPr>
        <p:spPr>
          <a:xfrm>
            <a:off x="5466712" y="3525645"/>
            <a:ext cx="703938" cy="55254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43" name="Oval 42">
                <a:extLst>
                  <a:ext uri="{FF2B5EF4-FFF2-40B4-BE49-F238E27FC236}">
                    <a16:creationId xmlns:a16="http://schemas.microsoft.com/office/drawing/2014/main" id="{1A0EBCD9-C72F-2E4A-80EC-F23E60F9D8DD}"/>
                  </a:ext>
                </a:extLst>
              </p:cNvPr>
              <p:cNvSpPr/>
              <p:nvPr/>
            </p:nvSpPr>
            <p:spPr>
              <a:xfrm>
                <a:off x="1844619" y="2686795"/>
                <a:ext cx="365760" cy="36576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oMath>
                  </m:oMathPara>
                </a14:m>
                <a:endParaRPr lang="en-US" dirty="0"/>
              </a:p>
            </p:txBody>
          </p:sp>
        </mc:Choice>
        <mc:Fallback xmlns="">
          <p:sp>
            <p:nvSpPr>
              <p:cNvPr id="43" name="Oval 42">
                <a:extLst>
                  <a:ext uri="{FF2B5EF4-FFF2-40B4-BE49-F238E27FC236}">
                    <a16:creationId xmlns:a16="http://schemas.microsoft.com/office/drawing/2014/main" id="{1A0EBCD9-C72F-2E4A-80EC-F23E60F9D8DD}"/>
                  </a:ext>
                </a:extLst>
              </p:cNvPr>
              <p:cNvSpPr>
                <a:spLocks noRot="1" noChangeAspect="1" noMove="1" noResize="1" noEditPoints="1" noAdjustHandles="1" noChangeArrowheads="1" noChangeShapeType="1" noTextEdit="1"/>
              </p:cNvSpPr>
              <p:nvPr/>
            </p:nvSpPr>
            <p:spPr>
              <a:xfrm>
                <a:off x="1844619" y="2686795"/>
                <a:ext cx="365760" cy="365760"/>
              </a:xfrm>
              <a:prstGeom prst="ellipse">
                <a:avLst/>
              </a:prstGeom>
              <a:blipFill>
                <a:blip r:embed="rId6"/>
                <a:stretch>
                  <a:fillRect/>
                </a:stretch>
              </a:blipFill>
            </p:spPr>
            <p:txBody>
              <a:bodyPr/>
              <a:lstStyle/>
              <a:p>
                <a:r>
                  <a:rPr lang="en-US">
                    <a:noFill/>
                  </a:rPr>
                  <a:t> </a:t>
                </a:r>
              </a:p>
            </p:txBody>
          </p:sp>
        </mc:Fallback>
      </mc:AlternateContent>
      <p:cxnSp>
        <p:nvCxnSpPr>
          <p:cNvPr id="44" name="Straight Arrow Connector 43">
            <a:extLst>
              <a:ext uri="{FF2B5EF4-FFF2-40B4-BE49-F238E27FC236}">
                <a16:creationId xmlns:a16="http://schemas.microsoft.com/office/drawing/2014/main" id="{398CDEBC-1977-7F43-A345-623FA4916647}"/>
              </a:ext>
            </a:extLst>
          </p:cNvPr>
          <p:cNvCxnSpPr>
            <a:stCxn id="43" idx="6"/>
            <a:endCxn id="5" idx="2"/>
          </p:cNvCxnSpPr>
          <p:nvPr/>
        </p:nvCxnSpPr>
        <p:spPr>
          <a:xfrm>
            <a:off x="2210379" y="2869675"/>
            <a:ext cx="1520457" cy="14888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5" name="Straight Arrow Connector 44">
            <a:extLst>
              <a:ext uri="{FF2B5EF4-FFF2-40B4-BE49-F238E27FC236}">
                <a16:creationId xmlns:a16="http://schemas.microsoft.com/office/drawing/2014/main" id="{70939193-76AB-6A40-BC0D-56CD1CFF8392}"/>
              </a:ext>
            </a:extLst>
          </p:cNvPr>
          <p:cNvCxnSpPr>
            <a:stCxn id="43" idx="6"/>
            <a:endCxn id="6" idx="2"/>
          </p:cNvCxnSpPr>
          <p:nvPr/>
        </p:nvCxnSpPr>
        <p:spPr>
          <a:xfrm>
            <a:off x="2210379" y="2869675"/>
            <a:ext cx="1520457" cy="58536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6" name="Straight Arrow Connector 45">
            <a:extLst>
              <a:ext uri="{FF2B5EF4-FFF2-40B4-BE49-F238E27FC236}">
                <a16:creationId xmlns:a16="http://schemas.microsoft.com/office/drawing/2014/main" id="{65B43488-2756-E747-BC7E-B70104BAC6F8}"/>
              </a:ext>
            </a:extLst>
          </p:cNvPr>
          <p:cNvCxnSpPr>
            <a:stCxn id="43" idx="6"/>
            <a:endCxn id="7" idx="2"/>
          </p:cNvCxnSpPr>
          <p:nvPr/>
        </p:nvCxnSpPr>
        <p:spPr>
          <a:xfrm>
            <a:off x="2210379" y="2869675"/>
            <a:ext cx="1520457" cy="102185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7" name="Straight Arrow Connector 46">
            <a:extLst>
              <a:ext uri="{FF2B5EF4-FFF2-40B4-BE49-F238E27FC236}">
                <a16:creationId xmlns:a16="http://schemas.microsoft.com/office/drawing/2014/main" id="{7AD0833C-659D-FD46-9B47-49C83379997D}"/>
              </a:ext>
            </a:extLst>
          </p:cNvPr>
          <p:cNvCxnSpPr>
            <a:stCxn id="43" idx="6"/>
            <a:endCxn id="8" idx="2"/>
          </p:cNvCxnSpPr>
          <p:nvPr/>
        </p:nvCxnSpPr>
        <p:spPr>
          <a:xfrm>
            <a:off x="2210379" y="2869675"/>
            <a:ext cx="1520457" cy="145834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8" name="Rectangle 47">
            <a:extLst>
              <a:ext uri="{FF2B5EF4-FFF2-40B4-BE49-F238E27FC236}">
                <a16:creationId xmlns:a16="http://schemas.microsoft.com/office/drawing/2014/main" id="{6568D0A1-68BA-5248-B863-134B7AFB45D4}"/>
              </a:ext>
            </a:extLst>
          </p:cNvPr>
          <p:cNvSpPr/>
          <p:nvPr/>
        </p:nvSpPr>
        <p:spPr>
          <a:xfrm>
            <a:off x="9768899" y="2043755"/>
            <a:ext cx="566181" cy="369332"/>
          </a:xfrm>
          <a:prstGeom prst="rect">
            <a:avLst/>
          </a:prstGeom>
        </p:spPr>
        <p:txBody>
          <a:bodyPr wrap="none">
            <a:spAutoFit/>
          </a:bodyPr>
          <a:lstStyle/>
          <a:p>
            <a:r>
              <a:rPr lang="en-US" b="1" u="sng" dirty="0">
                <a:solidFill>
                  <a:schemeClr val="bg1">
                    <a:lumMod val="50000"/>
                  </a:schemeClr>
                </a:solidFill>
              </a:rPr>
              <a:t>PDE</a:t>
            </a:r>
          </a:p>
        </p:txBody>
      </p:sp>
      <p:sp>
        <p:nvSpPr>
          <p:cNvPr id="49" name="Oval 48">
            <a:extLst>
              <a:ext uri="{FF2B5EF4-FFF2-40B4-BE49-F238E27FC236}">
                <a16:creationId xmlns:a16="http://schemas.microsoft.com/office/drawing/2014/main" id="{E1A2B8BC-D89C-EC43-937F-5D6C3FA47BB3}"/>
              </a:ext>
            </a:extLst>
          </p:cNvPr>
          <p:cNvSpPr/>
          <p:nvPr/>
        </p:nvSpPr>
        <p:spPr>
          <a:xfrm>
            <a:off x="6065064" y="5385295"/>
            <a:ext cx="833063" cy="364730"/>
          </a:xfrm>
          <a:prstGeom prst="ellipse">
            <a:avLst/>
          </a:prstGeom>
          <a:solidFill>
            <a:srgbClr val="FF0000"/>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a:t>Loss</a:t>
            </a:r>
          </a:p>
        </p:txBody>
      </p:sp>
      <p:cxnSp>
        <p:nvCxnSpPr>
          <p:cNvPr id="50" name="Connector: Curved 161">
            <a:extLst>
              <a:ext uri="{FF2B5EF4-FFF2-40B4-BE49-F238E27FC236}">
                <a16:creationId xmlns:a16="http://schemas.microsoft.com/office/drawing/2014/main" id="{1AAC4AB5-9DC7-A44A-B0A2-B4FD211C7785}"/>
              </a:ext>
            </a:extLst>
          </p:cNvPr>
          <p:cNvCxnSpPr>
            <a:cxnSpLocks/>
            <a:stCxn id="83" idx="2"/>
            <a:endCxn id="49" idx="6"/>
          </p:cNvCxnSpPr>
          <p:nvPr/>
        </p:nvCxnSpPr>
        <p:spPr>
          <a:xfrm rot="5400000">
            <a:off x="7627868" y="3686875"/>
            <a:ext cx="1151044" cy="2610526"/>
          </a:xfrm>
          <a:prstGeom prst="curvedConnector2">
            <a:avLst/>
          </a:prstGeom>
          <a:ln>
            <a:tailEnd type="triangle"/>
          </a:ln>
        </p:spPr>
        <p:style>
          <a:lnRef idx="1">
            <a:schemeClr val="dk1"/>
          </a:lnRef>
          <a:fillRef idx="0">
            <a:schemeClr val="dk1"/>
          </a:fillRef>
          <a:effectRef idx="0">
            <a:schemeClr val="dk1"/>
          </a:effectRef>
          <a:fontRef idx="minor">
            <a:schemeClr val="tx1"/>
          </a:fontRef>
        </p:style>
      </p:cxnSp>
      <p:sp>
        <p:nvSpPr>
          <p:cNvPr id="51" name="Rectangle: Rounded Corners 170">
            <a:extLst>
              <a:ext uri="{FF2B5EF4-FFF2-40B4-BE49-F238E27FC236}">
                <a16:creationId xmlns:a16="http://schemas.microsoft.com/office/drawing/2014/main" id="{C522C493-5DCD-764F-A15B-62B88AE30045}"/>
              </a:ext>
            </a:extLst>
          </p:cNvPr>
          <p:cNvSpPr/>
          <p:nvPr/>
        </p:nvSpPr>
        <p:spPr>
          <a:xfrm>
            <a:off x="4913045" y="2383790"/>
            <a:ext cx="5861222" cy="2843835"/>
          </a:xfrm>
          <a:prstGeom prst="roundRect">
            <a:avLst/>
          </a:prstGeom>
          <a:noFill/>
          <a:ln w="19050">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52" name="Rectangle: Rounded Corners 171">
                <a:extLst>
                  <a:ext uri="{FF2B5EF4-FFF2-40B4-BE49-F238E27FC236}">
                    <a16:creationId xmlns:a16="http://schemas.microsoft.com/office/drawing/2014/main" id="{770D16D8-A458-C44F-995C-C80955327504}"/>
                  </a:ext>
                </a:extLst>
              </p:cNvPr>
              <p:cNvSpPr/>
              <p:nvPr/>
            </p:nvSpPr>
            <p:spPr>
              <a:xfrm>
                <a:off x="8500731" y="2993405"/>
                <a:ext cx="2015844" cy="674702"/>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14:m>
                  <m:oMathPara xmlns:m="http://schemas.openxmlformats.org/officeDocument/2006/math">
                    <m:oMathParaPr>
                      <m:jc m:val="left"/>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1</m:t>
                          </m:r>
                        </m:sub>
                      </m:sSub>
                      <m:r>
                        <a:rPr lang="en-US" b="0" i="1" smtClean="0">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𝜎</m:t>
                              </m:r>
                            </m:e>
                            <m:sub>
                              <m:r>
                                <a:rPr lang="en-US" i="1">
                                  <a:latin typeface="Cambria Math" panose="02040503050406030204" pitchFamily="18" charset="0"/>
                                </a:rPr>
                                <m:t>11</m:t>
                              </m:r>
                            </m:sub>
                          </m:sSub>
                        </m:num>
                        <m:den>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den>
                      </m:f>
                      <m:r>
                        <a:rPr lang="en-US" b="0" i="1" smtClean="0">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𝜎</m:t>
                              </m:r>
                            </m:e>
                            <m:sub>
                              <m:r>
                                <a:rPr lang="en-US" i="1">
                                  <a:latin typeface="Cambria Math" panose="02040503050406030204" pitchFamily="18" charset="0"/>
                                </a:rPr>
                                <m:t>1</m:t>
                              </m:r>
                              <m:r>
                                <a:rPr lang="en-US" b="0" i="1" smtClean="0">
                                  <a:latin typeface="Cambria Math" panose="02040503050406030204" pitchFamily="18" charset="0"/>
                                </a:rPr>
                                <m:t>2</m:t>
                              </m:r>
                            </m:sub>
                          </m:sSub>
                        </m:num>
                        <m:den>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2</m:t>
                              </m:r>
                            </m:sub>
                          </m:sSub>
                        </m:den>
                      </m:f>
                    </m:oMath>
                  </m:oMathPara>
                </a14:m>
                <a:endParaRPr lang="en-US" dirty="0"/>
              </a:p>
            </p:txBody>
          </p:sp>
        </mc:Choice>
        <mc:Fallback xmlns="">
          <p:sp>
            <p:nvSpPr>
              <p:cNvPr id="52" name="Rectangle: Rounded Corners 171">
                <a:extLst>
                  <a:ext uri="{FF2B5EF4-FFF2-40B4-BE49-F238E27FC236}">
                    <a16:creationId xmlns:a16="http://schemas.microsoft.com/office/drawing/2014/main" id="{770D16D8-A458-C44F-995C-C80955327504}"/>
                  </a:ext>
                </a:extLst>
              </p:cNvPr>
              <p:cNvSpPr>
                <a:spLocks noRot="1" noChangeAspect="1" noMove="1" noResize="1" noEditPoints="1" noAdjustHandles="1" noChangeArrowheads="1" noChangeShapeType="1" noTextEdit="1"/>
              </p:cNvSpPr>
              <p:nvPr/>
            </p:nvSpPr>
            <p:spPr>
              <a:xfrm>
                <a:off x="8500731" y="2993405"/>
                <a:ext cx="2015844" cy="674702"/>
              </a:xfrm>
              <a:prstGeom prst="roundRect">
                <a:avLst/>
              </a:prstGeom>
              <a:blipFill>
                <a:blip r:embed="rId7"/>
                <a:stretch>
                  <a:fillRect/>
                </a:stretch>
              </a:blipFill>
            </p:spPr>
            <p:txBody>
              <a:bodyPr/>
              <a:lstStyle/>
              <a:p>
                <a:r>
                  <a:rPr lang="en-US">
                    <a:noFill/>
                  </a:rPr>
                  <a:t> </a:t>
                </a:r>
              </a:p>
            </p:txBody>
          </p:sp>
        </mc:Fallback>
      </mc:AlternateContent>
      <p:cxnSp>
        <p:nvCxnSpPr>
          <p:cNvPr id="53" name="Straight Arrow Connector 52">
            <a:extLst>
              <a:ext uri="{FF2B5EF4-FFF2-40B4-BE49-F238E27FC236}">
                <a16:creationId xmlns:a16="http://schemas.microsoft.com/office/drawing/2014/main" id="{39E28D9C-5DB6-524D-9838-5A8AAB593B5F}"/>
              </a:ext>
            </a:extLst>
          </p:cNvPr>
          <p:cNvCxnSpPr>
            <a:cxnSpLocks/>
            <a:stCxn id="39" idx="6"/>
            <a:endCxn id="73" idx="2"/>
          </p:cNvCxnSpPr>
          <p:nvPr/>
        </p:nvCxnSpPr>
        <p:spPr>
          <a:xfrm flipV="1">
            <a:off x="6792543" y="2900893"/>
            <a:ext cx="573581" cy="49158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4" name="Straight Arrow Connector 53">
            <a:extLst>
              <a:ext uri="{FF2B5EF4-FFF2-40B4-BE49-F238E27FC236}">
                <a16:creationId xmlns:a16="http://schemas.microsoft.com/office/drawing/2014/main" id="{3702951F-A398-0549-8633-4D01EF08A468}"/>
              </a:ext>
            </a:extLst>
          </p:cNvPr>
          <p:cNvCxnSpPr>
            <a:cxnSpLocks/>
            <a:stCxn id="40" idx="6"/>
            <a:endCxn id="73" idx="2"/>
          </p:cNvCxnSpPr>
          <p:nvPr/>
        </p:nvCxnSpPr>
        <p:spPr>
          <a:xfrm flipV="1">
            <a:off x="6792543" y="2900893"/>
            <a:ext cx="573581" cy="117729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55" name="Diamond 54">
                <a:extLst>
                  <a:ext uri="{FF2B5EF4-FFF2-40B4-BE49-F238E27FC236}">
                    <a16:creationId xmlns:a16="http://schemas.microsoft.com/office/drawing/2014/main" id="{AA037BA8-8BC7-9642-A9B2-578135AACDD4}"/>
                  </a:ext>
                </a:extLst>
              </p:cNvPr>
              <p:cNvSpPr/>
              <p:nvPr/>
            </p:nvSpPr>
            <p:spPr>
              <a:xfrm>
                <a:off x="4257202" y="5332108"/>
                <a:ext cx="935190" cy="471104"/>
              </a:xfrm>
              <a:prstGeom prst="diamond">
                <a:avLst/>
              </a:prstGeom>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&lt;</m:t>
                      </m:r>
                      <m:r>
                        <a:rPr lang="en-US" b="0" i="1" smtClean="0">
                          <a:latin typeface="Cambria Math" panose="02040503050406030204" pitchFamily="18" charset="0"/>
                          <a:ea typeface="Cambria Math" panose="02040503050406030204" pitchFamily="18" charset="0"/>
                        </a:rPr>
                        <m:t>𝜖</m:t>
                      </m:r>
                      <m:r>
                        <a:rPr lang="en-US" b="0" i="1" smtClean="0">
                          <a:latin typeface="Cambria Math" panose="02040503050406030204" pitchFamily="18" charset="0"/>
                          <a:ea typeface="Cambria Math" panose="02040503050406030204" pitchFamily="18" charset="0"/>
                        </a:rPr>
                        <m:t>?</m:t>
                      </m:r>
                    </m:oMath>
                  </m:oMathPara>
                </a14:m>
                <a:endParaRPr lang="en-US" dirty="0"/>
              </a:p>
            </p:txBody>
          </p:sp>
        </mc:Choice>
        <mc:Fallback xmlns="">
          <p:sp>
            <p:nvSpPr>
              <p:cNvPr id="55" name="Diamond 54">
                <a:extLst>
                  <a:ext uri="{FF2B5EF4-FFF2-40B4-BE49-F238E27FC236}">
                    <a16:creationId xmlns:a16="http://schemas.microsoft.com/office/drawing/2014/main" id="{AA037BA8-8BC7-9642-A9B2-578135AACDD4}"/>
                  </a:ext>
                </a:extLst>
              </p:cNvPr>
              <p:cNvSpPr>
                <a:spLocks noRot="1" noChangeAspect="1" noMove="1" noResize="1" noEditPoints="1" noAdjustHandles="1" noChangeArrowheads="1" noChangeShapeType="1" noTextEdit="1"/>
              </p:cNvSpPr>
              <p:nvPr/>
            </p:nvSpPr>
            <p:spPr>
              <a:xfrm>
                <a:off x="4257202" y="5332108"/>
                <a:ext cx="935190" cy="471104"/>
              </a:xfrm>
              <a:prstGeom prst="diamond">
                <a:avLst/>
              </a:prstGeom>
              <a:blipFill>
                <a:blip r:embed="rId8"/>
                <a:stretch>
                  <a:fillRect/>
                </a:stretch>
              </a:blipFill>
            </p:spPr>
            <p:txBody>
              <a:bodyPr/>
              <a:lstStyle/>
              <a:p>
                <a:r>
                  <a:rPr lang="en-US">
                    <a:noFill/>
                  </a:rPr>
                  <a:t> </a:t>
                </a:r>
              </a:p>
            </p:txBody>
          </p:sp>
        </mc:Fallback>
      </mc:AlternateContent>
      <p:pic>
        <p:nvPicPr>
          <p:cNvPr id="56" name="Picture 55">
            <a:extLst>
              <a:ext uri="{FF2B5EF4-FFF2-40B4-BE49-F238E27FC236}">
                <a16:creationId xmlns:a16="http://schemas.microsoft.com/office/drawing/2014/main" id="{F171A836-CC72-C54E-B570-FDFE5F1F23F3}"/>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135508" y="4800686"/>
            <a:ext cx="718954" cy="785457"/>
          </a:xfrm>
          <a:prstGeom prst="rect">
            <a:avLst/>
          </a:prstGeom>
        </p:spPr>
      </p:pic>
      <p:cxnSp>
        <p:nvCxnSpPr>
          <p:cNvPr id="57" name="Connector: Curved 231">
            <a:extLst>
              <a:ext uri="{FF2B5EF4-FFF2-40B4-BE49-F238E27FC236}">
                <a16:creationId xmlns:a16="http://schemas.microsoft.com/office/drawing/2014/main" id="{6CE35B11-7929-C44C-9933-D13AE519CEF4}"/>
              </a:ext>
            </a:extLst>
          </p:cNvPr>
          <p:cNvCxnSpPr>
            <a:cxnSpLocks/>
            <a:stCxn id="65" idx="4"/>
            <a:endCxn id="49" idx="1"/>
          </p:cNvCxnSpPr>
          <p:nvPr/>
        </p:nvCxnSpPr>
        <p:spPr>
          <a:xfrm rot="16200000" flipH="1">
            <a:off x="5083173" y="4334817"/>
            <a:ext cx="1293697" cy="914084"/>
          </a:xfrm>
          <a:prstGeom prst="curved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58" name="Straight Arrow Connector 57">
            <a:extLst>
              <a:ext uri="{FF2B5EF4-FFF2-40B4-BE49-F238E27FC236}">
                <a16:creationId xmlns:a16="http://schemas.microsoft.com/office/drawing/2014/main" id="{0A8F41B6-2BDA-9D41-99DB-30595A7FDA08}"/>
              </a:ext>
            </a:extLst>
          </p:cNvPr>
          <p:cNvCxnSpPr>
            <a:stCxn id="49" idx="2"/>
            <a:endCxn id="55" idx="3"/>
          </p:cNvCxnSpPr>
          <p:nvPr/>
        </p:nvCxnSpPr>
        <p:spPr>
          <a:xfrm flipH="1">
            <a:off x="5192392" y="5567660"/>
            <a:ext cx="87267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9" name="TextBox 58">
            <a:extLst>
              <a:ext uri="{FF2B5EF4-FFF2-40B4-BE49-F238E27FC236}">
                <a16:creationId xmlns:a16="http://schemas.microsoft.com/office/drawing/2014/main" id="{33F024C4-C9E8-9444-90F4-A50AFD548E7E}"/>
              </a:ext>
            </a:extLst>
          </p:cNvPr>
          <p:cNvSpPr txBox="1"/>
          <p:nvPr/>
        </p:nvSpPr>
        <p:spPr>
          <a:xfrm>
            <a:off x="4657105" y="5755429"/>
            <a:ext cx="296876" cy="369332"/>
          </a:xfrm>
          <a:prstGeom prst="rect">
            <a:avLst/>
          </a:prstGeom>
          <a:noFill/>
        </p:spPr>
        <p:txBody>
          <a:bodyPr wrap="none" rtlCol="0">
            <a:spAutoFit/>
          </a:bodyPr>
          <a:lstStyle/>
          <a:p>
            <a:r>
              <a:rPr lang="en-US" dirty="0"/>
              <a:t>Y</a:t>
            </a:r>
          </a:p>
        </p:txBody>
      </p:sp>
      <p:sp>
        <p:nvSpPr>
          <p:cNvPr id="60" name="TextBox 59">
            <a:extLst>
              <a:ext uri="{FF2B5EF4-FFF2-40B4-BE49-F238E27FC236}">
                <a16:creationId xmlns:a16="http://schemas.microsoft.com/office/drawing/2014/main" id="{AC12949E-A875-AB4F-8B48-A63A82040F80}"/>
              </a:ext>
            </a:extLst>
          </p:cNvPr>
          <p:cNvSpPr txBox="1"/>
          <p:nvPr/>
        </p:nvSpPr>
        <p:spPr>
          <a:xfrm>
            <a:off x="3029355" y="5750025"/>
            <a:ext cx="744114" cy="369332"/>
          </a:xfrm>
          <a:prstGeom prst="rect">
            <a:avLst/>
          </a:prstGeom>
          <a:noFill/>
        </p:spPr>
        <p:txBody>
          <a:bodyPr wrap="none" rtlCol="0">
            <a:spAutoFit/>
          </a:bodyPr>
          <a:lstStyle/>
          <a:p>
            <a:r>
              <a:rPr lang="en-US" dirty="0"/>
              <a:t>Done.</a:t>
            </a:r>
          </a:p>
        </p:txBody>
      </p:sp>
      <p:sp>
        <p:nvSpPr>
          <p:cNvPr id="61" name="TextBox 60">
            <a:extLst>
              <a:ext uri="{FF2B5EF4-FFF2-40B4-BE49-F238E27FC236}">
                <a16:creationId xmlns:a16="http://schemas.microsoft.com/office/drawing/2014/main" id="{19B12BDD-0A65-084F-BFB5-0B07D633A6F3}"/>
              </a:ext>
            </a:extLst>
          </p:cNvPr>
          <p:cNvSpPr txBox="1"/>
          <p:nvPr/>
        </p:nvSpPr>
        <p:spPr>
          <a:xfrm>
            <a:off x="4657105" y="4999423"/>
            <a:ext cx="333746" cy="369332"/>
          </a:xfrm>
          <a:prstGeom prst="rect">
            <a:avLst/>
          </a:prstGeom>
          <a:noFill/>
        </p:spPr>
        <p:txBody>
          <a:bodyPr wrap="none" rtlCol="0">
            <a:spAutoFit/>
          </a:bodyPr>
          <a:lstStyle/>
          <a:p>
            <a:r>
              <a:rPr lang="en-US" dirty="0"/>
              <a:t>N</a:t>
            </a:r>
          </a:p>
        </p:txBody>
      </p:sp>
      <p:cxnSp>
        <p:nvCxnSpPr>
          <p:cNvPr id="62" name="Connector: Elbow 2">
            <a:extLst>
              <a:ext uri="{FF2B5EF4-FFF2-40B4-BE49-F238E27FC236}">
                <a16:creationId xmlns:a16="http://schemas.microsoft.com/office/drawing/2014/main" id="{AC757EAD-37BF-8F44-8590-D8299A4219ED}"/>
              </a:ext>
            </a:extLst>
          </p:cNvPr>
          <p:cNvCxnSpPr>
            <a:cxnSpLocks/>
          </p:cNvCxnSpPr>
          <p:nvPr/>
        </p:nvCxnSpPr>
        <p:spPr>
          <a:xfrm rot="16200000" flipV="1">
            <a:off x="4194983" y="4800892"/>
            <a:ext cx="157177" cy="905256"/>
          </a:xfrm>
          <a:prstGeom prst="bent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63" name="Connector: Elbow 17">
            <a:extLst>
              <a:ext uri="{FF2B5EF4-FFF2-40B4-BE49-F238E27FC236}">
                <a16:creationId xmlns:a16="http://schemas.microsoft.com/office/drawing/2014/main" id="{6A1A9D05-8921-3540-A2FD-10F61C69837D}"/>
              </a:ext>
            </a:extLst>
          </p:cNvPr>
          <p:cNvCxnSpPr>
            <a:cxnSpLocks/>
          </p:cNvCxnSpPr>
          <p:nvPr/>
        </p:nvCxnSpPr>
        <p:spPr>
          <a:xfrm rot="5400000">
            <a:off x="4195146" y="5429009"/>
            <a:ext cx="155448" cy="903854"/>
          </a:xfrm>
          <a:prstGeom prst="bent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64" name="Connector: Curved 225">
            <a:extLst>
              <a:ext uri="{FF2B5EF4-FFF2-40B4-BE49-F238E27FC236}">
                <a16:creationId xmlns:a16="http://schemas.microsoft.com/office/drawing/2014/main" id="{44A7F3A3-5156-0C43-BA14-9022509BEDBA}"/>
              </a:ext>
            </a:extLst>
          </p:cNvPr>
          <p:cNvCxnSpPr>
            <a:cxnSpLocks/>
            <a:stCxn id="56" idx="1"/>
            <a:endCxn id="126" idx="1"/>
          </p:cNvCxnSpPr>
          <p:nvPr/>
        </p:nvCxnSpPr>
        <p:spPr>
          <a:xfrm rot="10800000">
            <a:off x="1603366" y="2449253"/>
            <a:ext cx="1532143" cy="2744163"/>
          </a:xfrm>
          <a:prstGeom prst="curvedConnector3">
            <a:avLst>
              <a:gd name="adj1" fmla="val 127742"/>
            </a:avLst>
          </a:prstGeom>
          <a:ln>
            <a:prstDash val="dash"/>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65" name="Oval 64">
                <a:extLst>
                  <a:ext uri="{FF2B5EF4-FFF2-40B4-BE49-F238E27FC236}">
                    <a16:creationId xmlns:a16="http://schemas.microsoft.com/office/drawing/2014/main" id="{4F3492DA-FDF7-FE46-AF3F-F0AE60EA3D50}"/>
                  </a:ext>
                </a:extLst>
              </p:cNvPr>
              <p:cNvSpPr/>
              <p:nvPr/>
            </p:nvSpPr>
            <p:spPr>
              <a:xfrm>
                <a:off x="5090099" y="3779251"/>
                <a:ext cx="365760" cy="365760"/>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2</m:t>
                          </m:r>
                        </m:sub>
                      </m:sSub>
                    </m:oMath>
                  </m:oMathPara>
                </a14:m>
                <a:endParaRPr lang="en-US" dirty="0"/>
              </a:p>
            </p:txBody>
          </p:sp>
        </mc:Choice>
        <mc:Fallback xmlns="">
          <p:sp>
            <p:nvSpPr>
              <p:cNvPr id="65" name="Oval 64">
                <a:extLst>
                  <a:ext uri="{FF2B5EF4-FFF2-40B4-BE49-F238E27FC236}">
                    <a16:creationId xmlns:a16="http://schemas.microsoft.com/office/drawing/2014/main" id="{4F3492DA-FDF7-FE46-AF3F-F0AE60EA3D50}"/>
                  </a:ext>
                </a:extLst>
              </p:cNvPr>
              <p:cNvSpPr>
                <a:spLocks noRot="1" noChangeAspect="1" noMove="1" noResize="1" noEditPoints="1" noAdjustHandles="1" noChangeArrowheads="1" noChangeShapeType="1" noTextEdit="1"/>
              </p:cNvSpPr>
              <p:nvPr/>
            </p:nvSpPr>
            <p:spPr>
              <a:xfrm>
                <a:off x="5090099" y="3779251"/>
                <a:ext cx="365760" cy="365760"/>
              </a:xfrm>
              <a:prstGeom prst="ellipse">
                <a:avLst/>
              </a:prstGeom>
              <a:blipFill>
                <a:blip r:embed="rId10"/>
                <a:stretch>
                  <a:fillRect l="-6452"/>
                </a:stretch>
              </a:blipFill>
            </p:spPr>
            <p:txBody>
              <a:bodyPr/>
              <a:lstStyle/>
              <a:p>
                <a:r>
                  <a:rPr lang="en-US">
                    <a:noFill/>
                  </a:rPr>
                  <a:t> </a:t>
                </a:r>
              </a:p>
            </p:txBody>
          </p:sp>
        </mc:Fallback>
      </mc:AlternateContent>
      <p:cxnSp>
        <p:nvCxnSpPr>
          <p:cNvPr id="66" name="Straight Arrow Connector 65">
            <a:extLst>
              <a:ext uri="{FF2B5EF4-FFF2-40B4-BE49-F238E27FC236}">
                <a16:creationId xmlns:a16="http://schemas.microsoft.com/office/drawing/2014/main" id="{B95421D1-F510-A143-8523-0BA385CF9A4C}"/>
              </a:ext>
            </a:extLst>
          </p:cNvPr>
          <p:cNvCxnSpPr>
            <a:cxnSpLocks/>
            <a:stCxn id="13" idx="6"/>
            <a:endCxn id="65" idx="2"/>
          </p:cNvCxnSpPr>
          <p:nvPr/>
        </p:nvCxnSpPr>
        <p:spPr>
          <a:xfrm>
            <a:off x="4664469" y="3018558"/>
            <a:ext cx="425630" cy="94357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7" name="Straight Arrow Connector 66">
            <a:extLst>
              <a:ext uri="{FF2B5EF4-FFF2-40B4-BE49-F238E27FC236}">
                <a16:creationId xmlns:a16="http://schemas.microsoft.com/office/drawing/2014/main" id="{D6D998BA-7902-4E41-ACA7-B0C4CD10EEFC}"/>
              </a:ext>
            </a:extLst>
          </p:cNvPr>
          <p:cNvCxnSpPr>
            <a:cxnSpLocks/>
            <a:stCxn id="14" idx="6"/>
            <a:endCxn id="65" idx="2"/>
          </p:cNvCxnSpPr>
          <p:nvPr/>
        </p:nvCxnSpPr>
        <p:spPr>
          <a:xfrm>
            <a:off x="4664469" y="3455044"/>
            <a:ext cx="425630" cy="50708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8" name="Straight Arrow Connector 67">
            <a:extLst>
              <a:ext uri="{FF2B5EF4-FFF2-40B4-BE49-F238E27FC236}">
                <a16:creationId xmlns:a16="http://schemas.microsoft.com/office/drawing/2014/main" id="{AC18F668-D5C6-1D4B-8D1B-9A9A61D43443}"/>
              </a:ext>
            </a:extLst>
          </p:cNvPr>
          <p:cNvCxnSpPr>
            <a:cxnSpLocks/>
            <a:stCxn id="15" idx="6"/>
            <a:endCxn id="65" idx="2"/>
          </p:cNvCxnSpPr>
          <p:nvPr/>
        </p:nvCxnSpPr>
        <p:spPr>
          <a:xfrm>
            <a:off x="4664469" y="3891530"/>
            <a:ext cx="425630" cy="7060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9" name="Straight Arrow Connector 68">
            <a:extLst>
              <a:ext uri="{FF2B5EF4-FFF2-40B4-BE49-F238E27FC236}">
                <a16:creationId xmlns:a16="http://schemas.microsoft.com/office/drawing/2014/main" id="{3060ABBF-4094-E348-A4C8-CDD9FC5EB1E1}"/>
              </a:ext>
            </a:extLst>
          </p:cNvPr>
          <p:cNvCxnSpPr>
            <a:cxnSpLocks/>
            <a:stCxn id="16" idx="6"/>
            <a:endCxn id="65" idx="2"/>
          </p:cNvCxnSpPr>
          <p:nvPr/>
        </p:nvCxnSpPr>
        <p:spPr>
          <a:xfrm flipV="1">
            <a:off x="4664469" y="3962131"/>
            <a:ext cx="425630" cy="36588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0" name="Straight Arrow Connector 69">
            <a:extLst>
              <a:ext uri="{FF2B5EF4-FFF2-40B4-BE49-F238E27FC236}">
                <a16:creationId xmlns:a16="http://schemas.microsoft.com/office/drawing/2014/main" id="{590FF9F1-FDCD-F245-AADB-91231897AD1E}"/>
              </a:ext>
            </a:extLst>
          </p:cNvPr>
          <p:cNvCxnSpPr>
            <a:cxnSpLocks/>
            <a:stCxn id="65" idx="6"/>
            <a:endCxn id="40" idx="2"/>
          </p:cNvCxnSpPr>
          <p:nvPr/>
        </p:nvCxnSpPr>
        <p:spPr>
          <a:xfrm>
            <a:off x="5455859" y="3962131"/>
            <a:ext cx="714791" cy="11605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1" name="Straight Arrow Connector 70">
            <a:extLst>
              <a:ext uri="{FF2B5EF4-FFF2-40B4-BE49-F238E27FC236}">
                <a16:creationId xmlns:a16="http://schemas.microsoft.com/office/drawing/2014/main" id="{78B19159-31C1-E24D-9BD2-736B19639882}"/>
              </a:ext>
            </a:extLst>
          </p:cNvPr>
          <p:cNvCxnSpPr>
            <a:cxnSpLocks/>
            <a:stCxn id="65" idx="6"/>
            <a:endCxn id="39" idx="2"/>
          </p:cNvCxnSpPr>
          <p:nvPr/>
        </p:nvCxnSpPr>
        <p:spPr>
          <a:xfrm flipV="1">
            <a:off x="5455859" y="3392481"/>
            <a:ext cx="714792" cy="56965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72" name="Oval 71">
                <a:extLst>
                  <a:ext uri="{FF2B5EF4-FFF2-40B4-BE49-F238E27FC236}">
                    <a16:creationId xmlns:a16="http://schemas.microsoft.com/office/drawing/2014/main" id="{2E13DB86-F39A-2B4C-83D7-78F4E5624619}"/>
                  </a:ext>
                </a:extLst>
              </p:cNvPr>
              <p:cNvSpPr/>
              <p:nvPr/>
            </p:nvSpPr>
            <p:spPr>
              <a:xfrm>
                <a:off x="7379083" y="3401847"/>
                <a:ext cx="621892" cy="62189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𝜎</m:t>
                          </m:r>
                        </m:e>
                        <m:sub>
                          <m:r>
                            <a:rPr lang="en-US" b="0" i="1" smtClean="0">
                              <a:latin typeface="Cambria Math" panose="02040503050406030204" pitchFamily="18" charset="0"/>
                            </a:rPr>
                            <m:t>12</m:t>
                          </m:r>
                        </m:sub>
                      </m:sSub>
                    </m:oMath>
                  </m:oMathPara>
                </a14:m>
                <a:endParaRPr lang="en-US" dirty="0"/>
              </a:p>
            </p:txBody>
          </p:sp>
        </mc:Choice>
        <mc:Fallback xmlns="">
          <p:sp>
            <p:nvSpPr>
              <p:cNvPr id="72" name="Oval 71">
                <a:extLst>
                  <a:ext uri="{FF2B5EF4-FFF2-40B4-BE49-F238E27FC236}">
                    <a16:creationId xmlns:a16="http://schemas.microsoft.com/office/drawing/2014/main" id="{2E13DB86-F39A-2B4C-83D7-78F4E5624619}"/>
                  </a:ext>
                </a:extLst>
              </p:cNvPr>
              <p:cNvSpPr>
                <a:spLocks noRot="1" noChangeAspect="1" noMove="1" noResize="1" noEditPoints="1" noAdjustHandles="1" noChangeArrowheads="1" noChangeShapeType="1" noTextEdit="1"/>
              </p:cNvSpPr>
              <p:nvPr/>
            </p:nvSpPr>
            <p:spPr>
              <a:xfrm>
                <a:off x="7379083" y="3401847"/>
                <a:ext cx="621892" cy="621892"/>
              </a:xfrm>
              <a:prstGeom prst="ellipse">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3" name="Oval 72">
                <a:extLst>
                  <a:ext uri="{FF2B5EF4-FFF2-40B4-BE49-F238E27FC236}">
                    <a16:creationId xmlns:a16="http://schemas.microsoft.com/office/drawing/2014/main" id="{13E30253-4AEB-A842-B234-A46A01D3C83E}"/>
                  </a:ext>
                </a:extLst>
              </p:cNvPr>
              <p:cNvSpPr/>
              <p:nvPr/>
            </p:nvSpPr>
            <p:spPr>
              <a:xfrm>
                <a:off x="7366124" y="2589947"/>
                <a:ext cx="621892" cy="62189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𝜎</m:t>
                          </m:r>
                        </m:e>
                        <m:sub>
                          <m:r>
                            <a:rPr lang="en-US" b="0" i="1" smtClean="0">
                              <a:latin typeface="Cambria Math" panose="02040503050406030204" pitchFamily="18" charset="0"/>
                            </a:rPr>
                            <m:t>11</m:t>
                          </m:r>
                        </m:sub>
                      </m:sSub>
                    </m:oMath>
                  </m:oMathPara>
                </a14:m>
                <a:endParaRPr lang="en-US" dirty="0"/>
              </a:p>
            </p:txBody>
          </p:sp>
        </mc:Choice>
        <mc:Fallback xmlns="">
          <p:sp>
            <p:nvSpPr>
              <p:cNvPr id="73" name="Oval 72">
                <a:extLst>
                  <a:ext uri="{FF2B5EF4-FFF2-40B4-BE49-F238E27FC236}">
                    <a16:creationId xmlns:a16="http://schemas.microsoft.com/office/drawing/2014/main" id="{13E30253-4AEB-A842-B234-A46A01D3C83E}"/>
                  </a:ext>
                </a:extLst>
              </p:cNvPr>
              <p:cNvSpPr>
                <a:spLocks noRot="1" noChangeAspect="1" noMove="1" noResize="1" noEditPoints="1" noAdjustHandles="1" noChangeArrowheads="1" noChangeShapeType="1" noTextEdit="1"/>
              </p:cNvSpPr>
              <p:nvPr/>
            </p:nvSpPr>
            <p:spPr>
              <a:xfrm>
                <a:off x="7366124" y="2589947"/>
                <a:ext cx="621892" cy="621892"/>
              </a:xfrm>
              <a:prstGeom prst="ellipse">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4" name="Oval 73">
                <a:extLst>
                  <a:ext uri="{FF2B5EF4-FFF2-40B4-BE49-F238E27FC236}">
                    <a16:creationId xmlns:a16="http://schemas.microsoft.com/office/drawing/2014/main" id="{D44A5E89-0E5B-C249-B38B-7A8EEBE97863}"/>
                  </a:ext>
                </a:extLst>
              </p:cNvPr>
              <p:cNvSpPr/>
              <p:nvPr/>
            </p:nvSpPr>
            <p:spPr>
              <a:xfrm>
                <a:off x="7366161" y="4255110"/>
                <a:ext cx="621892" cy="62189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𝜎</m:t>
                          </m:r>
                        </m:e>
                        <m:sub>
                          <m:r>
                            <a:rPr lang="en-US" b="0" i="1" smtClean="0">
                              <a:latin typeface="Cambria Math" panose="02040503050406030204" pitchFamily="18" charset="0"/>
                            </a:rPr>
                            <m:t>22</m:t>
                          </m:r>
                        </m:sub>
                      </m:sSub>
                    </m:oMath>
                  </m:oMathPara>
                </a14:m>
                <a:endParaRPr lang="en-US" dirty="0"/>
              </a:p>
            </p:txBody>
          </p:sp>
        </mc:Choice>
        <mc:Fallback xmlns="">
          <p:sp>
            <p:nvSpPr>
              <p:cNvPr id="74" name="Oval 73">
                <a:extLst>
                  <a:ext uri="{FF2B5EF4-FFF2-40B4-BE49-F238E27FC236}">
                    <a16:creationId xmlns:a16="http://schemas.microsoft.com/office/drawing/2014/main" id="{D44A5E89-0E5B-C249-B38B-7A8EEBE97863}"/>
                  </a:ext>
                </a:extLst>
              </p:cNvPr>
              <p:cNvSpPr>
                <a:spLocks noRot="1" noChangeAspect="1" noMove="1" noResize="1" noEditPoints="1" noAdjustHandles="1" noChangeArrowheads="1" noChangeShapeType="1" noTextEdit="1"/>
              </p:cNvSpPr>
              <p:nvPr/>
            </p:nvSpPr>
            <p:spPr>
              <a:xfrm>
                <a:off x="7366161" y="4255110"/>
                <a:ext cx="621892" cy="621892"/>
              </a:xfrm>
              <a:prstGeom prst="ellipse">
                <a:avLst/>
              </a:prstGeom>
              <a:blipFill>
                <a:blip r:embed="rId13"/>
                <a:stretch>
                  <a:fillRect/>
                </a:stretch>
              </a:blipFill>
            </p:spPr>
            <p:txBody>
              <a:bodyPr/>
              <a:lstStyle/>
              <a:p>
                <a:r>
                  <a:rPr lang="en-US">
                    <a:noFill/>
                  </a:rPr>
                  <a:t> </a:t>
                </a:r>
              </a:p>
            </p:txBody>
          </p:sp>
        </mc:Fallback>
      </mc:AlternateContent>
      <p:cxnSp>
        <p:nvCxnSpPr>
          <p:cNvPr id="75" name="Straight Arrow Connector 74">
            <a:extLst>
              <a:ext uri="{FF2B5EF4-FFF2-40B4-BE49-F238E27FC236}">
                <a16:creationId xmlns:a16="http://schemas.microsoft.com/office/drawing/2014/main" id="{D9F56890-B993-EA4E-A80B-0C7598AAC6E0}"/>
              </a:ext>
            </a:extLst>
          </p:cNvPr>
          <p:cNvCxnSpPr>
            <a:cxnSpLocks/>
            <a:stCxn id="39" idx="6"/>
            <a:endCxn id="72" idx="2"/>
          </p:cNvCxnSpPr>
          <p:nvPr/>
        </p:nvCxnSpPr>
        <p:spPr>
          <a:xfrm>
            <a:off x="6792543" y="3392481"/>
            <a:ext cx="586540" cy="32031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6" name="Straight Arrow Connector 75">
            <a:extLst>
              <a:ext uri="{FF2B5EF4-FFF2-40B4-BE49-F238E27FC236}">
                <a16:creationId xmlns:a16="http://schemas.microsoft.com/office/drawing/2014/main" id="{B37A552C-30AC-304E-BA7F-B277BB43B592}"/>
              </a:ext>
            </a:extLst>
          </p:cNvPr>
          <p:cNvCxnSpPr>
            <a:cxnSpLocks/>
            <a:stCxn id="40" idx="6"/>
            <a:endCxn id="72" idx="2"/>
          </p:cNvCxnSpPr>
          <p:nvPr/>
        </p:nvCxnSpPr>
        <p:spPr>
          <a:xfrm flipV="1">
            <a:off x="6792543" y="3712793"/>
            <a:ext cx="586540" cy="36539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7" name="Straight Arrow Connector 76">
            <a:extLst>
              <a:ext uri="{FF2B5EF4-FFF2-40B4-BE49-F238E27FC236}">
                <a16:creationId xmlns:a16="http://schemas.microsoft.com/office/drawing/2014/main" id="{B8C85390-C388-0646-A2E0-2D768ABA8B35}"/>
              </a:ext>
            </a:extLst>
          </p:cNvPr>
          <p:cNvCxnSpPr>
            <a:cxnSpLocks/>
            <a:stCxn id="40" idx="6"/>
            <a:endCxn id="74" idx="2"/>
          </p:cNvCxnSpPr>
          <p:nvPr/>
        </p:nvCxnSpPr>
        <p:spPr>
          <a:xfrm>
            <a:off x="6792543" y="4078189"/>
            <a:ext cx="573618" cy="48786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8" name="Straight Arrow Connector 77">
            <a:extLst>
              <a:ext uri="{FF2B5EF4-FFF2-40B4-BE49-F238E27FC236}">
                <a16:creationId xmlns:a16="http://schemas.microsoft.com/office/drawing/2014/main" id="{1D6EF7EB-9F89-4B4A-A104-DD9C675D4FFF}"/>
              </a:ext>
            </a:extLst>
          </p:cNvPr>
          <p:cNvCxnSpPr>
            <a:cxnSpLocks/>
            <a:stCxn id="39" idx="6"/>
            <a:endCxn id="74" idx="2"/>
          </p:cNvCxnSpPr>
          <p:nvPr/>
        </p:nvCxnSpPr>
        <p:spPr>
          <a:xfrm>
            <a:off x="6792543" y="3392481"/>
            <a:ext cx="573618" cy="117357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9" name="Connector: Curved 231">
            <a:extLst>
              <a:ext uri="{FF2B5EF4-FFF2-40B4-BE49-F238E27FC236}">
                <a16:creationId xmlns:a16="http://schemas.microsoft.com/office/drawing/2014/main" id="{7CAA7FDE-F837-6240-9E98-3EE22BDC4F20}"/>
              </a:ext>
            </a:extLst>
          </p:cNvPr>
          <p:cNvCxnSpPr>
            <a:cxnSpLocks/>
            <a:stCxn id="17" idx="5"/>
            <a:endCxn id="49" idx="1"/>
          </p:cNvCxnSpPr>
          <p:nvPr/>
        </p:nvCxnSpPr>
        <p:spPr>
          <a:xfrm rot="16200000" flipH="1">
            <a:off x="4908232" y="4159876"/>
            <a:ext cx="1783747" cy="773915"/>
          </a:xfrm>
          <a:prstGeom prst="curved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80" name="Connector: Curved 231">
            <a:extLst>
              <a:ext uri="{FF2B5EF4-FFF2-40B4-BE49-F238E27FC236}">
                <a16:creationId xmlns:a16="http://schemas.microsoft.com/office/drawing/2014/main" id="{3F1BADD8-F9D9-C042-9C23-539ED07633E6}"/>
              </a:ext>
            </a:extLst>
          </p:cNvPr>
          <p:cNvCxnSpPr>
            <a:cxnSpLocks/>
            <a:stCxn id="73" idx="3"/>
            <a:endCxn id="49" idx="0"/>
          </p:cNvCxnSpPr>
          <p:nvPr/>
        </p:nvCxnSpPr>
        <p:spPr>
          <a:xfrm rot="5400000">
            <a:off x="5837132" y="3765229"/>
            <a:ext cx="2264530" cy="975602"/>
          </a:xfrm>
          <a:prstGeom prst="curved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81" name="Connector: Curved 231">
            <a:extLst>
              <a:ext uri="{FF2B5EF4-FFF2-40B4-BE49-F238E27FC236}">
                <a16:creationId xmlns:a16="http://schemas.microsoft.com/office/drawing/2014/main" id="{53B68A8D-0150-914C-8AE6-477812343865}"/>
              </a:ext>
            </a:extLst>
          </p:cNvPr>
          <p:cNvCxnSpPr>
            <a:cxnSpLocks/>
            <a:stCxn id="72" idx="3"/>
            <a:endCxn id="49" idx="0"/>
          </p:cNvCxnSpPr>
          <p:nvPr/>
        </p:nvCxnSpPr>
        <p:spPr>
          <a:xfrm rot="5400000">
            <a:off x="6249562" y="4164700"/>
            <a:ext cx="1452630" cy="988561"/>
          </a:xfrm>
          <a:prstGeom prst="curved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82" name="Connector: Curved 231">
            <a:extLst>
              <a:ext uri="{FF2B5EF4-FFF2-40B4-BE49-F238E27FC236}">
                <a16:creationId xmlns:a16="http://schemas.microsoft.com/office/drawing/2014/main" id="{0A110170-FAC6-B644-9F44-D218308CD2A5}"/>
              </a:ext>
            </a:extLst>
          </p:cNvPr>
          <p:cNvCxnSpPr>
            <a:cxnSpLocks/>
            <a:stCxn id="74" idx="3"/>
            <a:endCxn id="49" idx="0"/>
          </p:cNvCxnSpPr>
          <p:nvPr/>
        </p:nvCxnSpPr>
        <p:spPr>
          <a:xfrm rot="5400000">
            <a:off x="6669733" y="4597792"/>
            <a:ext cx="599367" cy="975639"/>
          </a:xfrm>
          <a:prstGeom prst="curved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83" name="Rectangle: Rounded Corners 171">
                <a:extLst>
                  <a:ext uri="{FF2B5EF4-FFF2-40B4-BE49-F238E27FC236}">
                    <a16:creationId xmlns:a16="http://schemas.microsoft.com/office/drawing/2014/main" id="{0B6668BC-E361-7E45-93CC-4B658D43527E}"/>
                  </a:ext>
                </a:extLst>
              </p:cNvPr>
              <p:cNvSpPr/>
              <p:nvPr/>
            </p:nvSpPr>
            <p:spPr>
              <a:xfrm>
                <a:off x="8500730" y="3748798"/>
                <a:ext cx="2015845" cy="667818"/>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14:m>
                  <m:oMathPara xmlns:m="http://schemas.openxmlformats.org/officeDocument/2006/math">
                    <m:oMathParaPr>
                      <m:jc m:val="left"/>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2</m:t>
                          </m:r>
                        </m:sub>
                      </m:sSub>
                      <m:r>
                        <a:rPr lang="en-US" b="0" i="1" smtClean="0">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𝜎</m:t>
                              </m:r>
                            </m:e>
                            <m:sub>
                              <m:r>
                                <a:rPr lang="en-US" i="1">
                                  <a:latin typeface="Cambria Math" panose="02040503050406030204" pitchFamily="18" charset="0"/>
                                </a:rPr>
                                <m:t>1</m:t>
                              </m:r>
                              <m:r>
                                <a:rPr lang="en-US" b="0" i="1" smtClean="0">
                                  <a:latin typeface="Cambria Math" panose="02040503050406030204" pitchFamily="18" charset="0"/>
                                </a:rPr>
                                <m:t>2</m:t>
                              </m:r>
                            </m:sub>
                          </m:sSub>
                        </m:num>
                        <m:den>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den>
                      </m:f>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𝜎</m:t>
                              </m:r>
                            </m:e>
                            <m:sub>
                              <m:r>
                                <a:rPr lang="en-US" b="0" i="1" smtClean="0">
                                  <a:latin typeface="Cambria Math" panose="02040503050406030204" pitchFamily="18" charset="0"/>
                                </a:rPr>
                                <m:t>2</m:t>
                              </m:r>
                              <m:r>
                                <a:rPr lang="en-US" i="1">
                                  <a:latin typeface="Cambria Math" panose="02040503050406030204" pitchFamily="18" charset="0"/>
                                </a:rPr>
                                <m:t>2</m:t>
                              </m:r>
                            </m:sub>
                          </m:sSub>
                        </m:num>
                        <m:den>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2</m:t>
                              </m:r>
                            </m:sub>
                          </m:sSub>
                        </m:den>
                      </m:f>
                    </m:oMath>
                  </m:oMathPara>
                </a14:m>
                <a:endParaRPr lang="en-US" dirty="0"/>
              </a:p>
            </p:txBody>
          </p:sp>
        </mc:Choice>
        <mc:Fallback xmlns="">
          <p:sp>
            <p:nvSpPr>
              <p:cNvPr id="83" name="Rectangle: Rounded Corners 171">
                <a:extLst>
                  <a:ext uri="{FF2B5EF4-FFF2-40B4-BE49-F238E27FC236}">
                    <a16:creationId xmlns:a16="http://schemas.microsoft.com/office/drawing/2014/main" id="{0B6668BC-E361-7E45-93CC-4B658D43527E}"/>
                  </a:ext>
                </a:extLst>
              </p:cNvPr>
              <p:cNvSpPr>
                <a:spLocks noRot="1" noChangeAspect="1" noMove="1" noResize="1" noEditPoints="1" noAdjustHandles="1" noChangeArrowheads="1" noChangeShapeType="1" noTextEdit="1"/>
              </p:cNvSpPr>
              <p:nvPr/>
            </p:nvSpPr>
            <p:spPr>
              <a:xfrm>
                <a:off x="8500730" y="3748798"/>
                <a:ext cx="2015845" cy="667818"/>
              </a:xfrm>
              <a:prstGeom prst="roundRect">
                <a:avLst/>
              </a:prstGeom>
              <a:blipFill>
                <a:blip r:embed="rId14"/>
                <a:stretch>
                  <a:fillRect/>
                </a:stretch>
              </a:blipFill>
            </p:spPr>
            <p:txBody>
              <a:bodyPr/>
              <a:lstStyle/>
              <a:p>
                <a:r>
                  <a:rPr lang="en-US">
                    <a:noFill/>
                  </a:rPr>
                  <a:t> </a:t>
                </a:r>
              </a:p>
            </p:txBody>
          </p:sp>
        </mc:Fallback>
      </mc:AlternateContent>
      <p:cxnSp>
        <p:nvCxnSpPr>
          <p:cNvPr id="84" name="Connector: Curved 161">
            <a:extLst>
              <a:ext uri="{FF2B5EF4-FFF2-40B4-BE49-F238E27FC236}">
                <a16:creationId xmlns:a16="http://schemas.microsoft.com/office/drawing/2014/main" id="{B0C566DB-12CA-4248-B35F-B48882D8AF66}"/>
              </a:ext>
            </a:extLst>
          </p:cNvPr>
          <p:cNvCxnSpPr>
            <a:cxnSpLocks/>
            <a:stCxn id="52" idx="3"/>
            <a:endCxn id="49" idx="6"/>
          </p:cNvCxnSpPr>
          <p:nvPr/>
        </p:nvCxnSpPr>
        <p:spPr>
          <a:xfrm flipH="1">
            <a:off x="6898127" y="3330756"/>
            <a:ext cx="3618448" cy="2236904"/>
          </a:xfrm>
          <a:prstGeom prst="curvedConnector3">
            <a:avLst>
              <a:gd name="adj1" fmla="val -6318"/>
            </a:avLst>
          </a:prstGeom>
          <a:ln>
            <a:tailEnd type="triangle"/>
          </a:ln>
        </p:spPr>
        <p:style>
          <a:lnRef idx="1">
            <a:schemeClr val="dk1"/>
          </a:lnRef>
          <a:fillRef idx="0">
            <a:schemeClr val="dk1"/>
          </a:fillRef>
          <a:effectRef idx="0">
            <a:schemeClr val="dk1"/>
          </a:effectRef>
          <a:fontRef idx="minor">
            <a:schemeClr val="tx1"/>
          </a:fontRef>
        </p:style>
      </p:cxnSp>
      <p:cxnSp>
        <p:nvCxnSpPr>
          <p:cNvPr id="85" name="Straight Arrow Connector 84">
            <a:extLst>
              <a:ext uri="{FF2B5EF4-FFF2-40B4-BE49-F238E27FC236}">
                <a16:creationId xmlns:a16="http://schemas.microsoft.com/office/drawing/2014/main" id="{8964D4DF-E472-6A43-A589-0C7B9581E7D0}"/>
              </a:ext>
            </a:extLst>
          </p:cNvPr>
          <p:cNvCxnSpPr>
            <a:cxnSpLocks/>
            <a:stCxn id="73" idx="6"/>
            <a:endCxn id="52" idx="1"/>
          </p:cNvCxnSpPr>
          <p:nvPr/>
        </p:nvCxnSpPr>
        <p:spPr>
          <a:xfrm>
            <a:off x="7988016" y="2900893"/>
            <a:ext cx="512715" cy="42986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86" name="Straight Arrow Connector 85">
            <a:extLst>
              <a:ext uri="{FF2B5EF4-FFF2-40B4-BE49-F238E27FC236}">
                <a16:creationId xmlns:a16="http://schemas.microsoft.com/office/drawing/2014/main" id="{D23C04AE-5B80-334F-A090-90FFA6CAE53D}"/>
              </a:ext>
            </a:extLst>
          </p:cNvPr>
          <p:cNvCxnSpPr>
            <a:cxnSpLocks/>
            <a:stCxn id="72" idx="6"/>
            <a:endCxn id="52" idx="1"/>
          </p:cNvCxnSpPr>
          <p:nvPr/>
        </p:nvCxnSpPr>
        <p:spPr>
          <a:xfrm flipV="1">
            <a:off x="8000975" y="3330756"/>
            <a:ext cx="499756" cy="38203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87" name="Straight Arrow Connector 86">
            <a:extLst>
              <a:ext uri="{FF2B5EF4-FFF2-40B4-BE49-F238E27FC236}">
                <a16:creationId xmlns:a16="http://schemas.microsoft.com/office/drawing/2014/main" id="{20573BFB-72CF-CB48-B84F-C3E6C164B7ED}"/>
              </a:ext>
            </a:extLst>
          </p:cNvPr>
          <p:cNvCxnSpPr>
            <a:cxnSpLocks/>
            <a:stCxn id="73" idx="6"/>
            <a:endCxn id="83" idx="1"/>
          </p:cNvCxnSpPr>
          <p:nvPr/>
        </p:nvCxnSpPr>
        <p:spPr>
          <a:xfrm>
            <a:off x="7988016" y="2900893"/>
            <a:ext cx="512714" cy="118181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88" name="Straight Arrow Connector 87">
            <a:extLst>
              <a:ext uri="{FF2B5EF4-FFF2-40B4-BE49-F238E27FC236}">
                <a16:creationId xmlns:a16="http://schemas.microsoft.com/office/drawing/2014/main" id="{65C3D763-23C8-1541-8360-146B459595D4}"/>
              </a:ext>
            </a:extLst>
          </p:cNvPr>
          <p:cNvCxnSpPr>
            <a:cxnSpLocks/>
            <a:stCxn id="72" idx="6"/>
            <a:endCxn id="83" idx="1"/>
          </p:cNvCxnSpPr>
          <p:nvPr/>
        </p:nvCxnSpPr>
        <p:spPr>
          <a:xfrm>
            <a:off x="8000975" y="3712793"/>
            <a:ext cx="499755" cy="36991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89" name="Straight Arrow Connector 88">
            <a:extLst>
              <a:ext uri="{FF2B5EF4-FFF2-40B4-BE49-F238E27FC236}">
                <a16:creationId xmlns:a16="http://schemas.microsoft.com/office/drawing/2014/main" id="{150E4A7A-16F6-714B-AB34-31A828652DBE}"/>
              </a:ext>
            </a:extLst>
          </p:cNvPr>
          <p:cNvCxnSpPr>
            <a:cxnSpLocks/>
            <a:stCxn id="74" idx="6"/>
            <a:endCxn id="83" idx="1"/>
          </p:cNvCxnSpPr>
          <p:nvPr/>
        </p:nvCxnSpPr>
        <p:spPr>
          <a:xfrm flipV="1">
            <a:off x="7988053" y="4082707"/>
            <a:ext cx="512677" cy="48334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90" name="Straight Arrow Connector 89">
            <a:extLst>
              <a:ext uri="{FF2B5EF4-FFF2-40B4-BE49-F238E27FC236}">
                <a16:creationId xmlns:a16="http://schemas.microsoft.com/office/drawing/2014/main" id="{944F0B06-7236-AE48-9BDC-AAF7EAEFB438}"/>
              </a:ext>
            </a:extLst>
          </p:cNvPr>
          <p:cNvCxnSpPr>
            <a:cxnSpLocks/>
            <a:stCxn id="74" idx="6"/>
            <a:endCxn id="52" idx="1"/>
          </p:cNvCxnSpPr>
          <p:nvPr/>
        </p:nvCxnSpPr>
        <p:spPr>
          <a:xfrm flipV="1">
            <a:off x="7988053" y="3330756"/>
            <a:ext cx="512678" cy="12353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91" name="TextBox 90">
            <a:extLst>
              <a:ext uri="{FF2B5EF4-FFF2-40B4-BE49-F238E27FC236}">
                <a16:creationId xmlns:a16="http://schemas.microsoft.com/office/drawing/2014/main" id="{BE8CAB99-1A54-F442-A232-836C56DB0448}"/>
              </a:ext>
            </a:extLst>
          </p:cNvPr>
          <p:cNvSpPr txBox="1"/>
          <p:nvPr/>
        </p:nvSpPr>
        <p:spPr>
          <a:xfrm>
            <a:off x="6486676" y="5210608"/>
            <a:ext cx="792205" cy="246221"/>
          </a:xfrm>
          <a:prstGeom prst="rect">
            <a:avLst/>
          </a:prstGeom>
          <a:noFill/>
        </p:spPr>
        <p:txBody>
          <a:bodyPr wrap="none" rtlCol="0">
            <a:spAutoFit/>
          </a:bodyPr>
          <a:lstStyle/>
          <a:p>
            <a:r>
              <a:rPr lang="en-US" sz="1000" b="1"/>
              <a:t>Traction </a:t>
            </a:r>
            <a:r>
              <a:rPr lang="en-US" sz="1000" b="1" dirty="0"/>
              <a:t>BC</a:t>
            </a:r>
          </a:p>
        </p:txBody>
      </p:sp>
      <p:sp>
        <p:nvSpPr>
          <p:cNvPr id="92" name="TextBox 91">
            <a:extLst>
              <a:ext uri="{FF2B5EF4-FFF2-40B4-BE49-F238E27FC236}">
                <a16:creationId xmlns:a16="http://schemas.microsoft.com/office/drawing/2014/main" id="{7F8E9714-F56D-9A46-915A-927D5F0F6376}"/>
              </a:ext>
            </a:extLst>
          </p:cNvPr>
          <p:cNvSpPr txBox="1"/>
          <p:nvPr/>
        </p:nvSpPr>
        <p:spPr>
          <a:xfrm>
            <a:off x="5230092" y="5255497"/>
            <a:ext cx="992579" cy="230832"/>
          </a:xfrm>
          <a:prstGeom prst="rect">
            <a:avLst/>
          </a:prstGeom>
          <a:noFill/>
        </p:spPr>
        <p:txBody>
          <a:bodyPr wrap="none" rtlCol="0">
            <a:spAutoFit/>
          </a:bodyPr>
          <a:lstStyle/>
          <a:p>
            <a:r>
              <a:rPr lang="en-US" sz="900" b="1" dirty="0"/>
              <a:t>Displacement BC</a:t>
            </a:r>
          </a:p>
        </p:txBody>
      </p:sp>
      <p:sp>
        <p:nvSpPr>
          <p:cNvPr id="93" name="TextBox 92">
            <a:extLst>
              <a:ext uri="{FF2B5EF4-FFF2-40B4-BE49-F238E27FC236}">
                <a16:creationId xmlns:a16="http://schemas.microsoft.com/office/drawing/2014/main" id="{2DB66458-812B-9644-9C3E-BAC96E9C2E80}"/>
              </a:ext>
            </a:extLst>
          </p:cNvPr>
          <p:cNvSpPr txBox="1"/>
          <p:nvPr/>
        </p:nvSpPr>
        <p:spPr>
          <a:xfrm>
            <a:off x="6898126" y="5530462"/>
            <a:ext cx="762700" cy="230832"/>
          </a:xfrm>
          <a:prstGeom prst="rect">
            <a:avLst/>
          </a:prstGeom>
          <a:noFill/>
        </p:spPr>
        <p:txBody>
          <a:bodyPr wrap="square" rtlCol="0">
            <a:spAutoFit/>
          </a:bodyPr>
          <a:lstStyle/>
          <a:p>
            <a:r>
              <a:rPr lang="en-US" sz="900" b="1" dirty="0"/>
              <a:t>Equilibrium</a:t>
            </a:r>
          </a:p>
        </p:txBody>
      </p:sp>
      <p:sp>
        <p:nvSpPr>
          <p:cNvPr id="94" name="Rectangle 93">
            <a:extLst>
              <a:ext uri="{FF2B5EF4-FFF2-40B4-BE49-F238E27FC236}">
                <a16:creationId xmlns:a16="http://schemas.microsoft.com/office/drawing/2014/main" id="{2A3C8272-3DCC-9A42-9AD0-AEC8FAD8524A}"/>
              </a:ext>
            </a:extLst>
          </p:cNvPr>
          <p:cNvSpPr/>
          <p:nvPr/>
        </p:nvSpPr>
        <p:spPr>
          <a:xfrm>
            <a:off x="4863403" y="3080868"/>
            <a:ext cx="1184876" cy="307777"/>
          </a:xfrm>
          <a:prstGeom prst="rect">
            <a:avLst/>
          </a:prstGeom>
        </p:spPr>
        <p:txBody>
          <a:bodyPr wrap="none">
            <a:spAutoFit/>
          </a:bodyPr>
          <a:lstStyle/>
          <a:p>
            <a:r>
              <a:rPr lang="en-US" sz="1400" b="1" dirty="0">
                <a:solidFill>
                  <a:srgbClr val="00B0F0"/>
                </a:solidFill>
              </a:rPr>
              <a:t>displacement</a:t>
            </a:r>
            <a:endParaRPr lang="en-US" sz="1400" dirty="0">
              <a:solidFill>
                <a:srgbClr val="00B0F0"/>
              </a:solidFill>
            </a:endParaRPr>
          </a:p>
        </p:txBody>
      </p:sp>
      <p:sp>
        <p:nvSpPr>
          <p:cNvPr id="95" name="Rectangle 94">
            <a:extLst>
              <a:ext uri="{FF2B5EF4-FFF2-40B4-BE49-F238E27FC236}">
                <a16:creationId xmlns:a16="http://schemas.microsoft.com/office/drawing/2014/main" id="{A4E552A6-9546-1F45-8372-0CB8FBD88937}"/>
              </a:ext>
            </a:extLst>
          </p:cNvPr>
          <p:cNvSpPr/>
          <p:nvPr/>
        </p:nvSpPr>
        <p:spPr>
          <a:xfrm>
            <a:off x="6146972" y="2750746"/>
            <a:ext cx="606705" cy="307777"/>
          </a:xfrm>
          <a:prstGeom prst="rect">
            <a:avLst/>
          </a:prstGeom>
        </p:spPr>
        <p:txBody>
          <a:bodyPr wrap="none">
            <a:spAutoFit/>
          </a:bodyPr>
          <a:lstStyle/>
          <a:p>
            <a:r>
              <a:rPr lang="en-US" sz="1400" b="1" dirty="0">
                <a:solidFill>
                  <a:srgbClr val="00B0F0"/>
                </a:solidFill>
              </a:rPr>
              <a:t>strain</a:t>
            </a:r>
            <a:endParaRPr lang="en-US" sz="1400" dirty="0">
              <a:solidFill>
                <a:srgbClr val="00B0F0"/>
              </a:solidFill>
            </a:endParaRPr>
          </a:p>
        </p:txBody>
      </p:sp>
      <p:sp>
        <p:nvSpPr>
          <p:cNvPr id="96" name="Rectangle 95">
            <a:extLst>
              <a:ext uri="{FF2B5EF4-FFF2-40B4-BE49-F238E27FC236}">
                <a16:creationId xmlns:a16="http://schemas.microsoft.com/office/drawing/2014/main" id="{6BCE50C7-56A0-634A-8924-C436D4BDF135}"/>
              </a:ext>
            </a:extLst>
          </p:cNvPr>
          <p:cNvSpPr/>
          <p:nvPr/>
        </p:nvSpPr>
        <p:spPr>
          <a:xfrm>
            <a:off x="7394551" y="2347598"/>
            <a:ext cx="613501" cy="307777"/>
          </a:xfrm>
          <a:prstGeom prst="rect">
            <a:avLst/>
          </a:prstGeom>
        </p:spPr>
        <p:txBody>
          <a:bodyPr wrap="none">
            <a:spAutoFit/>
          </a:bodyPr>
          <a:lstStyle/>
          <a:p>
            <a:r>
              <a:rPr lang="en-US" sz="1400" b="1" dirty="0">
                <a:solidFill>
                  <a:srgbClr val="00B0F0"/>
                </a:solidFill>
              </a:rPr>
              <a:t>stress</a:t>
            </a:r>
            <a:endParaRPr lang="en-US" sz="1400" dirty="0">
              <a:solidFill>
                <a:srgbClr val="00B0F0"/>
              </a:solidFill>
            </a:endParaRPr>
          </a:p>
        </p:txBody>
      </p:sp>
      <p:sp>
        <p:nvSpPr>
          <p:cNvPr id="97" name="Rectangle 96">
            <a:extLst>
              <a:ext uri="{FF2B5EF4-FFF2-40B4-BE49-F238E27FC236}">
                <a16:creationId xmlns:a16="http://schemas.microsoft.com/office/drawing/2014/main" id="{A98F3604-EB49-0544-A9EB-30727B16733B}"/>
              </a:ext>
            </a:extLst>
          </p:cNvPr>
          <p:cNvSpPr/>
          <p:nvPr/>
        </p:nvSpPr>
        <p:spPr>
          <a:xfrm>
            <a:off x="9116952" y="2681409"/>
            <a:ext cx="1048685" cy="307777"/>
          </a:xfrm>
          <a:prstGeom prst="rect">
            <a:avLst/>
          </a:prstGeom>
        </p:spPr>
        <p:txBody>
          <a:bodyPr wrap="none">
            <a:spAutoFit/>
          </a:bodyPr>
          <a:lstStyle/>
          <a:p>
            <a:r>
              <a:rPr lang="en-US" sz="1400" b="1" dirty="0">
                <a:solidFill>
                  <a:srgbClr val="00B0F0"/>
                </a:solidFill>
              </a:rPr>
              <a:t>equilibrium</a:t>
            </a:r>
            <a:endParaRPr lang="en-US" sz="1400" dirty="0">
              <a:solidFill>
                <a:srgbClr val="00B0F0"/>
              </a:solidFill>
            </a:endParaRPr>
          </a:p>
        </p:txBody>
      </p:sp>
      <p:sp>
        <p:nvSpPr>
          <p:cNvPr id="98" name="Oval 97">
            <a:extLst>
              <a:ext uri="{FF2B5EF4-FFF2-40B4-BE49-F238E27FC236}">
                <a16:creationId xmlns:a16="http://schemas.microsoft.com/office/drawing/2014/main" id="{DD2DB5D0-A256-2341-90C0-18DEFBAAFC4F}"/>
              </a:ext>
            </a:extLst>
          </p:cNvPr>
          <p:cNvSpPr/>
          <p:nvPr/>
        </p:nvSpPr>
        <p:spPr>
          <a:xfrm>
            <a:off x="4617654" y="1056478"/>
            <a:ext cx="248575" cy="248575"/>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l-GR" dirty="0">
                <a:effectLst/>
              </a:rPr>
              <a:t>σ</a:t>
            </a:r>
            <a:endParaRPr lang="en-US" dirty="0"/>
          </a:p>
        </p:txBody>
      </p:sp>
      <p:sp>
        <p:nvSpPr>
          <p:cNvPr id="99" name="Oval 98">
            <a:extLst>
              <a:ext uri="{FF2B5EF4-FFF2-40B4-BE49-F238E27FC236}">
                <a16:creationId xmlns:a16="http://schemas.microsoft.com/office/drawing/2014/main" id="{5F42CFB4-5CC4-BA44-B5CC-5AE80791C596}"/>
              </a:ext>
            </a:extLst>
          </p:cNvPr>
          <p:cNvSpPr/>
          <p:nvPr/>
        </p:nvSpPr>
        <p:spPr>
          <a:xfrm>
            <a:off x="4617654" y="1492964"/>
            <a:ext cx="248575" cy="248575"/>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l-GR" dirty="0">
                <a:effectLst/>
              </a:rPr>
              <a:t>σ</a:t>
            </a:r>
            <a:endParaRPr lang="en-US" dirty="0"/>
          </a:p>
        </p:txBody>
      </p:sp>
      <p:sp>
        <p:nvSpPr>
          <p:cNvPr id="100" name="Oval 99">
            <a:extLst>
              <a:ext uri="{FF2B5EF4-FFF2-40B4-BE49-F238E27FC236}">
                <a16:creationId xmlns:a16="http://schemas.microsoft.com/office/drawing/2014/main" id="{71B131D7-9594-374C-A7E8-4876FEB9BEB8}"/>
              </a:ext>
            </a:extLst>
          </p:cNvPr>
          <p:cNvSpPr/>
          <p:nvPr/>
        </p:nvSpPr>
        <p:spPr>
          <a:xfrm>
            <a:off x="4617654" y="1929449"/>
            <a:ext cx="248575" cy="248575"/>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l-GR" dirty="0">
                <a:effectLst/>
              </a:rPr>
              <a:t>σ</a:t>
            </a:r>
            <a:endParaRPr lang="en-US" dirty="0"/>
          </a:p>
        </p:txBody>
      </p:sp>
      <p:cxnSp>
        <p:nvCxnSpPr>
          <p:cNvPr id="101" name="Straight Arrow Connector 100">
            <a:extLst>
              <a:ext uri="{FF2B5EF4-FFF2-40B4-BE49-F238E27FC236}">
                <a16:creationId xmlns:a16="http://schemas.microsoft.com/office/drawing/2014/main" id="{113F814B-25BB-7548-A493-5264F95AE576}"/>
              </a:ext>
            </a:extLst>
          </p:cNvPr>
          <p:cNvCxnSpPr>
            <a:cxnSpLocks/>
            <a:stCxn id="4" idx="6"/>
            <a:endCxn id="98" idx="2"/>
          </p:cNvCxnSpPr>
          <p:nvPr/>
        </p:nvCxnSpPr>
        <p:spPr>
          <a:xfrm flipV="1">
            <a:off x="2210541" y="1180766"/>
            <a:ext cx="2407113" cy="115324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2" name="Straight Arrow Connector 101">
            <a:extLst>
              <a:ext uri="{FF2B5EF4-FFF2-40B4-BE49-F238E27FC236}">
                <a16:creationId xmlns:a16="http://schemas.microsoft.com/office/drawing/2014/main" id="{023A9DFD-B7B4-384D-BD51-080DC3F71E5C}"/>
              </a:ext>
            </a:extLst>
          </p:cNvPr>
          <p:cNvCxnSpPr>
            <a:cxnSpLocks/>
            <a:stCxn id="4" idx="6"/>
            <a:endCxn id="99" idx="2"/>
          </p:cNvCxnSpPr>
          <p:nvPr/>
        </p:nvCxnSpPr>
        <p:spPr>
          <a:xfrm flipV="1">
            <a:off x="2210541" y="1617252"/>
            <a:ext cx="2407113" cy="71675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3" name="Straight Arrow Connector 102">
            <a:extLst>
              <a:ext uri="{FF2B5EF4-FFF2-40B4-BE49-F238E27FC236}">
                <a16:creationId xmlns:a16="http://schemas.microsoft.com/office/drawing/2014/main" id="{7E322D92-EE73-8B46-B922-49AC11251C11}"/>
              </a:ext>
            </a:extLst>
          </p:cNvPr>
          <p:cNvCxnSpPr>
            <a:cxnSpLocks/>
            <a:stCxn id="4" idx="6"/>
            <a:endCxn id="100" idx="2"/>
          </p:cNvCxnSpPr>
          <p:nvPr/>
        </p:nvCxnSpPr>
        <p:spPr>
          <a:xfrm flipV="1">
            <a:off x="2210541" y="2053737"/>
            <a:ext cx="2407113" cy="28027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04" name="Oval 103">
            <a:extLst>
              <a:ext uri="{FF2B5EF4-FFF2-40B4-BE49-F238E27FC236}">
                <a16:creationId xmlns:a16="http://schemas.microsoft.com/office/drawing/2014/main" id="{179FA723-E62B-B249-8017-08C0A309243D}"/>
              </a:ext>
            </a:extLst>
          </p:cNvPr>
          <p:cNvSpPr/>
          <p:nvPr/>
        </p:nvSpPr>
        <p:spPr>
          <a:xfrm>
            <a:off x="5302712" y="1056478"/>
            <a:ext cx="248575" cy="248575"/>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l-GR" dirty="0">
                <a:effectLst/>
              </a:rPr>
              <a:t>σ</a:t>
            </a:r>
            <a:endParaRPr lang="en-US" dirty="0"/>
          </a:p>
        </p:txBody>
      </p:sp>
      <p:sp>
        <p:nvSpPr>
          <p:cNvPr id="105" name="Oval 104">
            <a:extLst>
              <a:ext uri="{FF2B5EF4-FFF2-40B4-BE49-F238E27FC236}">
                <a16:creationId xmlns:a16="http://schemas.microsoft.com/office/drawing/2014/main" id="{157DD981-8BE9-8349-BBF6-E0C204951E9F}"/>
              </a:ext>
            </a:extLst>
          </p:cNvPr>
          <p:cNvSpPr/>
          <p:nvPr/>
        </p:nvSpPr>
        <p:spPr>
          <a:xfrm>
            <a:off x="5302712" y="1492964"/>
            <a:ext cx="248575" cy="248575"/>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l-GR" dirty="0">
                <a:effectLst/>
              </a:rPr>
              <a:t>σ</a:t>
            </a:r>
            <a:endParaRPr lang="en-US" dirty="0"/>
          </a:p>
        </p:txBody>
      </p:sp>
      <p:sp>
        <p:nvSpPr>
          <p:cNvPr id="106" name="Oval 105">
            <a:extLst>
              <a:ext uri="{FF2B5EF4-FFF2-40B4-BE49-F238E27FC236}">
                <a16:creationId xmlns:a16="http://schemas.microsoft.com/office/drawing/2014/main" id="{67C27D00-3D4E-5A48-A193-B0ADBCEAA423}"/>
              </a:ext>
            </a:extLst>
          </p:cNvPr>
          <p:cNvSpPr/>
          <p:nvPr/>
        </p:nvSpPr>
        <p:spPr>
          <a:xfrm>
            <a:off x="5302712" y="1929449"/>
            <a:ext cx="248575" cy="248575"/>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l-GR" dirty="0">
                <a:effectLst/>
              </a:rPr>
              <a:t>σ</a:t>
            </a:r>
            <a:endParaRPr lang="en-US" dirty="0"/>
          </a:p>
        </p:txBody>
      </p:sp>
      <mc:AlternateContent xmlns:mc="http://schemas.openxmlformats.org/markup-compatibility/2006" xmlns:a14="http://schemas.microsoft.com/office/drawing/2010/main">
        <mc:Choice Requires="a14">
          <p:sp>
            <p:nvSpPr>
              <p:cNvPr id="107" name="Oval 106">
                <a:extLst>
                  <a:ext uri="{FF2B5EF4-FFF2-40B4-BE49-F238E27FC236}">
                    <a16:creationId xmlns:a16="http://schemas.microsoft.com/office/drawing/2014/main" id="{4A2A98EC-8F53-7146-9623-53EBD62DBE8A}"/>
                  </a:ext>
                </a:extLst>
              </p:cNvPr>
              <p:cNvSpPr/>
              <p:nvPr/>
            </p:nvSpPr>
            <p:spPr>
              <a:xfrm>
                <a:off x="6422939" y="1317297"/>
                <a:ext cx="365760" cy="365760"/>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𝐸</m:t>
                      </m:r>
                    </m:oMath>
                  </m:oMathPara>
                </a14:m>
                <a:endParaRPr lang="en-US" dirty="0"/>
              </a:p>
            </p:txBody>
          </p:sp>
        </mc:Choice>
        <mc:Fallback xmlns="">
          <p:sp>
            <p:nvSpPr>
              <p:cNvPr id="107" name="Oval 106">
                <a:extLst>
                  <a:ext uri="{FF2B5EF4-FFF2-40B4-BE49-F238E27FC236}">
                    <a16:creationId xmlns:a16="http://schemas.microsoft.com/office/drawing/2014/main" id="{4A2A98EC-8F53-7146-9623-53EBD62DBE8A}"/>
                  </a:ext>
                </a:extLst>
              </p:cNvPr>
              <p:cNvSpPr>
                <a:spLocks noRot="1" noChangeAspect="1" noMove="1" noResize="1" noEditPoints="1" noAdjustHandles="1" noChangeArrowheads="1" noChangeShapeType="1" noTextEdit="1"/>
              </p:cNvSpPr>
              <p:nvPr/>
            </p:nvSpPr>
            <p:spPr>
              <a:xfrm>
                <a:off x="6422939" y="1317297"/>
                <a:ext cx="365760" cy="365760"/>
              </a:xfrm>
              <a:prstGeom prst="ellipse">
                <a:avLst/>
              </a:prstGeom>
              <a:blipFill>
                <a:blip r:embed="rId15"/>
                <a:stretch>
                  <a:fillRect/>
                </a:stretch>
              </a:blipFill>
            </p:spPr>
            <p:txBody>
              <a:bodyPr/>
              <a:lstStyle/>
              <a:p>
                <a:r>
                  <a:rPr lang="en-US">
                    <a:noFill/>
                  </a:rPr>
                  <a:t> </a:t>
                </a:r>
              </a:p>
            </p:txBody>
          </p:sp>
        </mc:Fallback>
      </mc:AlternateContent>
      <p:cxnSp>
        <p:nvCxnSpPr>
          <p:cNvPr id="108" name="Straight Arrow Connector 107">
            <a:extLst>
              <a:ext uri="{FF2B5EF4-FFF2-40B4-BE49-F238E27FC236}">
                <a16:creationId xmlns:a16="http://schemas.microsoft.com/office/drawing/2014/main" id="{0CF8947A-03F9-074E-B0C8-7ED336413BF4}"/>
              </a:ext>
            </a:extLst>
          </p:cNvPr>
          <p:cNvCxnSpPr>
            <a:stCxn id="98" idx="6"/>
            <a:endCxn id="104" idx="2"/>
          </p:cNvCxnSpPr>
          <p:nvPr/>
        </p:nvCxnSpPr>
        <p:spPr>
          <a:xfrm>
            <a:off x="4866229" y="1180766"/>
            <a:ext cx="43648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9" name="Straight Arrow Connector 108">
            <a:extLst>
              <a:ext uri="{FF2B5EF4-FFF2-40B4-BE49-F238E27FC236}">
                <a16:creationId xmlns:a16="http://schemas.microsoft.com/office/drawing/2014/main" id="{086C1298-73C4-0C40-8A15-F16403E48C48}"/>
              </a:ext>
            </a:extLst>
          </p:cNvPr>
          <p:cNvCxnSpPr>
            <a:cxnSpLocks/>
            <a:stCxn id="98" idx="6"/>
            <a:endCxn id="105" idx="2"/>
          </p:cNvCxnSpPr>
          <p:nvPr/>
        </p:nvCxnSpPr>
        <p:spPr>
          <a:xfrm>
            <a:off x="4866229" y="1180766"/>
            <a:ext cx="436483" cy="43648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0" name="Straight Arrow Connector 109">
            <a:extLst>
              <a:ext uri="{FF2B5EF4-FFF2-40B4-BE49-F238E27FC236}">
                <a16:creationId xmlns:a16="http://schemas.microsoft.com/office/drawing/2014/main" id="{2D1EE04B-1C06-F44B-9058-D87D9B22FE0E}"/>
              </a:ext>
            </a:extLst>
          </p:cNvPr>
          <p:cNvCxnSpPr>
            <a:stCxn id="98" idx="6"/>
            <a:endCxn id="106" idx="2"/>
          </p:cNvCxnSpPr>
          <p:nvPr/>
        </p:nvCxnSpPr>
        <p:spPr>
          <a:xfrm>
            <a:off x="4866229" y="1180766"/>
            <a:ext cx="436483" cy="87297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1" name="Straight Arrow Connector 110">
            <a:extLst>
              <a:ext uri="{FF2B5EF4-FFF2-40B4-BE49-F238E27FC236}">
                <a16:creationId xmlns:a16="http://schemas.microsoft.com/office/drawing/2014/main" id="{1CB793F3-D648-384F-9909-766750DC5A22}"/>
              </a:ext>
            </a:extLst>
          </p:cNvPr>
          <p:cNvCxnSpPr>
            <a:stCxn id="99" idx="6"/>
            <a:endCxn id="104" idx="2"/>
          </p:cNvCxnSpPr>
          <p:nvPr/>
        </p:nvCxnSpPr>
        <p:spPr>
          <a:xfrm flipV="1">
            <a:off x="4866229" y="1180766"/>
            <a:ext cx="436483" cy="43648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2" name="Straight Arrow Connector 111">
            <a:extLst>
              <a:ext uri="{FF2B5EF4-FFF2-40B4-BE49-F238E27FC236}">
                <a16:creationId xmlns:a16="http://schemas.microsoft.com/office/drawing/2014/main" id="{B92C95A1-A6FC-964B-AC80-00D19B96738B}"/>
              </a:ext>
            </a:extLst>
          </p:cNvPr>
          <p:cNvCxnSpPr>
            <a:stCxn id="99" idx="6"/>
            <a:endCxn id="105" idx="2"/>
          </p:cNvCxnSpPr>
          <p:nvPr/>
        </p:nvCxnSpPr>
        <p:spPr>
          <a:xfrm>
            <a:off x="4866229" y="1617252"/>
            <a:ext cx="43648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3" name="Straight Arrow Connector 112">
            <a:extLst>
              <a:ext uri="{FF2B5EF4-FFF2-40B4-BE49-F238E27FC236}">
                <a16:creationId xmlns:a16="http://schemas.microsoft.com/office/drawing/2014/main" id="{D9E31FD8-3E7F-7747-94E5-3EC0DE794BF5}"/>
              </a:ext>
            </a:extLst>
          </p:cNvPr>
          <p:cNvCxnSpPr>
            <a:stCxn id="99" idx="6"/>
            <a:endCxn id="106" idx="2"/>
          </p:cNvCxnSpPr>
          <p:nvPr/>
        </p:nvCxnSpPr>
        <p:spPr>
          <a:xfrm>
            <a:off x="4866229" y="1617252"/>
            <a:ext cx="436483" cy="43648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4" name="Straight Arrow Connector 113">
            <a:extLst>
              <a:ext uri="{FF2B5EF4-FFF2-40B4-BE49-F238E27FC236}">
                <a16:creationId xmlns:a16="http://schemas.microsoft.com/office/drawing/2014/main" id="{8BEA387C-5CEC-B74E-900A-BAF8CDCB7BCA}"/>
              </a:ext>
            </a:extLst>
          </p:cNvPr>
          <p:cNvCxnSpPr>
            <a:stCxn id="100" idx="6"/>
            <a:endCxn id="104" idx="2"/>
          </p:cNvCxnSpPr>
          <p:nvPr/>
        </p:nvCxnSpPr>
        <p:spPr>
          <a:xfrm flipV="1">
            <a:off x="4866229" y="1180766"/>
            <a:ext cx="436483" cy="87297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5" name="Straight Arrow Connector 114">
            <a:extLst>
              <a:ext uri="{FF2B5EF4-FFF2-40B4-BE49-F238E27FC236}">
                <a16:creationId xmlns:a16="http://schemas.microsoft.com/office/drawing/2014/main" id="{24F48A78-D8BA-4144-90BF-BA69C10BFD38}"/>
              </a:ext>
            </a:extLst>
          </p:cNvPr>
          <p:cNvCxnSpPr>
            <a:stCxn id="100" idx="6"/>
            <a:endCxn id="105" idx="2"/>
          </p:cNvCxnSpPr>
          <p:nvPr/>
        </p:nvCxnSpPr>
        <p:spPr>
          <a:xfrm flipV="1">
            <a:off x="4866229" y="1617252"/>
            <a:ext cx="436483" cy="43648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6" name="Straight Arrow Connector 115">
            <a:extLst>
              <a:ext uri="{FF2B5EF4-FFF2-40B4-BE49-F238E27FC236}">
                <a16:creationId xmlns:a16="http://schemas.microsoft.com/office/drawing/2014/main" id="{23BF1FA4-AC54-774E-90D3-4C8B000D622F}"/>
              </a:ext>
            </a:extLst>
          </p:cNvPr>
          <p:cNvCxnSpPr>
            <a:stCxn id="100" idx="6"/>
            <a:endCxn id="106" idx="2"/>
          </p:cNvCxnSpPr>
          <p:nvPr/>
        </p:nvCxnSpPr>
        <p:spPr>
          <a:xfrm>
            <a:off x="4866229" y="2053737"/>
            <a:ext cx="43648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7" name="Straight Arrow Connector 116">
            <a:extLst>
              <a:ext uri="{FF2B5EF4-FFF2-40B4-BE49-F238E27FC236}">
                <a16:creationId xmlns:a16="http://schemas.microsoft.com/office/drawing/2014/main" id="{28D59EB4-0E09-2F4D-939B-0EF0E1A3FEB5}"/>
              </a:ext>
            </a:extLst>
          </p:cNvPr>
          <p:cNvCxnSpPr>
            <a:cxnSpLocks/>
            <a:stCxn id="104" idx="6"/>
            <a:endCxn id="107" idx="2"/>
          </p:cNvCxnSpPr>
          <p:nvPr/>
        </p:nvCxnSpPr>
        <p:spPr>
          <a:xfrm>
            <a:off x="5551287" y="1180766"/>
            <a:ext cx="871652" cy="31941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8" name="Straight Arrow Connector 117">
            <a:extLst>
              <a:ext uri="{FF2B5EF4-FFF2-40B4-BE49-F238E27FC236}">
                <a16:creationId xmlns:a16="http://schemas.microsoft.com/office/drawing/2014/main" id="{80C25975-0B32-4F4E-8CD0-56E029759726}"/>
              </a:ext>
            </a:extLst>
          </p:cNvPr>
          <p:cNvCxnSpPr>
            <a:cxnSpLocks/>
            <a:stCxn id="105" idx="6"/>
            <a:endCxn id="107" idx="2"/>
          </p:cNvCxnSpPr>
          <p:nvPr/>
        </p:nvCxnSpPr>
        <p:spPr>
          <a:xfrm flipV="1">
            <a:off x="5551287" y="1500177"/>
            <a:ext cx="871652" cy="11707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9" name="Straight Arrow Connector 118">
            <a:extLst>
              <a:ext uri="{FF2B5EF4-FFF2-40B4-BE49-F238E27FC236}">
                <a16:creationId xmlns:a16="http://schemas.microsoft.com/office/drawing/2014/main" id="{7A3456C5-0DCD-994D-B653-4401ED954BCB}"/>
              </a:ext>
            </a:extLst>
          </p:cNvPr>
          <p:cNvCxnSpPr>
            <a:cxnSpLocks/>
            <a:stCxn id="106" idx="6"/>
            <a:endCxn id="107" idx="2"/>
          </p:cNvCxnSpPr>
          <p:nvPr/>
        </p:nvCxnSpPr>
        <p:spPr>
          <a:xfrm flipV="1">
            <a:off x="5551287" y="1500177"/>
            <a:ext cx="871652" cy="55356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0" name="Straight Arrow Connector 119">
            <a:extLst>
              <a:ext uri="{FF2B5EF4-FFF2-40B4-BE49-F238E27FC236}">
                <a16:creationId xmlns:a16="http://schemas.microsoft.com/office/drawing/2014/main" id="{9C64B845-5A52-094D-8578-DD3D8FDF41D2}"/>
              </a:ext>
            </a:extLst>
          </p:cNvPr>
          <p:cNvCxnSpPr>
            <a:cxnSpLocks/>
            <a:stCxn id="43" idx="6"/>
            <a:endCxn id="98" idx="2"/>
          </p:cNvCxnSpPr>
          <p:nvPr/>
        </p:nvCxnSpPr>
        <p:spPr>
          <a:xfrm flipV="1">
            <a:off x="2210379" y="1180766"/>
            <a:ext cx="2407275" cy="168890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1" name="Straight Arrow Connector 120">
            <a:extLst>
              <a:ext uri="{FF2B5EF4-FFF2-40B4-BE49-F238E27FC236}">
                <a16:creationId xmlns:a16="http://schemas.microsoft.com/office/drawing/2014/main" id="{8C2DCD0B-A180-BA43-B9D3-500107198C5B}"/>
              </a:ext>
            </a:extLst>
          </p:cNvPr>
          <p:cNvCxnSpPr>
            <a:cxnSpLocks/>
            <a:stCxn id="43" idx="6"/>
            <a:endCxn id="99" idx="2"/>
          </p:cNvCxnSpPr>
          <p:nvPr/>
        </p:nvCxnSpPr>
        <p:spPr>
          <a:xfrm flipV="1">
            <a:off x="2210379" y="1617252"/>
            <a:ext cx="2407275" cy="125242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2" name="Straight Arrow Connector 121">
            <a:extLst>
              <a:ext uri="{FF2B5EF4-FFF2-40B4-BE49-F238E27FC236}">
                <a16:creationId xmlns:a16="http://schemas.microsoft.com/office/drawing/2014/main" id="{46D7C2D6-C80F-AD4C-ABFB-D4030CA5F07F}"/>
              </a:ext>
            </a:extLst>
          </p:cNvPr>
          <p:cNvCxnSpPr>
            <a:cxnSpLocks/>
            <a:stCxn id="43" idx="6"/>
            <a:endCxn id="100" idx="2"/>
          </p:cNvCxnSpPr>
          <p:nvPr/>
        </p:nvCxnSpPr>
        <p:spPr>
          <a:xfrm flipV="1">
            <a:off x="2210379" y="2053737"/>
            <a:ext cx="2407275" cy="81593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3" name="Straight Arrow Connector 122">
            <a:extLst>
              <a:ext uri="{FF2B5EF4-FFF2-40B4-BE49-F238E27FC236}">
                <a16:creationId xmlns:a16="http://schemas.microsoft.com/office/drawing/2014/main" id="{12759A26-8D98-DA4F-A29F-70E01ECB9A53}"/>
              </a:ext>
            </a:extLst>
          </p:cNvPr>
          <p:cNvCxnSpPr>
            <a:cxnSpLocks/>
            <a:stCxn id="107" idx="6"/>
            <a:endCxn id="73" idx="2"/>
          </p:cNvCxnSpPr>
          <p:nvPr/>
        </p:nvCxnSpPr>
        <p:spPr>
          <a:xfrm>
            <a:off x="6788699" y="1500177"/>
            <a:ext cx="577425" cy="140071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4" name="Straight Arrow Connector 123">
            <a:extLst>
              <a:ext uri="{FF2B5EF4-FFF2-40B4-BE49-F238E27FC236}">
                <a16:creationId xmlns:a16="http://schemas.microsoft.com/office/drawing/2014/main" id="{370DA81E-2527-6C48-A975-E057E87D3E74}"/>
              </a:ext>
            </a:extLst>
          </p:cNvPr>
          <p:cNvCxnSpPr>
            <a:cxnSpLocks/>
            <a:stCxn id="107" idx="6"/>
            <a:endCxn id="72" idx="2"/>
          </p:cNvCxnSpPr>
          <p:nvPr/>
        </p:nvCxnSpPr>
        <p:spPr>
          <a:xfrm>
            <a:off x="6788699" y="1500177"/>
            <a:ext cx="590384" cy="221261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5" name="Straight Arrow Connector 124">
            <a:extLst>
              <a:ext uri="{FF2B5EF4-FFF2-40B4-BE49-F238E27FC236}">
                <a16:creationId xmlns:a16="http://schemas.microsoft.com/office/drawing/2014/main" id="{2541A5A0-C2A9-364D-A29C-FE50BD71FBCD}"/>
              </a:ext>
            </a:extLst>
          </p:cNvPr>
          <p:cNvCxnSpPr>
            <a:cxnSpLocks/>
            <a:stCxn id="107" idx="6"/>
            <a:endCxn id="74" idx="2"/>
          </p:cNvCxnSpPr>
          <p:nvPr/>
        </p:nvCxnSpPr>
        <p:spPr>
          <a:xfrm>
            <a:off x="6788699" y="1500177"/>
            <a:ext cx="577462" cy="306587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26" name="Rectangle: Rounded Corners 113">
            <a:extLst>
              <a:ext uri="{FF2B5EF4-FFF2-40B4-BE49-F238E27FC236}">
                <a16:creationId xmlns:a16="http://schemas.microsoft.com/office/drawing/2014/main" id="{B9C59C4C-8364-6643-B84D-EF7BB77FB5DB}"/>
              </a:ext>
            </a:extLst>
          </p:cNvPr>
          <p:cNvSpPr/>
          <p:nvPr/>
        </p:nvSpPr>
        <p:spPr>
          <a:xfrm rot="1479907">
            <a:off x="1406914" y="2424296"/>
            <a:ext cx="4306371" cy="1847020"/>
          </a:xfrm>
          <a:prstGeom prst="roundRect">
            <a:avLst>
              <a:gd name="adj" fmla="val 50000"/>
            </a:avLst>
          </a:prstGeom>
          <a:no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 name="Rectangle: Rounded Corners 113">
            <a:extLst>
              <a:ext uri="{FF2B5EF4-FFF2-40B4-BE49-F238E27FC236}">
                <a16:creationId xmlns:a16="http://schemas.microsoft.com/office/drawing/2014/main" id="{31DB6FEE-7994-0F40-AA88-C24971688D99}"/>
              </a:ext>
            </a:extLst>
          </p:cNvPr>
          <p:cNvSpPr/>
          <p:nvPr/>
        </p:nvSpPr>
        <p:spPr>
          <a:xfrm rot="20844409">
            <a:off x="1333173" y="1074854"/>
            <a:ext cx="5698987" cy="1727151"/>
          </a:xfrm>
          <a:prstGeom prst="roundRect">
            <a:avLst>
              <a:gd name="adj" fmla="val 50000"/>
            </a:avLst>
          </a:prstGeom>
          <a:no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 name="Rectangle 127">
            <a:extLst>
              <a:ext uri="{FF2B5EF4-FFF2-40B4-BE49-F238E27FC236}">
                <a16:creationId xmlns:a16="http://schemas.microsoft.com/office/drawing/2014/main" id="{F59CF60C-039A-C64B-89CA-BA9EC9718909}"/>
              </a:ext>
            </a:extLst>
          </p:cNvPr>
          <p:cNvSpPr/>
          <p:nvPr/>
        </p:nvSpPr>
        <p:spPr>
          <a:xfrm rot="20826405">
            <a:off x="2155077" y="777141"/>
            <a:ext cx="3236784" cy="369332"/>
          </a:xfrm>
          <a:prstGeom prst="rect">
            <a:avLst/>
          </a:prstGeom>
        </p:spPr>
        <p:txBody>
          <a:bodyPr wrap="none">
            <a:spAutoFit/>
          </a:bodyPr>
          <a:lstStyle/>
          <a:p>
            <a:r>
              <a:rPr lang="en-US" b="1" u="sng" dirty="0"/>
              <a:t>NN for Material Properties Field</a:t>
            </a:r>
          </a:p>
        </p:txBody>
      </p:sp>
      <p:sp>
        <p:nvSpPr>
          <p:cNvPr id="129" name="Rectangle 128">
            <a:extLst>
              <a:ext uri="{FF2B5EF4-FFF2-40B4-BE49-F238E27FC236}">
                <a16:creationId xmlns:a16="http://schemas.microsoft.com/office/drawing/2014/main" id="{E35133B6-EE17-8E4F-B591-ED4C95242F3D}"/>
              </a:ext>
            </a:extLst>
          </p:cNvPr>
          <p:cNvSpPr/>
          <p:nvPr/>
        </p:nvSpPr>
        <p:spPr>
          <a:xfrm>
            <a:off x="5919864" y="1069252"/>
            <a:ext cx="1450269" cy="307777"/>
          </a:xfrm>
          <a:prstGeom prst="rect">
            <a:avLst/>
          </a:prstGeom>
        </p:spPr>
        <p:txBody>
          <a:bodyPr wrap="none">
            <a:spAutoFit/>
          </a:bodyPr>
          <a:lstStyle/>
          <a:p>
            <a:r>
              <a:rPr lang="en-US" sz="1400" b="1" dirty="0">
                <a:solidFill>
                  <a:srgbClr val="00B0F0"/>
                </a:solidFill>
              </a:rPr>
              <a:t>Young’s Modulus</a:t>
            </a:r>
            <a:endParaRPr lang="en-US" sz="1400" dirty="0">
              <a:solidFill>
                <a:srgbClr val="00B0F0"/>
              </a:solidFill>
            </a:endParaRPr>
          </a:p>
        </p:txBody>
      </p:sp>
    </p:spTree>
    <p:extLst>
      <p:ext uri="{BB962C8B-B14F-4D97-AF65-F5344CB8AC3E}">
        <p14:creationId xmlns:p14="http://schemas.microsoft.com/office/powerpoint/2010/main" val="37117158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1FBBAF-B5D6-8741-9DA2-06568B9C2C01}"/>
              </a:ext>
            </a:extLst>
          </p:cNvPr>
          <p:cNvSpPr>
            <a:spLocks noGrp="1"/>
          </p:cNvSpPr>
          <p:nvPr>
            <p:ph type="title"/>
          </p:nvPr>
        </p:nvSpPr>
        <p:spPr/>
        <p:txBody>
          <a:bodyPr/>
          <a:lstStyle/>
          <a:p>
            <a:r>
              <a:rPr lang="en-US" dirty="0"/>
              <a:t>Displacement in Solid Mechanics Example:</a:t>
            </a:r>
          </a:p>
        </p:txBody>
      </p:sp>
      <p:pic>
        <p:nvPicPr>
          <p:cNvPr id="5" name="Content Placeholder 4" descr="A screenshot of a cell phone&#10;&#10;Description automatically generated">
            <a:extLst>
              <a:ext uri="{FF2B5EF4-FFF2-40B4-BE49-F238E27FC236}">
                <a16:creationId xmlns:a16="http://schemas.microsoft.com/office/drawing/2014/main" id="{AA9713DF-54A4-0C4D-A343-B7A39433A93E}"/>
              </a:ext>
            </a:extLst>
          </p:cNvPr>
          <p:cNvPicPr>
            <a:picLocks noGrp="1" noChangeAspect="1"/>
          </p:cNvPicPr>
          <p:nvPr>
            <p:ph idx="1"/>
          </p:nvPr>
        </p:nvPicPr>
        <p:blipFill>
          <a:blip r:embed="rId2"/>
          <a:stretch>
            <a:fillRect/>
          </a:stretch>
        </p:blipFill>
        <p:spPr>
          <a:xfrm>
            <a:off x="5204261" y="1451934"/>
            <a:ext cx="3395938" cy="2546953"/>
          </a:xfrm>
        </p:spPr>
      </p:pic>
      <p:pic>
        <p:nvPicPr>
          <p:cNvPr id="7" name="Picture 6" descr="A screenshot of a cell phone&#10;&#10;Description automatically generated">
            <a:extLst>
              <a:ext uri="{FF2B5EF4-FFF2-40B4-BE49-F238E27FC236}">
                <a16:creationId xmlns:a16="http://schemas.microsoft.com/office/drawing/2014/main" id="{B707CB17-0EFB-EF44-8BB0-54A8D5CF0A17}"/>
              </a:ext>
            </a:extLst>
          </p:cNvPr>
          <p:cNvPicPr>
            <a:picLocks noChangeAspect="1"/>
          </p:cNvPicPr>
          <p:nvPr/>
        </p:nvPicPr>
        <p:blipFill>
          <a:blip r:embed="rId3"/>
          <a:stretch>
            <a:fillRect/>
          </a:stretch>
        </p:blipFill>
        <p:spPr>
          <a:xfrm>
            <a:off x="8611968" y="1416626"/>
            <a:ext cx="3419476" cy="2564607"/>
          </a:xfrm>
          <a:prstGeom prst="rect">
            <a:avLst/>
          </a:prstGeom>
        </p:spPr>
      </p:pic>
      <p:pic>
        <p:nvPicPr>
          <p:cNvPr id="9" name="Picture 8" descr="A screenshot of a cell phone&#10;&#10;Description automatically generated">
            <a:extLst>
              <a:ext uri="{FF2B5EF4-FFF2-40B4-BE49-F238E27FC236}">
                <a16:creationId xmlns:a16="http://schemas.microsoft.com/office/drawing/2014/main" id="{01F2A454-3E57-034F-B4E2-815E939411A9}"/>
              </a:ext>
            </a:extLst>
          </p:cNvPr>
          <p:cNvPicPr>
            <a:picLocks noChangeAspect="1"/>
          </p:cNvPicPr>
          <p:nvPr/>
        </p:nvPicPr>
        <p:blipFill>
          <a:blip r:embed="rId4"/>
          <a:stretch>
            <a:fillRect/>
          </a:stretch>
        </p:blipFill>
        <p:spPr>
          <a:xfrm>
            <a:off x="5192492" y="4159070"/>
            <a:ext cx="3419476" cy="2564607"/>
          </a:xfrm>
          <a:prstGeom prst="rect">
            <a:avLst/>
          </a:prstGeom>
        </p:spPr>
      </p:pic>
      <p:pic>
        <p:nvPicPr>
          <p:cNvPr id="11" name="Picture 10" descr="A screenshot of a cell phone&#10;&#10;Description automatically generated">
            <a:extLst>
              <a:ext uri="{FF2B5EF4-FFF2-40B4-BE49-F238E27FC236}">
                <a16:creationId xmlns:a16="http://schemas.microsoft.com/office/drawing/2014/main" id="{3BE71AD1-4927-0C47-862C-7CB411A16E98}"/>
              </a:ext>
            </a:extLst>
          </p:cNvPr>
          <p:cNvPicPr>
            <a:picLocks noChangeAspect="1"/>
          </p:cNvPicPr>
          <p:nvPr/>
        </p:nvPicPr>
        <p:blipFill>
          <a:blip r:embed="rId5"/>
          <a:stretch>
            <a:fillRect/>
          </a:stretch>
        </p:blipFill>
        <p:spPr>
          <a:xfrm>
            <a:off x="8611968" y="4141415"/>
            <a:ext cx="3419476" cy="2564607"/>
          </a:xfrm>
          <a:prstGeom prst="rect">
            <a:avLst/>
          </a:prstGeom>
        </p:spPr>
      </p:pic>
      <p:sp>
        <p:nvSpPr>
          <p:cNvPr id="12" name="TextBox 11">
            <a:extLst>
              <a:ext uri="{FF2B5EF4-FFF2-40B4-BE49-F238E27FC236}">
                <a16:creationId xmlns:a16="http://schemas.microsoft.com/office/drawing/2014/main" id="{FE0AEE21-DADF-2C41-9D7A-DE469337BA05}"/>
              </a:ext>
            </a:extLst>
          </p:cNvPr>
          <p:cNvSpPr txBox="1"/>
          <p:nvPr/>
        </p:nvSpPr>
        <p:spPr>
          <a:xfrm>
            <a:off x="6158949" y="1353291"/>
            <a:ext cx="1486561" cy="369332"/>
          </a:xfrm>
          <a:prstGeom prst="rect">
            <a:avLst/>
          </a:prstGeom>
          <a:solidFill>
            <a:schemeClr val="bg1"/>
          </a:solidFill>
        </p:spPr>
        <p:txBody>
          <a:bodyPr wrap="none" rtlCol="0">
            <a:spAutoFit/>
          </a:bodyPr>
          <a:lstStyle/>
          <a:p>
            <a:r>
              <a:rPr lang="en-US" dirty="0"/>
              <a:t>10K Iterations</a:t>
            </a:r>
          </a:p>
        </p:txBody>
      </p:sp>
      <p:sp>
        <p:nvSpPr>
          <p:cNvPr id="13" name="TextBox 12">
            <a:extLst>
              <a:ext uri="{FF2B5EF4-FFF2-40B4-BE49-F238E27FC236}">
                <a16:creationId xmlns:a16="http://schemas.microsoft.com/office/drawing/2014/main" id="{0C3C3216-A807-D443-8EE4-85A28A2C6BCF}"/>
              </a:ext>
            </a:extLst>
          </p:cNvPr>
          <p:cNvSpPr txBox="1"/>
          <p:nvPr/>
        </p:nvSpPr>
        <p:spPr>
          <a:xfrm>
            <a:off x="9601303" y="1330184"/>
            <a:ext cx="1486561" cy="369332"/>
          </a:xfrm>
          <a:prstGeom prst="rect">
            <a:avLst/>
          </a:prstGeom>
          <a:solidFill>
            <a:schemeClr val="bg1"/>
          </a:solidFill>
        </p:spPr>
        <p:txBody>
          <a:bodyPr wrap="none" rtlCol="0">
            <a:spAutoFit/>
          </a:bodyPr>
          <a:lstStyle/>
          <a:p>
            <a:r>
              <a:rPr lang="en-US" dirty="0"/>
              <a:t>50K Iterations</a:t>
            </a:r>
          </a:p>
        </p:txBody>
      </p:sp>
      <p:sp>
        <p:nvSpPr>
          <p:cNvPr id="14" name="TextBox 13">
            <a:extLst>
              <a:ext uri="{FF2B5EF4-FFF2-40B4-BE49-F238E27FC236}">
                <a16:creationId xmlns:a16="http://schemas.microsoft.com/office/drawing/2014/main" id="{A069228B-7AA6-3440-9D82-441B7D4BF3A4}"/>
              </a:ext>
            </a:extLst>
          </p:cNvPr>
          <p:cNvSpPr txBox="1"/>
          <p:nvPr/>
        </p:nvSpPr>
        <p:spPr>
          <a:xfrm>
            <a:off x="6148938" y="4097530"/>
            <a:ext cx="1603581" cy="369332"/>
          </a:xfrm>
          <a:prstGeom prst="rect">
            <a:avLst/>
          </a:prstGeom>
          <a:solidFill>
            <a:schemeClr val="bg1"/>
          </a:solidFill>
        </p:spPr>
        <p:txBody>
          <a:bodyPr wrap="none" rtlCol="0">
            <a:spAutoFit/>
          </a:bodyPr>
          <a:lstStyle/>
          <a:p>
            <a:r>
              <a:rPr lang="en-US" dirty="0"/>
              <a:t>200K Iterations</a:t>
            </a:r>
          </a:p>
        </p:txBody>
      </p:sp>
      <p:sp>
        <p:nvSpPr>
          <p:cNvPr id="15" name="TextBox 14">
            <a:extLst>
              <a:ext uri="{FF2B5EF4-FFF2-40B4-BE49-F238E27FC236}">
                <a16:creationId xmlns:a16="http://schemas.microsoft.com/office/drawing/2014/main" id="{6DAC5E31-5191-3149-B332-D76EEF0156E7}"/>
              </a:ext>
            </a:extLst>
          </p:cNvPr>
          <p:cNvSpPr txBox="1"/>
          <p:nvPr/>
        </p:nvSpPr>
        <p:spPr>
          <a:xfrm>
            <a:off x="9601303" y="4070636"/>
            <a:ext cx="1446486" cy="369332"/>
          </a:xfrm>
          <a:prstGeom prst="rect">
            <a:avLst/>
          </a:prstGeom>
          <a:solidFill>
            <a:schemeClr val="bg1"/>
          </a:solidFill>
        </p:spPr>
        <p:txBody>
          <a:bodyPr wrap="none" rtlCol="0">
            <a:spAutoFit/>
          </a:bodyPr>
          <a:lstStyle/>
          <a:p>
            <a:r>
              <a:rPr lang="en-US" dirty="0"/>
              <a:t>1M Iterations</a:t>
            </a:r>
          </a:p>
        </p:txBody>
      </p:sp>
      <p:sp>
        <p:nvSpPr>
          <p:cNvPr id="16" name="Content Placeholder 2">
            <a:extLst>
              <a:ext uri="{FF2B5EF4-FFF2-40B4-BE49-F238E27FC236}">
                <a16:creationId xmlns:a16="http://schemas.microsoft.com/office/drawing/2014/main" id="{C4A0C96A-E4B5-EF42-A493-9446F0D7ED3C}"/>
              </a:ext>
            </a:extLst>
          </p:cNvPr>
          <p:cNvSpPr txBox="1">
            <a:spLocks/>
          </p:cNvSpPr>
          <p:nvPr/>
        </p:nvSpPr>
        <p:spPr>
          <a:xfrm>
            <a:off x="513702" y="1805564"/>
            <a:ext cx="4651581" cy="256460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nSpc>
                <a:spcPct val="150000"/>
              </a:lnSpc>
            </a:pPr>
            <a:r>
              <a:rPr lang="en-US" sz="2400" dirty="0"/>
              <a:t>Black: undeformed configuration</a:t>
            </a:r>
          </a:p>
          <a:p>
            <a:pPr marL="285750" indent="-285750">
              <a:lnSpc>
                <a:spcPct val="150000"/>
              </a:lnSpc>
            </a:pPr>
            <a:r>
              <a:rPr lang="en-US" sz="2400" dirty="0"/>
              <a:t>Blue: true solution from finite element solver</a:t>
            </a:r>
          </a:p>
          <a:p>
            <a:pPr marL="285750" indent="-285750">
              <a:lnSpc>
                <a:spcPct val="150000"/>
              </a:lnSpc>
            </a:pPr>
            <a:r>
              <a:rPr lang="en-US" sz="2400" dirty="0"/>
              <a:t>Red: solution from PINNs</a:t>
            </a:r>
          </a:p>
          <a:p>
            <a:endParaRPr lang="en-US" sz="2400" dirty="0"/>
          </a:p>
        </p:txBody>
      </p:sp>
    </p:spTree>
    <p:extLst>
      <p:ext uri="{BB962C8B-B14F-4D97-AF65-F5344CB8AC3E}">
        <p14:creationId xmlns:p14="http://schemas.microsoft.com/office/powerpoint/2010/main" val="16033929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2C0EE3-5B7E-0C4E-87C7-3A793B5A342F}"/>
              </a:ext>
            </a:extLst>
          </p:cNvPr>
          <p:cNvSpPr>
            <a:spLocks noGrp="1"/>
          </p:cNvSpPr>
          <p:nvPr>
            <p:ph type="title"/>
          </p:nvPr>
        </p:nvSpPr>
        <p:spPr/>
        <p:txBody>
          <a:bodyPr/>
          <a:lstStyle/>
          <a:p>
            <a:r>
              <a:rPr lang="en-US" dirty="0"/>
              <a:t>Training Points in Solid Mechanics Example:</a:t>
            </a:r>
          </a:p>
        </p:txBody>
      </p:sp>
      <p:sp>
        <p:nvSpPr>
          <p:cNvPr id="3" name="Content Placeholder 2">
            <a:extLst>
              <a:ext uri="{FF2B5EF4-FFF2-40B4-BE49-F238E27FC236}">
                <a16:creationId xmlns:a16="http://schemas.microsoft.com/office/drawing/2014/main" id="{ADAADDD2-5EA8-8C46-B581-0CE484EC19BB}"/>
              </a:ext>
            </a:extLst>
          </p:cNvPr>
          <p:cNvSpPr>
            <a:spLocks noGrp="1"/>
          </p:cNvSpPr>
          <p:nvPr>
            <p:ph idx="1"/>
          </p:nvPr>
        </p:nvSpPr>
        <p:spPr>
          <a:xfrm>
            <a:off x="838200" y="1825625"/>
            <a:ext cx="5576047" cy="4351338"/>
          </a:xfrm>
        </p:spPr>
        <p:txBody>
          <a:bodyPr>
            <a:normAutofit/>
          </a:bodyPr>
          <a:lstStyle/>
          <a:p>
            <a:pPr marL="285750" indent="-285750">
              <a:lnSpc>
                <a:spcPct val="150000"/>
              </a:lnSpc>
            </a:pPr>
            <a:r>
              <a:rPr lang="en-US" sz="2400" dirty="0"/>
              <a:t>Black dots: PDE</a:t>
            </a:r>
          </a:p>
          <a:p>
            <a:pPr marL="285750" indent="-285750">
              <a:lnSpc>
                <a:spcPct val="150000"/>
              </a:lnSpc>
            </a:pPr>
            <a:r>
              <a:rPr lang="en-US" sz="2400" dirty="0"/>
              <a:t>Blue dots: boundary conditions</a:t>
            </a:r>
          </a:p>
          <a:p>
            <a:pPr marL="742950" lvl="1" indent="-285750">
              <a:lnSpc>
                <a:spcPct val="150000"/>
              </a:lnSpc>
            </a:pPr>
            <a:r>
              <a:rPr lang="en-US" sz="2000" dirty="0"/>
              <a:t>Left and right: uniform normal tension</a:t>
            </a:r>
          </a:p>
          <a:p>
            <a:pPr marL="742950" lvl="1" indent="-285750">
              <a:lnSpc>
                <a:spcPct val="150000"/>
              </a:lnSpc>
            </a:pPr>
            <a:r>
              <a:rPr lang="en-US" sz="2000" dirty="0"/>
              <a:t>Bottom and Top: free boundary</a:t>
            </a:r>
          </a:p>
          <a:p>
            <a:pPr marL="285750" indent="-285750">
              <a:lnSpc>
                <a:spcPct val="150000"/>
              </a:lnSpc>
            </a:pPr>
            <a:r>
              <a:rPr lang="en-US" sz="2400" dirty="0"/>
              <a:t>Red </a:t>
            </a:r>
            <a:r>
              <a:rPr lang="en-US" sz="2400" dirty="0" err="1">
                <a:solidFill>
                  <a:srgbClr val="FF0000"/>
                </a:solidFill>
              </a:rPr>
              <a:t>x</a:t>
            </a:r>
            <a:r>
              <a:rPr lang="en-US" sz="2400" dirty="0" err="1"/>
              <a:t>s</a:t>
            </a:r>
            <a:r>
              <a:rPr lang="en-US" sz="2400" dirty="0"/>
              <a:t>: observation of displacement (from finite element solver) </a:t>
            </a:r>
          </a:p>
          <a:p>
            <a:endParaRPr lang="en-US" sz="2400" dirty="0"/>
          </a:p>
        </p:txBody>
      </p:sp>
      <p:pic>
        <p:nvPicPr>
          <p:cNvPr id="4" name="Picture 3" descr="A picture containing screenshot&#10;&#10;Description automatically generated">
            <a:extLst>
              <a:ext uri="{FF2B5EF4-FFF2-40B4-BE49-F238E27FC236}">
                <a16:creationId xmlns:a16="http://schemas.microsoft.com/office/drawing/2014/main" id="{BB1C5EF4-DD53-E141-A6A4-E129239F8F88}"/>
              </a:ext>
            </a:extLst>
          </p:cNvPr>
          <p:cNvPicPr>
            <a:picLocks noChangeAspect="1"/>
          </p:cNvPicPr>
          <p:nvPr/>
        </p:nvPicPr>
        <p:blipFill>
          <a:blip r:embed="rId2"/>
          <a:stretch>
            <a:fillRect/>
          </a:stretch>
        </p:blipFill>
        <p:spPr>
          <a:xfrm>
            <a:off x="6152368" y="1736432"/>
            <a:ext cx="6039632" cy="4529724"/>
          </a:xfrm>
          <a:prstGeom prst="rect">
            <a:avLst/>
          </a:prstGeom>
        </p:spPr>
      </p:pic>
    </p:spTree>
    <p:extLst>
      <p:ext uri="{BB962C8B-B14F-4D97-AF65-F5344CB8AC3E}">
        <p14:creationId xmlns:p14="http://schemas.microsoft.com/office/powerpoint/2010/main" val="72998514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864</TotalTime>
  <Words>1569</Words>
  <Application>Microsoft Macintosh PowerPoint</Application>
  <PresentationFormat>Widescreen</PresentationFormat>
  <Paragraphs>304</Paragraphs>
  <Slides>11</Slides>
  <Notes>6</Notes>
  <HiddenSlides>3</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Calibri Light</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Displacement in Solid Mechanics Example:</vt:lpstr>
      <vt:lpstr>Training Points in Solid Mechanics Example: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Minglang Yin</dc:creator>
  <cp:lastModifiedBy>Zhang, Enrui</cp:lastModifiedBy>
  <cp:revision>53</cp:revision>
  <dcterms:created xsi:type="dcterms:W3CDTF">2019-12-08T19:37:20Z</dcterms:created>
  <dcterms:modified xsi:type="dcterms:W3CDTF">2019-12-12T20:33:14Z</dcterms:modified>
</cp:coreProperties>
</file>